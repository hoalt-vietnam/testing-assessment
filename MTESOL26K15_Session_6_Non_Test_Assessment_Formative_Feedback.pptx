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158f6456c24256" /><Relationship Type="http://schemas.openxmlformats.org/officeDocument/2006/relationships/extended-properties" Target="/docProps/app.xml" Id="Rce5757b62ea540fe" /><Relationship Type="http://schemas.openxmlformats.org/officeDocument/2006/relationships/officeDocument" Target="/ppt/presentation.xml" Id="R4aefc323305149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bd564aea5e4797"/>
  </p:sldMasterIdLst>
  <p:notesMasterIdLst>
    <p:notesMasterId xmlns:r="http://schemas.openxmlformats.org/officeDocument/2006/relationships" r:id="R953d05ff2c584098"/>
  </p:notesMasterIdLst>
  <p:sldIdLst>
    <p:sldId xmlns:r="http://schemas.openxmlformats.org/officeDocument/2006/relationships" id="256" r:id="Rca5392d8c5f94393"/>
    <p:sldId xmlns:r="http://schemas.openxmlformats.org/officeDocument/2006/relationships" id="257" r:id="Rd8a40b1989b6400f"/>
    <p:sldId xmlns:r="http://schemas.openxmlformats.org/officeDocument/2006/relationships" id="258" r:id="R96c215efe35b41bd"/>
    <p:sldId xmlns:r="http://schemas.openxmlformats.org/officeDocument/2006/relationships" id="259" r:id="Re9c8c39255844c42"/>
    <p:sldId xmlns:r="http://schemas.openxmlformats.org/officeDocument/2006/relationships" id="260" r:id="Rbf8c908445054533"/>
    <p:sldId xmlns:r="http://schemas.openxmlformats.org/officeDocument/2006/relationships" id="261" r:id="R62fe04f967e14338"/>
    <p:sldId xmlns:r="http://schemas.openxmlformats.org/officeDocument/2006/relationships" id="262" r:id="Rad244de3bf504526"/>
    <p:sldId xmlns:r="http://schemas.openxmlformats.org/officeDocument/2006/relationships" id="263" r:id="R94668580a52d4c70"/>
    <p:sldId xmlns:r="http://schemas.openxmlformats.org/officeDocument/2006/relationships" id="264" r:id="Rc02aa59f50ea4efe"/>
    <p:sldId xmlns:r="http://schemas.openxmlformats.org/officeDocument/2006/relationships" id="265" r:id="R8e71c4e0a2ba495f"/>
    <p:sldId xmlns:r="http://schemas.openxmlformats.org/officeDocument/2006/relationships" id="266" r:id="Rf7b071c3a70b44ac"/>
    <p:sldId xmlns:r="http://schemas.openxmlformats.org/officeDocument/2006/relationships" id="267" r:id="Rd5573d3558ef4ddd"/>
    <p:sldId xmlns:r="http://schemas.openxmlformats.org/officeDocument/2006/relationships" id="268" r:id="R65843b9a00d94daa"/>
    <p:sldId xmlns:r="http://schemas.openxmlformats.org/officeDocument/2006/relationships" id="269" r:id="R5df131439e5447aa"/>
    <p:sldId xmlns:r="http://schemas.openxmlformats.org/officeDocument/2006/relationships" id="270" r:id="Rde78547f4bf5428d"/>
    <p:sldId xmlns:r="http://schemas.openxmlformats.org/officeDocument/2006/relationships" id="271" r:id="R3ce52e0eabff4556"/>
    <p:sldId xmlns:r="http://schemas.openxmlformats.org/officeDocument/2006/relationships" id="272" r:id="R2912b115c815421e"/>
    <p:sldId xmlns:r="http://schemas.openxmlformats.org/officeDocument/2006/relationships" id="273" r:id="Rc525d46dd5984002"/>
    <p:sldId xmlns:r="http://schemas.openxmlformats.org/officeDocument/2006/relationships" id="274" r:id="R986fdff618e54190"/>
    <p:sldId xmlns:r="http://schemas.openxmlformats.org/officeDocument/2006/relationships" id="275" r:id="Rd33d6e2b4ff747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ea2693fff24c5c" /><Relationship Type="http://schemas.openxmlformats.org/officeDocument/2006/relationships/slideMaster" Target="/ppt/slideMasters/slideMaster1.xml" Id="Rc7bd564aea5e4797" /><Relationship Type="http://schemas.openxmlformats.org/officeDocument/2006/relationships/notesMaster" Target="/ppt/notesMasters/notesMaster1.xml" Id="R953d05ff2c584098" /><Relationship Type="http://schemas.openxmlformats.org/officeDocument/2006/relationships/presProps" Target="/ppt/presProps.xml" Id="R850aa5413a734cf1" /><Relationship Type="http://schemas.openxmlformats.org/officeDocument/2006/relationships/tableStyles" Target="/ppt/tableStyles.xml" Id="R502197ef437146cc" /><Relationship Type="http://schemas.openxmlformats.org/officeDocument/2006/relationships/slide" Target="/ppt/slides/slide1.xml" Id="Rca5392d8c5f94393" /><Relationship Type="http://schemas.openxmlformats.org/officeDocument/2006/relationships/slide" Target="/ppt/slides/slide2.xml" Id="Rd8a40b1989b6400f" /><Relationship Type="http://schemas.openxmlformats.org/officeDocument/2006/relationships/slide" Target="/ppt/slides/slide3.xml" Id="R96c215efe35b41bd" /><Relationship Type="http://schemas.openxmlformats.org/officeDocument/2006/relationships/slide" Target="/ppt/slides/slide4.xml" Id="Re9c8c39255844c42" /><Relationship Type="http://schemas.openxmlformats.org/officeDocument/2006/relationships/slide" Target="/ppt/slides/slide5.xml" Id="Rbf8c908445054533" /><Relationship Type="http://schemas.openxmlformats.org/officeDocument/2006/relationships/slide" Target="/ppt/slides/slide6.xml" Id="R62fe04f967e14338" /><Relationship Type="http://schemas.openxmlformats.org/officeDocument/2006/relationships/slide" Target="/ppt/slides/slide7.xml" Id="Rad244de3bf504526" /><Relationship Type="http://schemas.openxmlformats.org/officeDocument/2006/relationships/slide" Target="/ppt/slides/slide8.xml" Id="R94668580a52d4c70" /><Relationship Type="http://schemas.openxmlformats.org/officeDocument/2006/relationships/slide" Target="/ppt/slides/slide9.xml" Id="Rc02aa59f50ea4efe" /><Relationship Type="http://schemas.openxmlformats.org/officeDocument/2006/relationships/slide" Target="/ppt/slides/slide10.xml" Id="R8e71c4e0a2ba495f" /><Relationship Type="http://schemas.openxmlformats.org/officeDocument/2006/relationships/slide" Target="/ppt/slides/slide11.xml" Id="Rf7b071c3a70b44ac" /><Relationship Type="http://schemas.openxmlformats.org/officeDocument/2006/relationships/slide" Target="/ppt/slides/slide12.xml" Id="Rd5573d3558ef4ddd" /><Relationship Type="http://schemas.openxmlformats.org/officeDocument/2006/relationships/slide" Target="/ppt/slides/slide13.xml" Id="R65843b9a00d94daa" /><Relationship Type="http://schemas.openxmlformats.org/officeDocument/2006/relationships/slide" Target="/ppt/slides/slide14.xml" Id="R5df131439e5447aa" /><Relationship Type="http://schemas.openxmlformats.org/officeDocument/2006/relationships/slide" Target="/ppt/slides/slide15.xml" Id="Rde78547f4bf5428d" /><Relationship Type="http://schemas.openxmlformats.org/officeDocument/2006/relationships/slide" Target="/ppt/slides/slide16.xml" Id="R3ce52e0eabff4556" /><Relationship Type="http://schemas.openxmlformats.org/officeDocument/2006/relationships/slide" Target="/ppt/slides/slide17.xml" Id="R2912b115c815421e" /><Relationship Type="http://schemas.openxmlformats.org/officeDocument/2006/relationships/slide" Target="/ppt/slides/slide18.xml" Id="Rc525d46dd5984002" /><Relationship Type="http://schemas.openxmlformats.org/officeDocument/2006/relationships/slide" Target="/ppt/slides/slide19.xml" Id="R986fdff618e54190" /><Relationship Type="http://schemas.openxmlformats.org/officeDocument/2006/relationships/slide" Target="/ppt/slides/slide20.xml" Id="Rd33d6e2b4ff747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0a50ec2d7945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e96f784ecd403f" /><Relationship Type="http://schemas.openxmlformats.org/officeDocument/2006/relationships/notesMaster" Target="/ppt/notesMasters/notesMaster1.xml" Id="R63c1ea808e4443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5540eae8f74b89" /><Relationship Type="http://schemas.openxmlformats.org/officeDocument/2006/relationships/notesMaster" Target="/ppt/notesMasters/notesMaster1.xml" Id="Ra738e69a89124f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927ac0b8fe41d9" /><Relationship Type="http://schemas.openxmlformats.org/officeDocument/2006/relationships/notesMaster" Target="/ppt/notesMasters/notesMaster1.xml" Id="R94583f78078d45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086c9115fb4a8d" /><Relationship Type="http://schemas.openxmlformats.org/officeDocument/2006/relationships/notesMaster" Target="/ppt/notesMasters/notesMaster1.xml" Id="Rab4f90836a954c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536621bdef4f5a" /><Relationship Type="http://schemas.openxmlformats.org/officeDocument/2006/relationships/notesMaster" Target="/ppt/notesMasters/notesMaster1.xml" Id="R5e6845ca1ecd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018d9c88d14943" /><Relationship Type="http://schemas.openxmlformats.org/officeDocument/2006/relationships/notesMaster" Target="/ppt/notesMasters/notesMaster1.xml" Id="R6b00c6b9e66047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c08e2562744c4e" /><Relationship Type="http://schemas.openxmlformats.org/officeDocument/2006/relationships/notesMaster" Target="/ppt/notesMasters/notesMaster1.xml" Id="Rf0898ee48e7d4b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ebf3dd08f84f3c" /><Relationship Type="http://schemas.openxmlformats.org/officeDocument/2006/relationships/notesMaster" Target="/ppt/notesMasters/notesMaster1.xml" Id="R0cdc72be9d3a46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948ada1e7e41ab" /><Relationship Type="http://schemas.openxmlformats.org/officeDocument/2006/relationships/notesMaster" Target="/ppt/notesMasters/notesMaster1.xml" Id="R10f3c1a1b3384f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6a509e13fd4add" /><Relationship Type="http://schemas.openxmlformats.org/officeDocument/2006/relationships/notesMaster" Target="/ppt/notesMasters/notesMaster1.xml" Id="Rb3660a84cba440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9d3b4ddc5844a0" /><Relationship Type="http://schemas.openxmlformats.org/officeDocument/2006/relationships/notesMaster" Target="/ppt/notesMasters/notesMaster1.xml" Id="R16d66dba1c0c4d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d1c5ca58d74d97" /><Relationship Type="http://schemas.openxmlformats.org/officeDocument/2006/relationships/notesMaster" Target="/ppt/notesMasters/notesMaster1.xml" Id="R3ef914a3b86749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d40913de7a4db4" /><Relationship Type="http://schemas.openxmlformats.org/officeDocument/2006/relationships/notesMaster" Target="/ppt/notesMasters/notesMaster1.xml" Id="R7591d369ec5a47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a6185ab2de4309" /><Relationship Type="http://schemas.openxmlformats.org/officeDocument/2006/relationships/notesMaster" Target="/ppt/notesMasters/notesMaster1.xml" Id="R83e5939f2c8c43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a13bda5ba74a25" /><Relationship Type="http://schemas.openxmlformats.org/officeDocument/2006/relationships/notesMaster" Target="/ppt/notesMasters/notesMaster1.xml" Id="R2507cee4931940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d1f43365e84b20" /><Relationship Type="http://schemas.openxmlformats.org/officeDocument/2006/relationships/notesMaster" Target="/ppt/notesMasters/notesMaster1.xml" Id="Rc43de4b4c2e24e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36853a152cf4a4c" /><Relationship Type="http://schemas.openxmlformats.org/officeDocument/2006/relationships/notesMaster" Target="/ppt/notesMasters/notesMaster1.xml" Id="R1acff0803e0441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115275fae645de" /><Relationship Type="http://schemas.openxmlformats.org/officeDocument/2006/relationships/notesMaster" Target="/ppt/notesMasters/notesMaster1.xml" Id="R607a22514db2456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d0c8b90f27431b" /><Relationship Type="http://schemas.openxmlformats.org/officeDocument/2006/relationships/notesMaster" Target="/ppt/notesMasters/notesMaster1.xml" Id="Rdcdc09fb704e4c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6c20b26be746d6" /><Relationship Type="http://schemas.openxmlformats.org/officeDocument/2006/relationships/notesMaster" Target="/ppt/notesMasters/notesMaster1.xml" Id="Rb4f0b97e1c8f4e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632bbc9a74d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89726805904639" /><Relationship Type="http://schemas.openxmlformats.org/officeDocument/2006/relationships/slideLayout" Target="/ppt/slideLayouts/slideLayout1.xml" Id="Rafee9f7c2cb746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ee9f7c2cb746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0c40f6391483d" /><Relationship Type="http://schemas.openxmlformats.org/officeDocument/2006/relationships/notesSlide" Target="/ppt/notesSlides/notesSlide1.xml" Id="Rd1c0350eee4243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ad28f1e7b417f" /><Relationship Type="http://schemas.openxmlformats.org/officeDocument/2006/relationships/image" Target="/ppt/media/image.png" Id="R5b41526ab7e04004" /><Relationship Type="http://schemas.openxmlformats.org/officeDocument/2006/relationships/image" Target="/ppt/media/image.svg" Id="R069783ee1ea9405b" /><Relationship Type="http://schemas.openxmlformats.org/officeDocument/2006/relationships/notesSlide" Target="/ppt/notesSlides/notesSlide2.xml" Id="R17837d0e27b34f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a3519a15f40f3" /><Relationship Type="http://schemas.openxmlformats.org/officeDocument/2006/relationships/image" Target="/ppt/media/image2.png" Id="Rcc6ae6b5c1a94630" /><Relationship Type="http://schemas.openxmlformats.org/officeDocument/2006/relationships/image" Target="/ppt/media/image2.svg" Id="Rf862123628d643a6" /><Relationship Type="http://schemas.openxmlformats.org/officeDocument/2006/relationships/notesSlide" Target="/ppt/notesSlides/notesSlide3.xml" Id="R87b9ec90834043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60a29a17f43b4" /><Relationship Type="http://schemas.openxmlformats.org/officeDocument/2006/relationships/image" Target="/ppt/media/image3.png" Id="R352593889557410d" /><Relationship Type="http://schemas.openxmlformats.org/officeDocument/2006/relationships/image" Target="/ppt/media/image3.svg" Id="R35f2c481517441a7" /><Relationship Type="http://schemas.openxmlformats.org/officeDocument/2006/relationships/notesSlide" Target="/ppt/notesSlides/notesSlide4.xml" Id="R5ccf71612d7a42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2b7e4881e4264" /><Relationship Type="http://schemas.openxmlformats.org/officeDocument/2006/relationships/image" Target="/ppt/media/image4.png" Id="R2072445d98a64fab" /><Relationship Type="http://schemas.openxmlformats.org/officeDocument/2006/relationships/image" Target="/ppt/media/image4.svg" Id="Rc19f104d51064d61" /><Relationship Type="http://schemas.openxmlformats.org/officeDocument/2006/relationships/notesSlide" Target="/ppt/notesSlides/notesSlide5.xml" Id="R9302c7ca3c1c48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8512bec8c4c27" /><Relationship Type="http://schemas.openxmlformats.org/officeDocument/2006/relationships/image" Target="/ppt/media/image5.png" Id="Refc9c02c3dd846ad" /><Relationship Type="http://schemas.openxmlformats.org/officeDocument/2006/relationships/image" Target="/ppt/media/image5.svg" Id="R376c8ae148c24fa0" /><Relationship Type="http://schemas.openxmlformats.org/officeDocument/2006/relationships/notesSlide" Target="/ppt/notesSlides/notesSlide6.xml" Id="Ra9728b20777145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5c66ffe79480b" /><Relationship Type="http://schemas.openxmlformats.org/officeDocument/2006/relationships/image" Target="/ppt/media/image6.png" Id="R9477c4b8d2d044ef" /><Relationship Type="http://schemas.openxmlformats.org/officeDocument/2006/relationships/image" Target="/ppt/media/image6.svg" Id="R8e0c56b0683045b8" /><Relationship Type="http://schemas.openxmlformats.org/officeDocument/2006/relationships/notesSlide" Target="/ppt/notesSlides/notesSlide7.xml" Id="Ra3c7754e221143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12ac379884f7c" /><Relationship Type="http://schemas.openxmlformats.org/officeDocument/2006/relationships/image" Target="/ppt/media/image7.png" Id="R8dddaac1ddf74341" /><Relationship Type="http://schemas.openxmlformats.org/officeDocument/2006/relationships/image" Target="/ppt/media/image7.svg" Id="Rbdf8662b65ce4623" /><Relationship Type="http://schemas.openxmlformats.org/officeDocument/2006/relationships/notesSlide" Target="/ppt/notesSlides/notesSlide8.xml" Id="Rce2d8494f3c14c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3c208ddf24300" /><Relationship Type="http://schemas.openxmlformats.org/officeDocument/2006/relationships/image" Target="/ppt/media/image8.png" Id="Rd679e907a8e74a93" /><Relationship Type="http://schemas.openxmlformats.org/officeDocument/2006/relationships/image" Target="/ppt/media/image8.svg" Id="R87f9b8d041f34a45" /><Relationship Type="http://schemas.openxmlformats.org/officeDocument/2006/relationships/notesSlide" Target="/ppt/notesSlides/notesSlide9.xml" Id="R97eafe7801d142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4cdb558bf4448" /><Relationship Type="http://schemas.openxmlformats.org/officeDocument/2006/relationships/image" Target="/ppt/media/image9.png" Id="Rc0c5a761f98a43b7" /><Relationship Type="http://schemas.openxmlformats.org/officeDocument/2006/relationships/image" Target="/ppt/media/image9.svg" Id="R86fd1ca7b4074473" /><Relationship Type="http://schemas.openxmlformats.org/officeDocument/2006/relationships/notesSlide" Target="/ppt/notesSlides/notesSlide10.xml" Id="R4fdb5145c40548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f482fdfcd4937" /><Relationship Type="http://schemas.openxmlformats.org/officeDocument/2006/relationships/image" Target="/ppt/media/image10.png" Id="R9fb0d39d80b34ed2" /><Relationship Type="http://schemas.openxmlformats.org/officeDocument/2006/relationships/image" Target="/ppt/media/image10.svg" Id="R60a4b05b577c4ac5" /><Relationship Type="http://schemas.openxmlformats.org/officeDocument/2006/relationships/notesSlide" Target="/ppt/notesSlides/notesSlide11.xml" Id="R5b68c35815704b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896b996864c74" /><Relationship Type="http://schemas.openxmlformats.org/officeDocument/2006/relationships/image" Target="/ppt/media/image11.png" Id="R62e6681728cd4b7c" /><Relationship Type="http://schemas.openxmlformats.org/officeDocument/2006/relationships/image" Target="/ppt/media/image11.svg" Id="Rb5ce9b44d5bb41ef" /><Relationship Type="http://schemas.openxmlformats.org/officeDocument/2006/relationships/notesSlide" Target="/ppt/notesSlides/notesSlide12.xml" Id="R20e40136d76545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3946fc73048e5" /><Relationship Type="http://schemas.openxmlformats.org/officeDocument/2006/relationships/image" Target="/ppt/media/image12.png" Id="R380b608cf6cb4220" /><Relationship Type="http://schemas.openxmlformats.org/officeDocument/2006/relationships/image" Target="/ppt/media/image12.svg" Id="Re8e4cec56ee34433" /><Relationship Type="http://schemas.openxmlformats.org/officeDocument/2006/relationships/notesSlide" Target="/ppt/notesSlides/notesSlide13.xml" Id="R51fa91942e2d46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842cc955a4f9c" /><Relationship Type="http://schemas.openxmlformats.org/officeDocument/2006/relationships/image" Target="/ppt/media/image13.png" Id="Ra7bb484fec15472e" /><Relationship Type="http://schemas.openxmlformats.org/officeDocument/2006/relationships/image" Target="/ppt/media/image13.svg" Id="R46dabf8987f34855" /><Relationship Type="http://schemas.openxmlformats.org/officeDocument/2006/relationships/notesSlide" Target="/ppt/notesSlides/notesSlide14.xml" Id="R831fc5f977de49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8fbe6ed3048c6" /><Relationship Type="http://schemas.openxmlformats.org/officeDocument/2006/relationships/image" Target="/ppt/media/image14.png" Id="R95bbc13481eb4c44" /><Relationship Type="http://schemas.openxmlformats.org/officeDocument/2006/relationships/image" Target="/ppt/media/image14.svg" Id="Rc2a4c51885ea4649" /><Relationship Type="http://schemas.openxmlformats.org/officeDocument/2006/relationships/notesSlide" Target="/ppt/notesSlides/notesSlide15.xml" Id="Rf3cbfce732cd4a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585820cba497c" /><Relationship Type="http://schemas.openxmlformats.org/officeDocument/2006/relationships/image" Target="/ppt/media/image15.png" Id="R8e12250e046c409f" /><Relationship Type="http://schemas.openxmlformats.org/officeDocument/2006/relationships/image" Target="/ppt/media/image15.svg" Id="R4018da7ee0a746d1" /><Relationship Type="http://schemas.openxmlformats.org/officeDocument/2006/relationships/notesSlide" Target="/ppt/notesSlides/notesSlide16.xml" Id="R5adb591d88c240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96c057438453e" /><Relationship Type="http://schemas.openxmlformats.org/officeDocument/2006/relationships/image" Target="/ppt/media/image16.png" Id="Raa928655fc464274" /><Relationship Type="http://schemas.openxmlformats.org/officeDocument/2006/relationships/image" Target="/ppt/media/image16.svg" Id="R8d48ed5b00fe43f0" /><Relationship Type="http://schemas.openxmlformats.org/officeDocument/2006/relationships/notesSlide" Target="/ppt/notesSlides/notesSlide17.xml" Id="Rbf58627816c346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5a43ced5e445f" /><Relationship Type="http://schemas.openxmlformats.org/officeDocument/2006/relationships/image" Target="/ppt/media/image17.png" Id="R2f4dc810aefb4db9" /><Relationship Type="http://schemas.openxmlformats.org/officeDocument/2006/relationships/image" Target="/ppt/media/image17.svg" Id="R1c8ca31b4ebc4420" /><Relationship Type="http://schemas.openxmlformats.org/officeDocument/2006/relationships/notesSlide" Target="/ppt/notesSlides/notesSlide18.xml" Id="Ra479f8d91cdb4e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98f10c1ca4bd4" /><Relationship Type="http://schemas.openxmlformats.org/officeDocument/2006/relationships/image" Target="/ppt/media/image18.png" Id="R72fec865470b4889" /><Relationship Type="http://schemas.openxmlformats.org/officeDocument/2006/relationships/image" Target="/ppt/media/image18.svg" Id="R5c5448db396e4010" /><Relationship Type="http://schemas.openxmlformats.org/officeDocument/2006/relationships/notesSlide" Target="/ppt/notesSlides/notesSlide19.xml" Id="R6fb75f63f26b4e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2bf384f284afb" /><Relationship Type="http://schemas.openxmlformats.org/officeDocument/2006/relationships/image" Target="/ppt/media/image19.png" Id="R7dd5ea6241ca497f" /><Relationship Type="http://schemas.openxmlformats.org/officeDocument/2006/relationships/image" Target="/ppt/media/image19.svg" Id="R55eba76fd5034365" /><Relationship Type="http://schemas.openxmlformats.org/officeDocument/2006/relationships/notesSlide" Target="/ppt/notesSlides/notesSlide20.xml" Id="R9d2498c7edcd45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ld-rail">
            <a:extLst xmlns:a="http://schemas.openxmlformats.org/drawingml/2006/main">
              <a:ext uri="{FF2B5EF4-FFF2-40B4-BE49-F238E27FC236}">
                <a16:creationId xmlns:a16="http://schemas.microsoft.com/office/drawing/2014/main" id="{3085855C-A856-4C5C-8FB7-58161CA5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stitution">
            <a:extLst xmlns:a="http://schemas.openxmlformats.org/drawingml/2006/main">
              <a:ext uri="{FF2B5EF4-FFF2-40B4-BE49-F238E27FC236}">
                <a16:creationId xmlns:a16="http://schemas.microsoft.com/office/drawing/2014/main" id="{AD3ADF55-3112-4158-9D32-5D15BB99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BA RIA - VUNG TAU UNIVERSITY</a:t>
            </a:r>
          </a:p>
        </p:txBody>
      </p:sp>
      <p:sp>
        <p:nvSpPr>
          <p:cNvPr id="3" name="class">
            <a:extLst xmlns:a="http://schemas.openxmlformats.org/drawingml/2006/main">
              <a:ext uri="{FF2B5EF4-FFF2-40B4-BE49-F238E27FC236}">
                <a16:creationId xmlns:a16="http://schemas.microsoft.com/office/drawing/2014/main" id="{9FF8FFB1-F020-4795-863C-A063A170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TESOL PROGRAMME  •  CLASS MTESOL26K15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21E8B52-52F1-4C96-ADC8-0B7CE106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ssion">
            <a:extLst xmlns:a="http://schemas.openxmlformats.org/drawingml/2006/main">
              <a:ext uri="{FF2B5EF4-FFF2-40B4-BE49-F238E27FC236}">
                <a16:creationId xmlns:a16="http://schemas.microsoft.com/office/drawing/2014/main" id="{204EAC7A-7B4B-4FEE-A0BF-58D21CCC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SESSION 6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7CB1F3-49A5-4E84-A326-13988694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810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DESIGN BEYOND THE TEST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EVIDENCE • FEEDBACK • LEARNER AGENCY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0E2DCE0A-D3C0-4D4F-AFD3-B58E3E50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D4A72C"/>
                </a:solidFill>
              </a:defRPr>
            </a:pPr>
            <a:r>
              <a:rPr sz="1875" b="0" i="1">
                <a:solidFill>
                  <a:srgbClr val="D4A72C"/>
                </a:solidFill>
              </a:rPr>
              <a:t>Choose an assessment system that creates both defensible evidence and meaningful learning.</a:t>
            </a:r>
          </a:p>
        </p:txBody>
      </p:sp>
      <p:sp>
        <p:nvSpPr>
          <p:cNvPr id="8" name="meta">
            <a:extLst xmlns:a="http://schemas.openxmlformats.org/drawingml/2006/main">
              <a:ext uri="{FF2B5EF4-FFF2-40B4-BE49-F238E27FC236}">
                <a16:creationId xmlns:a16="http://schemas.microsoft.com/office/drawing/2014/main" id="{9844ECDE-0FCF-4700-8C36-11F4F548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9" name="instructor">
            <a:extLst xmlns:a="http://schemas.openxmlformats.org/drawingml/2006/main">
              <a:ext uri="{FF2B5EF4-FFF2-40B4-BE49-F238E27FC236}">
                <a16:creationId xmlns:a16="http://schemas.microsoft.com/office/drawing/2014/main" id="{C08FC34D-2559-487E-9827-C5F8E69D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 Thanh Hoa, PhD  |  Course Instructor</a:t>
            </a:r>
          </a:p>
        </p:txBody>
      </p:sp>
      <p:sp>
        <p:nvSpPr>
          <p:cNvPr id="10" name="reading">
            <a:extLst xmlns:a="http://schemas.openxmlformats.org/drawingml/2006/main">
              <a:ext uri="{FF2B5EF4-FFF2-40B4-BE49-F238E27FC236}">
                <a16:creationId xmlns:a16="http://schemas.microsoft.com/office/drawing/2014/main" id="{FA62D09C-3E47-4FC8-9B9A-CEC08258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9E2F3"/>
                </a:solidFill>
              </a:defRPr>
            </a:pPr>
            <a:r>
              <a:rPr sz="1200" b="0" i="0">
                <a:solidFill>
                  <a:srgbClr val="D9E2F3"/>
                </a:solidFill>
              </a:rPr>
              <a:t>Core reading: Phakiti &amp; Leung (2024), Section 6.2 &amp; 8.1.2, pp. 55–61, 74–76</a:t>
            </a:r>
          </a:p>
        </p:txBody>
      </p:sp>
      <p:sp>
        <p:nvSpPr>
          <p:cNvPr id="11" name="n">
            <a:extLst xmlns:a="http://schemas.openxmlformats.org/drawingml/2006/main">
              <a:ext uri="{FF2B5EF4-FFF2-40B4-BE49-F238E27FC236}">
                <a16:creationId xmlns:a16="http://schemas.microsoft.com/office/drawing/2014/main" id="{6C4887D1-3AC0-4EA3-BC14-99A580B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0640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92E840F-E8D8-44CC-892C-FFD75DC4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1526ab7e04004">
            <a:extLst>
              <a:ext uri="{96DAC541-7B7A-43D3-8B79-37D633B846F1}">
                <asvg:svgBlip xmlns:asvg="http://schemas.microsoft.com/office/drawing/2016/SVG/main" r:embed="R069783ee1ea940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BD02722-921F-4D12-8BC2-F0C70286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BEFORE INSTRUCTION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4BE7EF-2655-4804-9350-29C7EF61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Would You Keep the Test—or Build a Learning System?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DC345BD-E676-4C17-B84E-C6EE555A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4EB387D-D5EC-4983-84E0-749E4F09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pre-instruction comparative design task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50E7E78B-6102-47A1-BF36-D8A6D655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4D9BEEB-A219-41E3-88E9-8D64726B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7E2642EC-AB6C-4E2E-BFD4-48E0C6CB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2BE398DE-A44B-4459-AAAC-3FE3F19A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Capture students’ initial reasoning when choosing between test and non-test solutions.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62260605-139D-402B-8D4C-F1FE770B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EC135FDB-80A9-4BDB-AFA3-49CBE8AE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695C8CCE-AD56-4808-BE89-EE70F6E1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OPTION A: controlled test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5250F671-A233-479A-A5A5-BC7B4EDE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4B7285D4-3FA8-4DB5-9691-30A562D5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588DD3F0-7D9C-4A30-B571-ECA95C79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OPTION B: extended project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873058FA-4617-4037-9B10-D9048BD5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E9ABE6DF-A78B-46D0-92FD-AF5AAD3C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682F4D69-88A6-41C4-9832-F040045F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OPTION C: designed combination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BA5F6100-9828-4061-9FA6-D62D2C06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4ECB928E-47C7-4954-A9B2-D7277E73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56F02FC5-8416-4F61-8F39-7200D3A7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evidence does each option provide?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construct components remain invisible?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Which option is defensible under the actual constraints?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602D89D2-2B38-4C3F-882E-BC5036D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CDAF8BF3-9BE2-4478-9D55-816C528A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S6 Comparative Choice v0.</a:t>
            </a:r>
          </a:p>
        </p:txBody>
      </p:sp>
    </p:spTree>
    <p:extLst>
      <p:ext uri="{BB962C8B-B14F-4D97-AF65-F5344CB8AC3E}">
        <p14:creationId xmlns:p14="http://schemas.microsoft.com/office/powerpoint/2010/main" val="560564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C7D7CB0-9234-4CDC-81E6-99EEB22E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ae6b5c1a94630">
            <a:extLst>
              <a:ext uri="{96DAC541-7B7A-43D3-8B79-37D633B846F1}">
                <asvg:svgBlip xmlns:asvg="http://schemas.microsoft.com/office/drawing/2016/SVG/main" r:embed="Rf862123628d643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A425343-45AF-4941-87C4-443CDABD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DYNAMIC ASSESSMENT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885ED5-CC44-4F6C-AFA0-9B4F90C6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Dynamic Assessment Treats Support as Diagnostic Evidence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BB2C86D-34E3-44EA-9A2F-6013A7B1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4E60CD60-D990-4B2A-8CBB-8DC82A4F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6.2.1, pp. 55–56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620DB8C7-6368-4459-8F77-D10F8A43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C8D6DAA-3598-4B7D-A598-D6F45FAC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97C8F2BB-7180-4196-9FB4-F97A193E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D9B72C29-0FCF-4A20-82B0-421272B0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1977E74C-C4F5-406C-BB1F-83178BC7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80558DCC-AAC5-4F27-9DB5-CB03D6F6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Elicit current performance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C09E8F42-A8EC-44A0-A2C7-9B8D025B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1F204FAE-FF03-444E-A886-1432F220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E1EEBAE6-77DF-43FF-AAF1-A1BC3E6F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Mediate contingently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77849D63-9A20-4803-B244-F2A156C2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9092B2F7-F6C0-4D9A-A336-ECFE53DB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E8BB56D6-1020-47D1-BD19-A3998F31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Observe responsiveness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13779303-2A82-40D7-80A7-F4832D62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87A1DA50-BEF7-465E-BE8A-99B0E1E2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96F2CDC5-BAC1-4D40-BE98-FFE07E1F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Withdraw and check transfer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9E148E50-ADF3-47EB-9D73-4DAE12A3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Explain graduated mediation as a way to understand development and learning potential.</a:t>
            </a:r>
          </a:p>
        </p:txBody>
      </p:sp>
    </p:spTree>
    <p:extLst>
      <p:ext uri="{BB962C8B-B14F-4D97-AF65-F5344CB8AC3E}">
        <p14:creationId xmlns:p14="http://schemas.microsoft.com/office/powerpoint/2010/main" val="630219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E80F0E98-2164-4B61-B48A-22B9DC0F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593889557410d">
            <a:extLst>
              <a:ext uri="{96DAC541-7B7A-43D3-8B79-37D633B846F1}">
                <asvg:svgBlip xmlns:asvg="http://schemas.microsoft.com/office/drawing/2016/SVG/main" r:embed="R35f2c481517441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46ED933B-83C8-45C3-A116-3B26A8FE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LEARNING-ORIENTED ASSESSMENT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B56124-D78F-40AE-845C-CBFF8E31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Learning-Oriented Assessment Connects Tasks, Judgement, and Learner Action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510849C-D7BB-4BC8-83DE-18DC6BDC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FA08553-BD12-4511-BD31-AD78304C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6.2.1, pp. 56–58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24BDFF0F-C1A4-44EF-8796-B3716CD4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CCC6286-02CB-4960-9545-4E803A4F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04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B91FEB98-CA86-4860-9769-A8649529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73198364-5E86-472E-8ECD-C798AE73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E55C4C2F-15C4-4194-932A-5383E9F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A1779108-6A71-48A0-AE5A-DFFA2438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Learning-worthy tasks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72F18907-0305-4AC3-9531-F669A2C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F878EFCB-ECBA-4F42-8B84-CEB90912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79A64AF9-475F-4E9B-A04D-FE3821FC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Learner evaluative judgement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49ED6181-8D60-45B1-9CF0-6D131B36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703CB2C1-8AD6-4449-A578-AD0F7FBA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B9AD0BAA-8236-4620-9B6E-85EDEF60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Feedback and action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3428D4FD-719A-4179-858A-DB192C13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FB467F76-9C14-4835-BFAF-3C1FB71D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ABCDBE88-CF5E-4026-A775-9A59669B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Transfer to meaningful use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0773DDD2-F44B-4845-B8DD-ED71374E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Present LoA as alignment among learning tasks, evaluative judgement, and feedback-driven action.</a:t>
            </a:r>
          </a:p>
        </p:txBody>
      </p:sp>
    </p:spTree>
    <p:extLst>
      <p:ext uri="{BB962C8B-B14F-4D97-AF65-F5344CB8AC3E}">
        <p14:creationId xmlns:p14="http://schemas.microsoft.com/office/powerpoint/2010/main" val="356754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4B6C70A-45F5-465F-986F-CC2D3252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2445d98a64fab">
            <a:extLst>
              <a:ext uri="{96DAC541-7B7A-43D3-8B79-37D633B846F1}">
                <asvg:svgBlip xmlns:asvg="http://schemas.microsoft.com/office/drawing/2016/SVG/main" r:embed="Rc19f104d51064d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477926C-E4DC-4116-8C05-36A0EF33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USAGE-BASED ASSESSMENT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DE94CC-8F88-4102-8A76-6FF182FD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Usage-Based Assessment Starts from Local Patterns of Language Use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E899A0C-73E5-40AF-ADE2-786C5FF5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1AE66AD-6418-44DA-A071-DDF8A95E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6.2.1, p. 58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5190F81-FA7B-462F-8CDB-83688381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20A0BEF-214F-4B86-96B3-E47600B3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05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E343DCF1-D1A3-4705-9A75-0078BB4F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DDB8A5B3-9AD6-46EA-A102-6D6A7EC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4C0850B0-0F92-402C-AA8C-9EC4584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Observe local language use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4095E1CE-B983-4F4F-A3EC-182CB740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7141C3CC-DB1E-4C73-A461-A344572C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A7507426-ABE9-4A7E-A16B-D8CDB04A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Identify recurring form–function patterns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27F441FF-B2CB-46C8-81E0-894D5249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01176B54-99F0-4E2E-9114-044BCAF1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5DD3FDA9-5EBA-48DC-A1BA-18B28ACE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Design meaningful performance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EEC206B2-1713-48A1-B2A1-0898297A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Connect assessment content and performance to recurrent, meaningful local language use.</a:t>
            </a:r>
          </a:p>
        </p:txBody>
      </p:sp>
    </p:spTree>
    <p:extLst>
      <p:ext uri="{BB962C8B-B14F-4D97-AF65-F5344CB8AC3E}">
        <p14:creationId xmlns:p14="http://schemas.microsoft.com/office/powerpoint/2010/main" val="163146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8A250EF-87E1-40A5-9D2F-63257974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9c02c3dd846ad">
            <a:extLst>
              <a:ext uri="{96DAC541-7B7A-43D3-8B79-37D633B846F1}">
                <asvg:svgBlip xmlns:asvg="http://schemas.microsoft.com/office/drawing/2016/SVG/main" r:embed="R376c8ae148c24f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C27859B-876E-4E3D-8798-7995B9A9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SCENARIO-BASED ASSESSMENT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E782DB-C9A6-4D70-9502-4F6F8E2B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Scenario-Based Assessment Builds a Coherent Performance Journey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07B8D61-5FB1-4DEA-ABC2-49A10691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43765D12-79F7-4F83-A6B7-F5A0AC4B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6.2.1, pp. 58–59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162AED8F-4385-4F3E-B779-650D9AD5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35F4A5D-E145-4ED8-9E87-67A3B31F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06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DF868F71-3F07-4BFD-81E8-952DD2F2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19F908E6-15C9-41E0-A3C3-F5907044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Design interconnected tasks that culminate in a meaningful communicative goal.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9C3CED60-C07D-4DBD-8E04-3C41E099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7D828CD3-6DA8-4C7C-A001-E9751DD7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A06A3E3B-040E-419E-8907-37CFA3BB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Meaningful scenario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4EC784EB-1284-42D1-8376-53DE74B4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C297EB09-6F0F-49BD-9EA7-990345F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884DC854-7BA8-4E2E-B08E-7D5AB7BB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Connected task sequence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9E08CE7C-38CE-42A1-A76A-89929C7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0E672F3A-73E1-452C-9D9D-3E7F17FF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DC9DAC9A-66FE-46FD-81DA-B94CB9B0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Distributed evidence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A2A20B87-CE7B-4975-B76F-E2B0E073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45C2ED3B-F79C-4D6A-8513-9CDA0822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E5C91B04-D3AB-4813-AC0D-27501559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Culminating communicative goal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2399B1A2-CE83-4CFC-9FD9-2AF2856F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97161666-6772-490D-A277-1BED756D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E539D7CE-26C4-4F56-857D-60C51012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task produces information needed by the next?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Where should support be withdrawn?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evidence must be individual?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5E0B75A2-73E3-4A91-84AC-4E80E531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0C46B10C-FD27-4387-9B03-38AC59DE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Mini scenario map.</a:t>
            </a:r>
          </a:p>
        </p:txBody>
      </p:sp>
    </p:spTree>
    <p:extLst>
      <p:ext uri="{BB962C8B-B14F-4D97-AF65-F5344CB8AC3E}">
        <p14:creationId xmlns:p14="http://schemas.microsoft.com/office/powerpoint/2010/main" val="394182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347BAD5-327B-43A4-9C62-5D7C66CB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7c4b8d2d044ef">
            <a:extLst>
              <a:ext uri="{96DAC541-7B7A-43D3-8B79-37D633B846F1}">
                <asvg:svgBlip xmlns:asvg="http://schemas.microsoft.com/office/drawing/2016/SVG/main" r:embed="R8e0c56b0683045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7CFC927-F548-4D21-93D0-A083C18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SYNTHESIS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EE94EC-3D29-4802-B3E6-88EFC0D1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Four Approaches Share Three Design Commitments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FFF7096-1A34-4293-A29D-98E88C1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2DD698FE-2BB1-44D3-9922-5E15F0CE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6.2.1, pp. 55–59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6B4BC1B0-82EF-438D-A050-B86FFF97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27022CA8-5AA0-49FA-9B51-F268EC8E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A63C1D7C-1301-4CDB-806B-4925A679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B2088498-D9B1-49F6-826A-79DF74AD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Synthesize dynamic, learning-oriented, usage-based, and scenario-based assessment.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B3A9FB2D-19EE-4F66-A8DF-0F2D8B6F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BFCA67EE-90F1-4C84-9894-E133162F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F3E60FFD-6600-475F-8FF6-4A660E51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REAL-LIFE PURPOSE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D80FAAB3-F95F-48B4-A8AC-2C1620B7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E594F0F6-C30E-4D3C-988F-9A382192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A992A75A-1089-46AB-A623-8B47954F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DEVELOPMENTAL TASK SPACE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6FE7953C-186B-46A1-8CA5-C9A0498A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330A3110-B852-4DF3-9562-4087DA68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39B402A6-5293-45A4-B0B7-198F8530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FEEDBACK DURING ENGAGEMENT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A99364B5-ECE7-42AD-B4E5-D4E358DC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A9DC00B8-6477-419C-BA28-5906EDA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6BE5DB15-8B58-46A6-B326-63DC2053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INTERPRETABLE EVIDENCE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079328A2-A355-4479-9362-F8554001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783D63F9-FE78-4C21-B305-765B0B37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F8A927BE-1F07-47DD-BEF3-AC9CBB7D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approach best addresses your project’s current weakness?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principle could conflict with summative comparability?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DF3009CD-0BA5-4734-8F55-1E4E9C9A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A75472A6-9DDD-4F5F-BF93-E4C85776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Team approach-selection rationale.</a:t>
            </a:r>
          </a:p>
        </p:txBody>
      </p:sp>
    </p:spTree>
    <p:extLst>
      <p:ext uri="{BB962C8B-B14F-4D97-AF65-F5344CB8AC3E}">
        <p14:creationId xmlns:p14="http://schemas.microsoft.com/office/powerpoint/2010/main" val="8277942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D548ECD-780E-4AAE-8869-4F8C8C71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daac1ddf74341">
            <a:extLst>
              <a:ext uri="{96DAC541-7B7A-43D3-8B79-37D633B846F1}">
                <asvg:svgBlip xmlns:asvg="http://schemas.microsoft.com/office/drawing/2016/SVG/main" r:embed="Rbdf8662b65ce46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44A5C3D-D11E-4704-AAB3-8D6E662F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NON-TEST SUMMATIVE DESIGN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302F38-012A-43EF-B711-DCC05F37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Non-Test Summative Assessment Needs More—not Less—Design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2445942-3F72-476D-80E8-D40AEA24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BB9CF55-D0FD-4FE0-9FFB-91A0041B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6.2.2, pp. 59–60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B2A767AF-5B11-48CD-A766-07C6D55D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564BFB1-6D88-4979-886C-E3085519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08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649D1E26-033C-4DBC-8A36-358695D4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4235EDCB-C9C8-4A59-B7C3-302D4B83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EFF7C633-B5C9-493C-925A-B09B5CD1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TASK &amp; PROCESS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7C7D5F82-9D24-4172-B664-D16235C9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SUPPORT &amp; AUTHORSHIP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24F009AD-EBEE-4255-BDD7-BD2E878A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B3771C76-5920-46D6-A20A-7D72AFDF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10748C44-532F-4093-8EAF-2C9B2D5D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5476B263-1A35-4B32-A179-042760B9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CRITERIA &amp; MODERATION</a:t>
            </a:r>
          </a:p>
        </p:txBody>
      </p:sp>
    </p:spTree>
    <p:extLst>
      <p:ext uri="{BB962C8B-B14F-4D97-AF65-F5344CB8AC3E}">
        <p14:creationId xmlns:p14="http://schemas.microsoft.com/office/powerpoint/2010/main" val="5095732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9CAC801-110A-489A-A18F-08297259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9e907a8e74a93">
            <a:extLst>
              <a:ext uri="{96DAC541-7B7A-43D3-8B79-37D633B846F1}">
                <asvg:svgBlip xmlns:asvg="http://schemas.microsoft.com/office/drawing/2016/SVG/main" r:embed="R87f9b8d041f34a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682E729-AFE2-483F-9E7C-42875E94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PROJECT ASSESSMENT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389CF9-6E62-4D61-8D62-5661E0BD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Projects Reveal Enactment—but Can Blur Individual Evidence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1F23077-340B-4336-A9E0-2956686B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3E1056ED-0DE7-4481-A309-722BA2F9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6.2.3, pp. 60–61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AC917F0-3386-44E9-A414-C25C9A3E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D7BF741-BA7D-4368-B1F6-BD345151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09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3FF41AB7-975E-44DF-ACA9-E2C9E198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7CB02C45-9211-4CC1-BC3D-C97DDB4C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CDF0DC19-3A52-4802-A87E-89A79D1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A0D0C476-4F78-4358-8D87-6E9A944A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Authentic goal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F29A90C8-C091-4B66-8A44-C24CC62C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EAC979BA-F341-4E54-94E3-D12FAC0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1D599C3E-4EF6-4894-B556-2412836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Process evidence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86150215-4E02-415A-A6BF-8CC191B9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5080D087-E06C-49D8-B23E-E23D9925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E02FA20A-B144-48E0-BB86-039ACCB2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Collaborative product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52EB2CDE-D2BD-4FEB-BBC7-278E6764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84A8CB84-63EB-47B5-A405-D20E2A75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B38369C1-BE1C-4844-A80C-F7CC456A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Individual accountability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84EB671C-6CF1-4AFE-8228-81644296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Evaluate project assessment through authenticity, process, collaboration, and individual attribution.</a:t>
            </a:r>
          </a:p>
        </p:txBody>
      </p:sp>
    </p:spTree>
    <p:extLst>
      <p:ext uri="{BB962C8B-B14F-4D97-AF65-F5344CB8AC3E}">
        <p14:creationId xmlns:p14="http://schemas.microsoft.com/office/powerpoint/2010/main" val="1338435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68518F0-DF35-475A-8C42-52C0CE2F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5a761f98a43b7">
            <a:extLst>
              <a:ext uri="{96DAC541-7B7A-43D3-8B79-37D633B846F1}">
                <asvg:svgBlip xmlns:asvg="http://schemas.microsoft.com/office/drawing/2016/SVG/main" r:embed="R86fd1ca7b40744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30F4A75-DAEB-48EA-AF2B-05BF3802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PORTFOLIO ASSESSMENT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D489F7-6B34-4D30-B92B-7F9BA4F8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A Portfolio Is a Curated Evidence Argument—not a Storage Folder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1000B95-C6E0-44CC-8AC0-4A1CABC2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1A1F2AF-20DD-4F67-B4E8-DF62DEC9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6.2.3, pp. 60–61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54359BEF-1AC4-4C10-A202-8B667928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BDAD718-CF84-4C23-A74D-63D42DA2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77D8B156-5705-47AB-A297-5582AD19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EC6FAB79-50C6-44C7-B8CE-3509B902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DE69FE9E-C339-44C1-BF6F-D58D0147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PURPOSE &amp; AUDIENCE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F3D720EF-5D76-4CD6-AC6D-8BCD5CD6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A7E0AE63-D82D-4F34-8513-30FF48F4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ED7BBD62-B4B1-4BE5-A392-B4C7B6F8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ARTIFACT SELECTION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EBEFB7D0-F98A-4543-A3FA-D0833376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A8DE9B99-71F2-49D9-9E10-88C6B886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1F76A4FE-8E0F-4614-8F26-47D9800E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REVISION &amp; REFLECTION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4D227870-6865-4BE7-A59B-27D47796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Design purposeful portfolio selection, reflection, progression, and judgement.</a:t>
            </a:r>
          </a:p>
        </p:txBody>
      </p:sp>
    </p:spTree>
    <p:extLst>
      <p:ext uri="{BB962C8B-B14F-4D97-AF65-F5344CB8AC3E}">
        <p14:creationId xmlns:p14="http://schemas.microsoft.com/office/powerpoint/2010/main" val="1459670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9FF69F0-C479-4975-9A14-7E31D513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0d39d80b34ed2">
            <a:extLst>
              <a:ext uri="{96DAC541-7B7A-43D3-8B79-37D633B846F1}">
                <asvg:svgBlip xmlns:asvg="http://schemas.microsoft.com/office/drawing/2016/SVG/main" r:embed="R60a4b05b577c4a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92BCB39-3DDE-412A-A3F1-7C5910EA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LEARNER PARTICIPATION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E668A9-1906-436E-99B2-0C8172EE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Self- and Peer-Assessment Require Criteria Literacy and Safety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FA94BD4-1431-473E-A08A-5F65E85A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84214AD-5DF9-4753-961F-A9C010FA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Sections 6.2.1, 6.2.3 and 8.1.2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5433F80-B639-483D-8E80-5AEC92D4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F11DEA7F-32AB-4814-A291-527B1AD7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11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F1F705FB-CBE2-46C8-AB10-5B7E85EE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B0C86010-F27F-4C72-A335-34C93759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2452CAE4-F20C-4B50-95E8-DD85FF6F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UNDERSTAND criteria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E115BA25-1F34-42E7-A331-CB0C9181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NOTICE evidence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7C8525FC-E7EA-4B91-A7F9-E172BB17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5352EF5E-5936-4A27-8222-F66ABE9C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D8D1F62B-B940-49D8-8701-3E065A43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180BBDFB-E476-4364-9E14-68AFE06D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MAKE and explain judgement</a:t>
            </a:r>
          </a:p>
        </p:txBody>
      </p:sp>
    </p:spTree>
    <p:extLst>
      <p:ext uri="{BB962C8B-B14F-4D97-AF65-F5344CB8AC3E}">
        <p14:creationId xmlns:p14="http://schemas.microsoft.com/office/powerpoint/2010/main" val="13048634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98CE442-2E60-4E6E-AAC8-71312A03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6681728cd4b7c">
            <a:extLst>
              <a:ext uri="{96DAC541-7B7A-43D3-8B79-37D633B846F1}">
                <asvg:svgBlip xmlns:asvg="http://schemas.microsoft.com/office/drawing/2016/SVG/main" r:embed="Rb5ce9b44d5bb41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AC122CA-5FDD-4417-AD06-172A6AF5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FEEDBACK CONTENT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28B93B-CFB3-48FF-88FE-EEE245A1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Feedback Content Should Match the Learning Need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4BD73E5-BD79-4ACE-A05D-2772A772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9B6E4D8-60BD-4B60-BC75-58A5014F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8.1.2, pp. 74–75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A031695-6E02-4FE8-AD4B-08D6A33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B73610C-5525-4EFB-A7CA-B57CF7AE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D776C0FD-E1FC-4C9D-9F01-72E64A78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342D6293-F3CF-4D06-9AB7-32DEADBE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Distinguish numerical, corrective, and metacognitive feedback and match each to action.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6635A9FC-220E-41E2-A4E6-48B3CC4B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F7712201-0619-4DBC-8718-24132263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E7A787FA-B453-47FF-865B-F95D59FE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NUMERICAL: where performance stands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7DB4B94B-2811-4553-91E2-963B7309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54FA50BA-B3DC-4031-975D-B5B77133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2450041D-3760-453F-BC93-099E72D6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CORRECTIVE: what is accurate / appropriate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F4981228-3A3C-4CAB-9B72-E3B5C8C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3E84CEC2-D2BE-43D8-870D-DB4EA3B4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746AB638-21F8-476D-9287-3097EDFD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METACOGNITIVE: how to regulate performance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593FCF6B-888D-478E-A1B6-A6E82D57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F01D19C7-53A6-4065-A922-2EB233B2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DBB0EED1-A080-440F-80B8-A9BB76DF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Which feedback type does your learner need now?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What action should follow each type?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F859AA35-901B-4472-91D4-C3C3EC1F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AC1599D9-1B94-4015-AFA0-0F171FC2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Feedback redesign sample.</a:t>
            </a:r>
          </a:p>
        </p:txBody>
      </p:sp>
    </p:spTree>
    <p:extLst>
      <p:ext uri="{BB962C8B-B14F-4D97-AF65-F5344CB8AC3E}">
        <p14:creationId xmlns:p14="http://schemas.microsoft.com/office/powerpoint/2010/main" val="2036111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4BC6376-D7A6-431D-BEB0-1C4A2755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b608cf6cb4220">
            <a:extLst>
              <a:ext uri="{96DAC541-7B7A-43D3-8B79-37D633B846F1}">
                <asvg:svgBlip xmlns:asvg="http://schemas.microsoft.com/office/drawing/2016/SVG/main" r:embed="Re8e4cec56ee344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F1D4495-9E9D-4F86-9B85-5D2098C6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FEEDBACK CONFIGURATION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60353D-ADD3-4ED2-A7C2-EE720F10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Configure Feedback for Class, Group, and Individual Needs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31DD6F1-B0B0-48AC-A8BB-E142C76F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22B63EC-6205-4FE9-BF12-12FA022B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8.1.2, p. 75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AB2AFBA-CB11-40FF-B751-01F86B4F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337F46F-4D27-43B3-A387-89869FF4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13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16D5B30E-D429-4634-8DCE-CE7E7E7A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C46BC70B-E66C-4E51-ADCD-C07B312A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Match feedback configuration to patterns of evidence, resources, and fairness.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F8BEF2B3-54BD-4204-B691-2A664117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B01533E1-4C90-41FC-B021-7C3F0CED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1BB8FA0D-92C4-40BB-B0D6-1E16FDB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WHOLE CLASS: common pattern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DCDF7DE3-22D3-4EA0-A7F6-4EE31945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3313F0F0-7649-4A01-9B62-84517A8C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1CBC1E6D-8C1E-41D0-8A39-D8E77A9A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GROUP: shared need / product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A4301F74-8E3F-41C3-99FA-A13A0FFB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44E80BA8-91B0-49AF-BD4E-F7BD06D0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73837A80-B846-452F-AAAC-4DE6778F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INDIVIDUAL: specific evidence and goal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7F4E947E-D25C-45ED-8E6C-B0D48B70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91E2CDCD-36A8-461A-8121-5C221624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CF895482-83C6-4FEC-8733-3D6C9773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evidence justifies grouping learners?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How will learners know which feedback applies to them?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488FFB39-6610-4627-BC00-7349C16A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519ADA4A-4222-439B-833B-9C6DBBBB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Feedback configuration plan.</a:t>
            </a:r>
          </a:p>
        </p:txBody>
      </p:sp>
    </p:spTree>
    <p:extLst>
      <p:ext uri="{BB962C8B-B14F-4D97-AF65-F5344CB8AC3E}">
        <p14:creationId xmlns:p14="http://schemas.microsoft.com/office/powerpoint/2010/main" val="2823128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CB42EC0-7906-4907-A902-31D9B3DE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b484fec15472e">
            <a:extLst>
              <a:ext uri="{96DAC541-7B7A-43D3-8B79-37D633B846F1}">
                <asvg:svgBlip xmlns:asvg="http://schemas.microsoft.com/office/drawing/2016/SVG/main" r:embed="R46dabf8987f348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E36B57F-93A8-4A36-B7F6-89014891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FEEDBACK DELIVERY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930D47-DD7D-47C2-8416-8ACFF147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Explicitness and Timing Are Consequential Design Choices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7B98F2C-060E-438D-B9A7-EA43228F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3295BE6C-086A-46E7-9765-F64EEED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8.1.2, pp. 75–76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9C998CD4-ABA9-4FE1-9DEA-E94144F6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126617A-9071-4074-BBE6-AAD5F532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14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786164BA-67C1-428A-9B94-DC44B18A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B73CF2F8-33CC-4070-A67F-69A71647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Design explicit, implicit, immediate, and delayed feedback for the task and learner.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AC427213-452E-4953-9639-42A90611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245800D4-BEE8-476C-A499-074A1EE1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9A641DFD-2AD3-4409-B496-E7698604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EXPLICIT ↔ IMPLICIT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1E4AD3D3-94B1-44D9-9216-2020AE23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4AAACE48-9EDE-4D51-A180-7B214F56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1AB14533-3850-41BF-8F2B-FB4C7B21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IMMEDIATE ↔ DELAYED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1D26203F-759F-49C4-BBC7-DFFD4A5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10B9726B-FD25-4DAB-ACF6-1C5048AE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C5B2993A-DC7B-4EAE-8972-B6E57EB4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TASK PHASE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3F568548-A585-4645-AD19-B1026EA0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E79A839C-48EA-40F2-927F-9C33C05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AF6E88B9-8AD0-4EC7-98CF-60B72CAB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LEARNER READINESS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5E2B03EA-E2B9-4FDD-9283-B1F80F08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B43CACC2-474A-4DF1-934C-F266C4F4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4B895A94-BE52-4296-B5E7-05A76E91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When should performance be interrupted?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When is a recast likely to go unnoticed?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Which errors merit delayed pattern feedback?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AE70251E-0758-4169-81FE-F87F87AC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950B59DA-50F2-4DF5-8633-5305CF20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Feedback decision scenarios.</a:t>
            </a:r>
          </a:p>
        </p:txBody>
      </p:sp>
    </p:spTree>
    <p:extLst>
      <p:ext uri="{BB962C8B-B14F-4D97-AF65-F5344CB8AC3E}">
        <p14:creationId xmlns:p14="http://schemas.microsoft.com/office/powerpoint/2010/main" val="4570785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25D8155-34DA-41FC-9E45-F7DA7D1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bc13481eb4c44">
            <a:extLst>
              <a:ext uri="{96DAC541-7B7A-43D3-8B79-37D633B846F1}">
                <asvg:svgBlip xmlns:asvg="http://schemas.microsoft.com/office/drawing/2016/SVG/main" r:embed="Rc2a4c51885ea46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C1C393B2-AE9D-49B5-9586-0715F2F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FEEDBACK AGENCY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030F06-61C3-40EC-9CE5-9BFAF6A3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Feedback Agency Should Move toward Supported Learner Control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1210BDB-2CDC-43BF-AABC-0E747CA2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C36AF9E-573A-43B6-B1DB-5F4C35B6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8.1.2, p. 76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ACDDCF9-D513-46D9-BC5C-EDB6616D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B86E776-B4CC-43CA-9BC7-427F37F8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15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A49DAB70-C0D2-47CD-8BED-0068F972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C27FBDDB-84F0-4664-B775-4F59362A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D095E6A9-4CB3-423E-A7D5-5E9E85D1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311B2D23-A49B-48F2-8C81-9C694C25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TEACHER guidance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47897AEE-A4AD-4057-99D8-3D243781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1ADEB65A-EA1A-4F9C-9006-F780F30D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3D66BB61-7397-4337-BCA8-E2433B8B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PEER dialogue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15736390-8F5C-4189-BFB0-9D654922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E5C3B35F-1F09-433C-B0D1-28D8E807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2AD168F3-F48C-4850-95F6-39D92A34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SELF monitoring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6816E4FB-3E2E-4E5C-8BAF-052FF72F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5604D8CF-A1F4-448A-BCD7-16413925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88AA0F54-7B89-4089-ABED-5F97F020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TECHNOLOGY information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0D54BE7C-FA36-4326-BBAF-6E151045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Design teacher, peer, self, and technology roles as a coherent feedback ecology.</a:t>
            </a:r>
          </a:p>
        </p:txBody>
      </p:sp>
    </p:spTree>
    <p:extLst>
      <p:ext uri="{BB962C8B-B14F-4D97-AF65-F5344CB8AC3E}">
        <p14:creationId xmlns:p14="http://schemas.microsoft.com/office/powerpoint/2010/main" val="20980492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DAAACF0-70F5-4A98-BDE6-A475D830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2250e046c409f">
            <a:extLst>
              <a:ext uri="{96DAC541-7B7A-43D3-8B79-37D633B846F1}">
                <asvg:svgBlip xmlns:asvg="http://schemas.microsoft.com/office/drawing/2016/SVG/main" r:embed="R4018da7ee0a746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88D7FD7-8E76-4DBB-AF93-3BF4446E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COMPARATIVE DESIGN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22FB41-A894-4864-B78E-611C88A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Compare Two Designs against the Same Construct and Use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38ECFBA-22CE-40AC-8F5F-122E8C19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99F84D76-6CE0-42F3-8C93-3E6954C7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comparative design studio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6B51E0DB-6A46-4E9A-BDAC-A953838B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9A054FF-45F3-4008-9E59-D00099A1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16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65D4D39B-7F30-4AE0-9C37-202BAAE1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FF48A2FD-7423-4417-8242-7F233420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B9B298AF-63AE-496C-B2F0-144DED56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D4B0283A-BD78-4E7C-8901-8793F767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EVIDENCE &amp; COVERAGE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5C7579C2-B40A-47A2-BE97-0251CF09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6F8667FF-2748-46AE-8DCE-01BB25EC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76D89E2A-A356-4C46-8924-C8795D1C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LEARNING &amp; AGENCY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D968AD51-74AA-4D56-A73D-7F666FA9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BCE4CF8C-70AC-4501-BC39-F6C9EB44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9522CE77-0D36-4845-8D55-22EA43D0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QUALITY &amp; FAIRNESS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EEB66C6D-6BFD-4AEF-83F2-7F0DCE3A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2AE5121F-F148-4DE7-BFBC-670D877B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3EAF0D7E-BCD9-4B01-B20D-37CE6B7D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PRACTICALITY &amp; USE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4F420E31-A9E5-4773-AA2C-1B396E3D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Evaluate test and non-test options through a common evidence and quality framework.</a:t>
            </a:r>
          </a:p>
        </p:txBody>
      </p:sp>
    </p:spTree>
    <p:extLst>
      <p:ext uri="{BB962C8B-B14F-4D97-AF65-F5344CB8AC3E}">
        <p14:creationId xmlns:p14="http://schemas.microsoft.com/office/powerpoint/2010/main" val="14260206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C56563C-B690-44CC-86AA-6E81B3AE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28655fc464274">
            <a:extLst>
              <a:ext uri="{96DAC541-7B7A-43D3-8B79-37D633B846F1}">
                <asvg:svgBlip xmlns:asvg="http://schemas.microsoft.com/office/drawing/2016/SVG/main" r:embed="R8d48ed5b00fe43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4DD53379-056E-41A6-BDAE-A7195231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STUDIO PROTOTYPE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064A24-D2AB-4580-A2BC-8660B4BA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Design the Feedback and Learner-Participation Plan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5F3C8EF-BEEA-4F92-ADB1-389AF18E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2DBA761-52E8-4C8C-95AD-61DCCC72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 synthesis of Sections 6.2 and 8.1.2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90E47676-FB63-4415-A07F-89B64C32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64F162A-4E27-46B2-AECF-291A1EC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495D3529-9AF8-4F02-9F07-819683B4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D477E154-582F-4027-8BC0-50AA29F4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Specify evidence, feedback, agency, action, safeguards, and new performance opportunities.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4F6A6EDD-F809-4EDE-B844-2A1ECFBA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317AF8AF-8980-4AC5-8261-92E05E40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C3E4C779-73FC-4CC4-85CB-ADFCB2B6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EVIDENCE SOURCE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4A72D6CE-1FC8-49EC-BEAB-53BD9C7E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5383306C-0B1D-4777-AB7F-B2437BF8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A9F13417-36B2-415A-BCEF-C3BD0435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FEEDBACK DESIGN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8571FF20-4906-4912-A767-8BE9099F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6A101236-F177-4F2A-A730-DDF3F9A6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4C3D0D89-208A-4A15-95F3-FA071992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LEARNER ACTION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C8417555-DFD1-4BCF-BAAD-FBBB5F7E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81AD7E28-403E-46B9-9C5B-C55B99D8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FB4F6E97-81F0-4013-B3CE-2337BEF2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NEW EVIDENCE &amp; ADAPTATION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49219D67-25BE-43DC-AF81-ADD40EFC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17B68E3E-7B1B-423D-A8DA-70BC34DA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C44184B3-6E39-4A29-B1BC-24294594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What exactly will learners do with feedback?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What support makes peer/self judgement credible?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How will uptake become visible?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B2DE7C03-19DF-4BAA-9A02-9B83DDA9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5BFCCCB2-ECCF-4EFE-82B8-D6F6BB8B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Team Feedback and Learner-Participation Plan v1.</a:t>
            </a:r>
          </a:p>
        </p:txBody>
      </p:sp>
    </p:spTree>
    <p:extLst>
      <p:ext uri="{BB962C8B-B14F-4D97-AF65-F5344CB8AC3E}">
        <p14:creationId xmlns:p14="http://schemas.microsoft.com/office/powerpoint/2010/main" val="21201282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C22362A-0E60-45C1-B5A7-D0C71813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dc810aefb4db9">
            <a:extLst>
              <a:ext uri="{96DAC541-7B7A-43D3-8B79-37D633B846F1}">
                <asvg:svgBlip xmlns:asvg="http://schemas.microsoft.com/office/drawing/2016/SVG/main" r:embed="R1c8ca31b4ebc44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908A605-B6B2-4154-A0F9-D91CE05E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LEARNING-ORIENTED REDESIGN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3A325E-B38F-4589-BE81-ABA3DA7B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Redesign as a Learning-Oriented Assessment System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2A71040-40C5-4ADF-89D5-66BD1964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3F16F3C1-619B-4D22-B8DD-8379BC82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iterative-redesign task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9C05CACC-30FF-4D10-B8FF-FFA4AB46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A9BEC9E-34E3-48E3-A30E-47B6CB92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18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530A78F0-F402-4488-B76D-816682A5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FE7E8749-770C-45C6-A747-C8992DA1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Integrate the selected test/non-test combination, feedback loop, and participation architecture.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15A23F5C-BB70-41AB-9181-85D1A530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5761F0FB-FB8E-4692-A301-5FE76B1F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F33D2B90-5BDE-46EE-90DF-9A313DC7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LEARNING TASK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A1C0EABD-CE54-4768-A572-A7A789BB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B4535044-9242-4416-A869-8ADE3028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941C2B16-8BC0-4D7A-ABB6-64E09EF1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EVIDENCE &amp; MEDIATION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AC66AC29-C3CD-4402-BDC4-11B2BAC0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0D703551-A2FF-4F0E-9D01-9381205C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850D7489-5407-47B8-8A2B-A85C20FD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REVISION / TRANSFER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A712C881-B15A-41FE-983F-913D6F19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128CDD0D-FAF3-4B46-A709-C51EC178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59C16318-1401-4C33-B0AF-C67A10A9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JUDGEMENT &amp; USE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BB6E2BBA-028B-45A7-B4F7-F8E54699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7824A7D7-003C-4030-99F6-8DB2864E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9F9938E5-1DFD-4EF2-B815-99C85298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Where is learning designed—not merely hoped for?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evidence supports an individual claim?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Where does support end?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6FBAF356-E2A4-42FA-8D9C-8D34E5A5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55384C85-DED6-4CAC-93AF-A292A662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Learning-Oriented Assessment System v1.</a:t>
            </a:r>
          </a:p>
        </p:txBody>
      </p:sp>
    </p:spTree>
    <p:extLst>
      <p:ext uri="{BB962C8B-B14F-4D97-AF65-F5344CB8AC3E}">
        <p14:creationId xmlns:p14="http://schemas.microsoft.com/office/powerpoint/2010/main" val="857218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9471AFC-AB90-4428-A842-7304C9D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ec865470b4889">
            <a:extLst>
              <a:ext uri="{96DAC541-7B7A-43D3-8B79-37D633B846F1}">
                <asvg:svgBlip xmlns:asvg="http://schemas.microsoft.com/office/drawing/2016/SVG/main" r:embed="R5c5448db396e40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7162FCB-B72B-4442-B470-7CB427D8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INDIVIDUAL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50F34F-1C9A-463C-BAC0-9BA41529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Individual Comparative Design Justification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3106BF7-5A11-40F7-870B-E8A00ADA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98D4804C-215C-4136-A6C2-2B2B9C06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learning and research task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7176BB54-E987-41E7-B0CD-A8FE73E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2D4B128-D5B0-432A-BC2B-0EFA5715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19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5C680168-5083-49E0-B94C-03B1606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ABF769D4-A0A6-45AD-8558-49B41D25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EEB5DF8C-C0DF-4E79-BAE3-DF53FEE9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COMPARE evidence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5E4831AC-2374-42F5-A5D7-31CF836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F8AD5CF4-CF79-4C86-9050-62EABF30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E7E21FD-52D6-4F29-B015-F2A1D4A8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DIAGNOSE risks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564653E8-5775-4A4C-ADC5-256349B5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ACF75939-EAF3-487D-8007-AC65A163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9BEB0645-5FA4-417D-8A9A-D04106FA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SELECT and justify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1A700240-7210-44F3-A77A-73413FE6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Elicit independent judgement about test, non-test, and hybrid assessment options.</a:t>
            </a:r>
          </a:p>
        </p:txBody>
      </p:sp>
    </p:spTree>
    <p:extLst>
      <p:ext uri="{BB962C8B-B14F-4D97-AF65-F5344CB8AC3E}">
        <p14:creationId xmlns:p14="http://schemas.microsoft.com/office/powerpoint/2010/main" val="21252350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E175D66F-7F26-444E-B65A-72348FC0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5ea6241ca497f">
            <a:extLst>
              <a:ext uri="{96DAC541-7B7A-43D3-8B79-37D633B846F1}">
                <asvg:svgBlip xmlns:asvg="http://schemas.microsoft.com/office/drawing/2016/SVG/main" r:embed="R55eba76fd50343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A0CDC76-4BC3-4DFF-9AAC-9251C559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PREPARE FOR SESSION 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625959-E78E-46B0-B9E2-7372A0D4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Next: Make Judgement and Administration Defensible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56DEF46-C46B-411A-85D8-64271511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48BFE6F3-C00E-4B59-B04A-0596A2C4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Prepare Phakiti &amp; Leung (2024), Sections 6.1.3–6.1.5, pp. 43–45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2337334C-D324-4B87-846A-57575666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6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FDC601D-5CBB-490F-9E6F-99E72676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20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984D5C0A-9DC1-4F57-AC1B-90CF1004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DDFBE211-C0FE-422B-BE11-E81FBB41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9EF5FB0F-3DCA-4576-A7ED-BC2B7B19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READ: administration, scoring, use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03D55494-B542-4CE5-99B2-8E13106F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7C1FB366-E0AD-41E5-831D-AA2F579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3EFFEE4F-9284-4434-83F0-C0972DA9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BRING: system + sample performance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66CB5106-0C9A-4E33-AB40-EFE5B86F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E4FC6323-980E-4FA8-A800-056636BD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46911280-5269-4ABE-9CBF-72738C22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IDENTIFY: evidence, exclusion, condition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6AFDC623-03A0-42E6-8561-5568EBA7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Prepare rubric design, moderation, administration, score interpretation, and micro-piloting.</a:t>
            </a:r>
          </a:p>
        </p:txBody>
      </p:sp>
    </p:spTree>
    <p:extLst>
      <p:ext uri="{BB962C8B-B14F-4D97-AF65-F5344CB8AC3E}">
        <p14:creationId xmlns:p14="http://schemas.microsoft.com/office/powerpoint/2010/main" val="1566672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2026-07-13T15:23:42.7090000Z</dcterms:created>
  <dcterms:modified xsi:type="dcterms:W3CDTF">2026-07-13T15:23:42.7090000Z</dcterms:modified>
</coreProperties>
</file>