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c84d1eadc414c" /><Relationship Type="http://schemas.openxmlformats.org/officeDocument/2006/relationships/extended-properties" Target="/docProps/app.xml" Id="Ra47ca5e15f404dcf" /><Relationship Type="http://schemas.openxmlformats.org/officeDocument/2006/relationships/officeDocument" Target="/ppt/presentation.xml" Id="R754b176eb57c41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9b1ec6f3b94bd2"/>
  </p:sldMasterIdLst>
  <p:notesMasterIdLst>
    <p:notesMasterId xmlns:r="http://schemas.openxmlformats.org/officeDocument/2006/relationships" r:id="R2ea282372e7d40f9"/>
  </p:notesMasterIdLst>
  <p:sldIdLst>
    <p:sldId xmlns:r="http://schemas.openxmlformats.org/officeDocument/2006/relationships" id="256" r:id="Rff40df8eaede402a"/>
    <p:sldId xmlns:r="http://schemas.openxmlformats.org/officeDocument/2006/relationships" id="257" r:id="R67d6edfcebc24f9a"/>
    <p:sldId xmlns:r="http://schemas.openxmlformats.org/officeDocument/2006/relationships" id="258" r:id="R4e24fd11d428434b"/>
    <p:sldId xmlns:r="http://schemas.openxmlformats.org/officeDocument/2006/relationships" id="259" r:id="Rd50b883ccdf24bc2"/>
    <p:sldId xmlns:r="http://schemas.openxmlformats.org/officeDocument/2006/relationships" id="260" r:id="Rec9dd2cfeef64397"/>
    <p:sldId xmlns:r="http://schemas.openxmlformats.org/officeDocument/2006/relationships" id="261" r:id="R1497ab661b924d7e"/>
    <p:sldId xmlns:r="http://schemas.openxmlformats.org/officeDocument/2006/relationships" id="262" r:id="Rab63d3aec97840ba"/>
    <p:sldId xmlns:r="http://schemas.openxmlformats.org/officeDocument/2006/relationships" id="263" r:id="R3083e77fdb784fbc"/>
    <p:sldId xmlns:r="http://schemas.openxmlformats.org/officeDocument/2006/relationships" id="264" r:id="Rb46d5b29d3de4883"/>
    <p:sldId xmlns:r="http://schemas.openxmlformats.org/officeDocument/2006/relationships" id="265" r:id="Rd1ddf47b263d4ec0"/>
    <p:sldId xmlns:r="http://schemas.openxmlformats.org/officeDocument/2006/relationships" id="266" r:id="Rcec384e7c85a4cd5"/>
    <p:sldId xmlns:r="http://schemas.openxmlformats.org/officeDocument/2006/relationships" id="267" r:id="R8f27192f31e84a9d"/>
    <p:sldId xmlns:r="http://schemas.openxmlformats.org/officeDocument/2006/relationships" id="268" r:id="Rc89f7844d4ae439a"/>
    <p:sldId xmlns:r="http://schemas.openxmlformats.org/officeDocument/2006/relationships" id="269" r:id="Rd8dfb687ec624f39"/>
    <p:sldId xmlns:r="http://schemas.openxmlformats.org/officeDocument/2006/relationships" id="270" r:id="R7f6634d5f2584ea4"/>
    <p:sldId xmlns:r="http://schemas.openxmlformats.org/officeDocument/2006/relationships" id="271" r:id="R52315c230d804fd2"/>
    <p:sldId xmlns:r="http://schemas.openxmlformats.org/officeDocument/2006/relationships" id="272" r:id="R4b7e53168f9a4b23"/>
    <p:sldId xmlns:r="http://schemas.openxmlformats.org/officeDocument/2006/relationships" id="273" r:id="Re199659a3d6d4a11"/>
    <p:sldId xmlns:r="http://schemas.openxmlformats.org/officeDocument/2006/relationships" id="274" r:id="R23727a7f11814936"/>
    <p:sldId xmlns:r="http://schemas.openxmlformats.org/officeDocument/2006/relationships" id="275" r:id="R8b5f483dbf004e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2a3bcad5ee430f" /><Relationship Type="http://schemas.openxmlformats.org/officeDocument/2006/relationships/slideMaster" Target="/ppt/slideMasters/slideMaster1.xml" Id="R3f9b1ec6f3b94bd2" /><Relationship Type="http://schemas.openxmlformats.org/officeDocument/2006/relationships/notesMaster" Target="/ppt/notesMasters/notesMaster1.xml" Id="R2ea282372e7d40f9" /><Relationship Type="http://schemas.openxmlformats.org/officeDocument/2006/relationships/presProps" Target="/ppt/presProps.xml" Id="R0995370e4b2b40bf" /><Relationship Type="http://schemas.openxmlformats.org/officeDocument/2006/relationships/tableStyles" Target="/ppt/tableStyles.xml" Id="R10bb6e1a68c24277" /><Relationship Type="http://schemas.openxmlformats.org/officeDocument/2006/relationships/slide" Target="/ppt/slides/slide1.xml" Id="Rff40df8eaede402a" /><Relationship Type="http://schemas.openxmlformats.org/officeDocument/2006/relationships/slide" Target="/ppt/slides/slide2.xml" Id="R67d6edfcebc24f9a" /><Relationship Type="http://schemas.openxmlformats.org/officeDocument/2006/relationships/slide" Target="/ppt/slides/slide3.xml" Id="R4e24fd11d428434b" /><Relationship Type="http://schemas.openxmlformats.org/officeDocument/2006/relationships/slide" Target="/ppt/slides/slide4.xml" Id="Rd50b883ccdf24bc2" /><Relationship Type="http://schemas.openxmlformats.org/officeDocument/2006/relationships/slide" Target="/ppt/slides/slide5.xml" Id="Rec9dd2cfeef64397" /><Relationship Type="http://schemas.openxmlformats.org/officeDocument/2006/relationships/slide" Target="/ppt/slides/slide6.xml" Id="R1497ab661b924d7e" /><Relationship Type="http://schemas.openxmlformats.org/officeDocument/2006/relationships/slide" Target="/ppt/slides/slide7.xml" Id="Rab63d3aec97840ba" /><Relationship Type="http://schemas.openxmlformats.org/officeDocument/2006/relationships/slide" Target="/ppt/slides/slide8.xml" Id="R3083e77fdb784fbc" /><Relationship Type="http://schemas.openxmlformats.org/officeDocument/2006/relationships/slide" Target="/ppt/slides/slide9.xml" Id="Rb46d5b29d3de4883" /><Relationship Type="http://schemas.openxmlformats.org/officeDocument/2006/relationships/slide" Target="/ppt/slides/slide10.xml" Id="Rd1ddf47b263d4ec0" /><Relationship Type="http://schemas.openxmlformats.org/officeDocument/2006/relationships/slide" Target="/ppt/slides/slide11.xml" Id="Rcec384e7c85a4cd5" /><Relationship Type="http://schemas.openxmlformats.org/officeDocument/2006/relationships/slide" Target="/ppt/slides/slide12.xml" Id="R8f27192f31e84a9d" /><Relationship Type="http://schemas.openxmlformats.org/officeDocument/2006/relationships/slide" Target="/ppt/slides/slide13.xml" Id="Rc89f7844d4ae439a" /><Relationship Type="http://schemas.openxmlformats.org/officeDocument/2006/relationships/slide" Target="/ppt/slides/slide14.xml" Id="Rd8dfb687ec624f39" /><Relationship Type="http://schemas.openxmlformats.org/officeDocument/2006/relationships/slide" Target="/ppt/slides/slide15.xml" Id="R7f6634d5f2584ea4" /><Relationship Type="http://schemas.openxmlformats.org/officeDocument/2006/relationships/slide" Target="/ppt/slides/slide16.xml" Id="R52315c230d804fd2" /><Relationship Type="http://schemas.openxmlformats.org/officeDocument/2006/relationships/slide" Target="/ppt/slides/slide17.xml" Id="R4b7e53168f9a4b23" /><Relationship Type="http://schemas.openxmlformats.org/officeDocument/2006/relationships/slide" Target="/ppt/slides/slide18.xml" Id="Re199659a3d6d4a11" /><Relationship Type="http://schemas.openxmlformats.org/officeDocument/2006/relationships/slide" Target="/ppt/slides/slide19.xml" Id="R23727a7f11814936" /><Relationship Type="http://schemas.openxmlformats.org/officeDocument/2006/relationships/slide" Target="/ppt/slides/slide20.xml" Id="R8b5f483dbf00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b6edb0aee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bd824b07940f5" /><Relationship Type="http://schemas.openxmlformats.org/officeDocument/2006/relationships/notesMaster" Target="/ppt/notesMasters/notesMaster1.xml" Id="Rb9fffdaeaabb44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90f9b23c15427e" /><Relationship Type="http://schemas.openxmlformats.org/officeDocument/2006/relationships/notesMaster" Target="/ppt/notesMasters/notesMaster1.xml" Id="R2ad7ad5088734f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d119d8eb174795" /><Relationship Type="http://schemas.openxmlformats.org/officeDocument/2006/relationships/notesMaster" Target="/ppt/notesMasters/notesMaster1.xml" Id="R88dae60036f64d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ceea47abb484f" /><Relationship Type="http://schemas.openxmlformats.org/officeDocument/2006/relationships/notesMaster" Target="/ppt/notesMasters/notesMaster1.xml" Id="Rd9bc3fd203c44d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3ef41a6d3b477e" /><Relationship Type="http://schemas.openxmlformats.org/officeDocument/2006/relationships/notesMaster" Target="/ppt/notesMasters/notesMaster1.xml" Id="Rb4cb064a89684a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a4651d89fa4e80" /><Relationship Type="http://schemas.openxmlformats.org/officeDocument/2006/relationships/notesMaster" Target="/ppt/notesMasters/notesMaster1.xml" Id="R54b2828371d24f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218c26ccc24ce7" /><Relationship Type="http://schemas.openxmlformats.org/officeDocument/2006/relationships/notesMaster" Target="/ppt/notesMasters/notesMaster1.xml" Id="R6e25a82ca8e546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2012e51de452b" /><Relationship Type="http://schemas.openxmlformats.org/officeDocument/2006/relationships/notesMaster" Target="/ppt/notesMasters/notesMaster1.xml" Id="Rc9ebcd7049924e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9b1e7086324d98" /><Relationship Type="http://schemas.openxmlformats.org/officeDocument/2006/relationships/notesMaster" Target="/ppt/notesMasters/notesMaster1.xml" Id="R7efb57b87c0a42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deaa5102654197" /><Relationship Type="http://schemas.openxmlformats.org/officeDocument/2006/relationships/notesMaster" Target="/ppt/notesMasters/notesMaster1.xml" Id="R3e74fd9840a340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9139d51f0a4b8e" /><Relationship Type="http://schemas.openxmlformats.org/officeDocument/2006/relationships/notesMaster" Target="/ppt/notesMasters/notesMaster1.xml" Id="Rd8ed74555b824e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240cdb35df4601" /><Relationship Type="http://schemas.openxmlformats.org/officeDocument/2006/relationships/notesMaster" Target="/ppt/notesMasters/notesMaster1.xml" Id="Rc2ec8267e67c4c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9e6063aba745fd" /><Relationship Type="http://schemas.openxmlformats.org/officeDocument/2006/relationships/notesMaster" Target="/ppt/notesMasters/notesMaster1.xml" Id="Rb85419758fdd47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59fe3c2be7493a" /><Relationship Type="http://schemas.openxmlformats.org/officeDocument/2006/relationships/notesMaster" Target="/ppt/notesMasters/notesMaster1.xml" Id="R752590130f6d47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b49339be314d5c" /><Relationship Type="http://schemas.openxmlformats.org/officeDocument/2006/relationships/notesMaster" Target="/ppt/notesMasters/notesMaster1.xml" Id="R5281abc6437c43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114ab27aff43c4" /><Relationship Type="http://schemas.openxmlformats.org/officeDocument/2006/relationships/notesMaster" Target="/ppt/notesMasters/notesMaster1.xml" Id="R21ab00817f7742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18fbbaf16f4372" /><Relationship Type="http://schemas.openxmlformats.org/officeDocument/2006/relationships/notesMaster" Target="/ppt/notesMasters/notesMaster1.xml" Id="R4ff32b35c8e645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dc38b26ed24fff" /><Relationship Type="http://schemas.openxmlformats.org/officeDocument/2006/relationships/notesMaster" Target="/ppt/notesMasters/notesMaster1.xml" Id="R5b55555824df4e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d3ba6bba5e4747" /><Relationship Type="http://schemas.openxmlformats.org/officeDocument/2006/relationships/notesMaster" Target="/ppt/notesMasters/notesMaster1.xml" Id="R54f16f3a9a6346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104658a8a34677" /><Relationship Type="http://schemas.openxmlformats.org/officeDocument/2006/relationships/notesMaster" Target="/ppt/notesMasters/notesMaster1.xml" Id="R724d99ce7ed84c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6649072e14e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e7c8227b447cf" /><Relationship Type="http://schemas.openxmlformats.org/officeDocument/2006/relationships/slideLayout" Target="/ppt/slideLayouts/slideLayout1.xml" Id="R6007a87a1c0b4a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07a87a1c0b4a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2944f99754f48" /><Relationship Type="http://schemas.openxmlformats.org/officeDocument/2006/relationships/image" Target="/ppt/media/image.png" Id="Re2b3bd756c564f03" /><Relationship Type="http://schemas.openxmlformats.org/officeDocument/2006/relationships/image" Target="/ppt/media/image.svg" Id="R8c2061a72de24b49" /><Relationship Type="http://schemas.openxmlformats.org/officeDocument/2006/relationships/notesSlide" Target="/ppt/notesSlides/notesSlide1.xml" Id="R53263fb7c65745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bf166597d4583" /><Relationship Type="http://schemas.openxmlformats.org/officeDocument/2006/relationships/image" Target="/ppt/media/image2.png" Id="R1d8d220f1e314aec" /><Relationship Type="http://schemas.openxmlformats.org/officeDocument/2006/relationships/image" Target="/ppt/media/image2.svg" Id="R23de9e374cc541a9" /><Relationship Type="http://schemas.openxmlformats.org/officeDocument/2006/relationships/notesSlide" Target="/ppt/notesSlides/notesSlide2.xml" Id="R021c9d1da5ad49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1109a15de4ec3" /><Relationship Type="http://schemas.openxmlformats.org/officeDocument/2006/relationships/image" Target="/ppt/media/image3.png" Id="R11aa027970d54b91" /><Relationship Type="http://schemas.openxmlformats.org/officeDocument/2006/relationships/image" Target="/ppt/media/image3.svg" Id="R1ee412c2486f4ba9" /><Relationship Type="http://schemas.openxmlformats.org/officeDocument/2006/relationships/notesSlide" Target="/ppt/notesSlides/notesSlide3.xml" Id="R6d763f085f3244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187ac0d4341bd" /><Relationship Type="http://schemas.openxmlformats.org/officeDocument/2006/relationships/image" Target="/ppt/media/image4.png" Id="R1a71a6dd11e84d3d" /><Relationship Type="http://schemas.openxmlformats.org/officeDocument/2006/relationships/image" Target="/ppt/media/image4.svg" Id="R37b8239be87c4ef6" /><Relationship Type="http://schemas.openxmlformats.org/officeDocument/2006/relationships/notesSlide" Target="/ppt/notesSlides/notesSlide4.xml" Id="R866a53277ed14a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59a49a3034827" /><Relationship Type="http://schemas.openxmlformats.org/officeDocument/2006/relationships/image" Target="/ppt/media/image5.png" Id="R4c33e31633254282" /><Relationship Type="http://schemas.openxmlformats.org/officeDocument/2006/relationships/image" Target="/ppt/media/image5.svg" Id="R0fb5938d1fe14367" /><Relationship Type="http://schemas.openxmlformats.org/officeDocument/2006/relationships/notesSlide" Target="/ppt/notesSlides/notesSlide5.xml" Id="Red0656270248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055e0335145f8" /><Relationship Type="http://schemas.openxmlformats.org/officeDocument/2006/relationships/image" Target="/ppt/media/image6.png" Id="R15e16b52b1f04986" /><Relationship Type="http://schemas.openxmlformats.org/officeDocument/2006/relationships/image" Target="/ppt/media/image6.svg" Id="R7e20bf7128f74c85" /><Relationship Type="http://schemas.openxmlformats.org/officeDocument/2006/relationships/notesSlide" Target="/ppt/notesSlides/notesSlide6.xml" Id="R8624e4d386e143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ca6ac8d774fc2" /><Relationship Type="http://schemas.openxmlformats.org/officeDocument/2006/relationships/image" Target="/ppt/media/image7.png" Id="R07b7be0067484279" /><Relationship Type="http://schemas.openxmlformats.org/officeDocument/2006/relationships/image" Target="/ppt/media/image7.svg" Id="R56c84de0922c42ee" /><Relationship Type="http://schemas.openxmlformats.org/officeDocument/2006/relationships/notesSlide" Target="/ppt/notesSlides/notesSlide7.xml" Id="Rb2d54c7ed37048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db7848e4d4993" /><Relationship Type="http://schemas.openxmlformats.org/officeDocument/2006/relationships/image" Target="/ppt/media/image8.png" Id="R6ca75ca4cbb046ad" /><Relationship Type="http://schemas.openxmlformats.org/officeDocument/2006/relationships/image" Target="/ppt/media/image8.svg" Id="Rb726ea02efa54e16" /><Relationship Type="http://schemas.openxmlformats.org/officeDocument/2006/relationships/notesSlide" Target="/ppt/notesSlides/notesSlide8.xml" Id="R723278e98e5541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ad158236f49e6" /><Relationship Type="http://schemas.openxmlformats.org/officeDocument/2006/relationships/image" Target="/ppt/media/image9.png" Id="Rc5b7e419017f4a35" /><Relationship Type="http://schemas.openxmlformats.org/officeDocument/2006/relationships/image" Target="/ppt/media/image9.svg" Id="R1b4b800400bf4569" /><Relationship Type="http://schemas.openxmlformats.org/officeDocument/2006/relationships/notesSlide" Target="/ppt/notesSlides/notesSlide9.xml" Id="R9cd5b0bc12514a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fc12e70ec4bf7" /><Relationship Type="http://schemas.openxmlformats.org/officeDocument/2006/relationships/image" Target="/ppt/media/image10.png" Id="R228acb965de84679" /><Relationship Type="http://schemas.openxmlformats.org/officeDocument/2006/relationships/image" Target="/ppt/media/image10.svg" Id="R80c2574192704295" /><Relationship Type="http://schemas.openxmlformats.org/officeDocument/2006/relationships/notesSlide" Target="/ppt/notesSlides/notesSlide10.xml" Id="R1ffccfa1fcc942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072e0f2d242e5" /><Relationship Type="http://schemas.openxmlformats.org/officeDocument/2006/relationships/image" Target="/ppt/media/image11.png" Id="R5eabc980c92c40ce" /><Relationship Type="http://schemas.openxmlformats.org/officeDocument/2006/relationships/image" Target="/ppt/media/image11.svg" Id="R42adb544066a4d66" /><Relationship Type="http://schemas.openxmlformats.org/officeDocument/2006/relationships/notesSlide" Target="/ppt/notesSlides/notesSlide11.xml" Id="Rda2d0b2b71534a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ca02c383c462e" /><Relationship Type="http://schemas.openxmlformats.org/officeDocument/2006/relationships/image" Target="/ppt/media/image12.png" Id="Ref56482c650c4ed4" /><Relationship Type="http://schemas.openxmlformats.org/officeDocument/2006/relationships/image" Target="/ppt/media/image12.svg" Id="R1828d5bd0f464197" /><Relationship Type="http://schemas.openxmlformats.org/officeDocument/2006/relationships/notesSlide" Target="/ppt/notesSlides/notesSlide12.xml" Id="Rb58b90bee70a44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75d35aa584277" /><Relationship Type="http://schemas.openxmlformats.org/officeDocument/2006/relationships/image" Target="/ppt/media/image13.png" Id="R9ce1e556040f4c14" /><Relationship Type="http://schemas.openxmlformats.org/officeDocument/2006/relationships/image" Target="/ppt/media/image13.svg" Id="R91a93dedb8ee4272" /><Relationship Type="http://schemas.openxmlformats.org/officeDocument/2006/relationships/notesSlide" Target="/ppt/notesSlides/notesSlide13.xml" Id="Re0d32dc04a7747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788c7188643bc" /><Relationship Type="http://schemas.openxmlformats.org/officeDocument/2006/relationships/image" Target="/ppt/media/image14.png" Id="Rb91750866e9d4b0b" /><Relationship Type="http://schemas.openxmlformats.org/officeDocument/2006/relationships/image" Target="/ppt/media/image14.svg" Id="Rff77f66ce67f4ea2" /><Relationship Type="http://schemas.openxmlformats.org/officeDocument/2006/relationships/notesSlide" Target="/ppt/notesSlides/notesSlide14.xml" Id="Rc17289d10c084e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40e4d5e0943ba" /><Relationship Type="http://schemas.openxmlformats.org/officeDocument/2006/relationships/image" Target="/ppt/media/image15.png" Id="R9b5ce094990942f1" /><Relationship Type="http://schemas.openxmlformats.org/officeDocument/2006/relationships/image" Target="/ppt/media/image15.svg" Id="R3d18d820f38e459c" /><Relationship Type="http://schemas.openxmlformats.org/officeDocument/2006/relationships/notesSlide" Target="/ppt/notesSlides/notesSlide15.xml" Id="R79b606fe96d346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1679f5acf495e" /><Relationship Type="http://schemas.openxmlformats.org/officeDocument/2006/relationships/image" Target="/ppt/media/image16.png" Id="R6fc770a1d1634863" /><Relationship Type="http://schemas.openxmlformats.org/officeDocument/2006/relationships/image" Target="/ppt/media/image16.svg" Id="R49ff9ced451c44cc" /><Relationship Type="http://schemas.openxmlformats.org/officeDocument/2006/relationships/notesSlide" Target="/ppt/notesSlides/notesSlide16.xml" Id="R14b9390709cc4f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014ed00c54c00" /><Relationship Type="http://schemas.openxmlformats.org/officeDocument/2006/relationships/image" Target="/ppt/media/image17.png" Id="R156cda365e4b40e0" /><Relationship Type="http://schemas.openxmlformats.org/officeDocument/2006/relationships/image" Target="/ppt/media/image17.svg" Id="R1ca9ab28a7414805" /><Relationship Type="http://schemas.openxmlformats.org/officeDocument/2006/relationships/notesSlide" Target="/ppt/notesSlides/notesSlide17.xml" Id="Rbf4d94aeecf149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e1dc950c14e66" /><Relationship Type="http://schemas.openxmlformats.org/officeDocument/2006/relationships/image" Target="/ppt/media/image18.png" Id="R239f6d62a0a641fe" /><Relationship Type="http://schemas.openxmlformats.org/officeDocument/2006/relationships/image" Target="/ppt/media/image18.svg" Id="Rec777f9110604407" /><Relationship Type="http://schemas.openxmlformats.org/officeDocument/2006/relationships/notesSlide" Target="/ppt/notesSlides/notesSlide18.xml" Id="R6b507f42fd3543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62e438d30484d" /><Relationship Type="http://schemas.openxmlformats.org/officeDocument/2006/relationships/image" Target="/ppt/media/image19.png" Id="Rb6c89704838c4950" /><Relationship Type="http://schemas.openxmlformats.org/officeDocument/2006/relationships/image" Target="/ppt/media/image19.svg" Id="Rf8cac69b398c46a6" /><Relationship Type="http://schemas.openxmlformats.org/officeDocument/2006/relationships/notesSlide" Target="/ppt/notesSlides/notesSlide19.xml" Id="R08a57507012149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f16f233fe470e" /><Relationship Type="http://schemas.openxmlformats.org/officeDocument/2006/relationships/image" Target="/ppt/media/image20.png" Id="R57b1feaffe874152" /><Relationship Type="http://schemas.openxmlformats.org/officeDocument/2006/relationships/image" Target="/ppt/media/image20.svg" Id="Rf58c83dbce9f4512" /><Relationship Type="http://schemas.openxmlformats.org/officeDocument/2006/relationships/notesSlide" Target="/ppt/notesSlides/notesSlide20.xml" Id="R0fc369e3fda14d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C7FC5E84-8CF6-46CF-9D6C-C86A409D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61EF65B1-E1BB-4832-9B02-23A8F2C6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35ACAA07-F929-4D64-8499-CC13182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890F384-0E50-45F5-968F-0447D775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731DB227-3F12-4AEA-8D88-4E14A8F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3bd756c564f03">
            <a:extLst>
              <a:ext uri="{96DAC541-7B7A-43D3-8B79-37D633B846F1}">
                <asvg:svgBlip xmlns:asvg="http://schemas.microsoft.com/office/drawing/2016/SVG/main" r:embed="R8c2061a72de24b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9055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19CEFCA-32E9-4107-A6E3-CCF545BD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00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ASSESSMENT, POWER,</a:t>
            </a:r>
          </a:p>
          <a:p xmlns:a="http://schemas.openxmlformats.org/drawingml/2006/main">
            <a:pPr algn="l"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AND LANGUAGE ASSESSMENT LITERACY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B836BC58-FB3C-41ED-B8F9-9053DBB6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D4A72C"/>
                </a:solidFill>
              </a:defRPr>
            </a:pPr>
            <a:r>
              <a:rPr sz="1950" b="0" i="1">
                <a:solidFill>
                  <a:srgbClr val="D4A72C"/>
                </a:solidFill>
              </a:rPr>
              <a:t>What changes when teachers begin to think like assessment designers?</a:t>
            </a:r>
          </a:p>
        </p:txBody>
      </p:sp>
      <p:sp>
        <p:nvSpPr>
          <p:cNvPr id="9" name="meta">
            <a:extLst xmlns:a="http://schemas.openxmlformats.org/drawingml/2006/main">
              <a:ext uri="{FF2B5EF4-FFF2-40B4-BE49-F238E27FC236}">
                <a16:creationId xmlns:a16="http://schemas.microsoft.com/office/drawing/2014/main" id="{A9EBF433-DC7B-4112-9384-2F1C21E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instructor">
            <a:extLst xmlns:a="http://schemas.openxmlformats.org/drawingml/2006/main">
              <a:ext uri="{FF2B5EF4-FFF2-40B4-BE49-F238E27FC236}">
                <a16:creationId xmlns:a16="http://schemas.microsoft.com/office/drawing/2014/main" id="{719A8000-5550-464F-BC68-2E411A69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1" name="reading">
            <a:extLst xmlns:a="http://schemas.openxmlformats.org/drawingml/2006/main">
              <a:ext uri="{FF2B5EF4-FFF2-40B4-BE49-F238E27FC236}">
                <a16:creationId xmlns:a16="http://schemas.microsoft.com/office/drawing/2014/main" id="{82C4279C-6466-4430-AEC9-1BEE651B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Sections 1–2, pp. 1–10</a:t>
            </a:r>
          </a:p>
        </p:txBody>
      </p:sp>
      <p:sp>
        <p:nvSpPr>
          <p:cNvPr id="12" name="n">
            <a:extLst xmlns:a="http://schemas.openxmlformats.org/drawingml/2006/main">
              <a:ext uri="{FF2B5EF4-FFF2-40B4-BE49-F238E27FC236}">
                <a16:creationId xmlns:a16="http://schemas.microsoft.com/office/drawing/2014/main" id="{21D24203-1083-47FF-AEC0-CF262F38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2478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2BF2809-E8DC-433E-A253-AA915721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d220f1e314aec">
            <a:extLst>
              <a:ext uri="{96DAC541-7B7A-43D3-8B79-37D633B846F1}">
                <asvg:svgBlip xmlns:asvg="http://schemas.microsoft.com/office/drawing/2016/SVG/main" r:embed="R23de9e374cc541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0A9F85F-641D-4259-BAD8-0A8B54EA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E2DA8A-8F61-482B-8DA3-AE663E94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Begin with your current design thinking.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353AA34-403A-4355-87CF-E5326A8B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2CF6C98-CBB1-475D-A394-5E513A4E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Diagnostic learning activity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E3402725-22DD-4692-AA7B-9131946F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C24E126F-6EEE-4A01-BB59-1C0F9414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challenge">
            <a:extLst xmlns:a="http://schemas.openxmlformats.org/drawingml/2006/main">
              <a:ext uri="{FF2B5EF4-FFF2-40B4-BE49-F238E27FC236}">
                <a16:creationId xmlns:a16="http://schemas.microsoft.com/office/drawing/2014/main" id="{9A47849E-38C3-47C1-98EB-9F7974B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2EC10C9D-8A09-4554-A6AD-708D6843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8918"/>
                </a:solidFill>
              </a:defRPr>
            </a:pPr>
            <a:r>
              <a:rPr sz="1200" b="1" i="0">
                <a:solidFill>
                  <a:srgbClr val="B98918"/>
                </a:solidFill>
              </a:rPr>
              <a:t>INDIVIDUAL DESIGN CHALLENGE</a:t>
            </a:r>
          </a:p>
        </p:txBody>
      </p:sp>
      <p:sp>
        <p:nvSpPr>
          <p:cNvPr id="11" name="scenario">
            <a:extLst xmlns:a="http://schemas.openxmlformats.org/drawingml/2006/main">
              <a:ext uri="{FF2B5EF4-FFF2-40B4-BE49-F238E27FC236}">
                <a16:creationId xmlns:a16="http://schemas.microsoft.com/office/drawing/2014/main" id="{FBA7A08C-045F-4E22-8170-BDDBE53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647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Your programme needs a short assessment to determine whether intermediate learners can participate effectively in an academic group discussion.</a:t>
            </a:r>
          </a:p>
        </p:txBody>
      </p:sp>
      <p:sp>
        <p:nvSpPr>
          <p:cNvPr id="12" name="prompt">
            <a:extLst xmlns:a="http://schemas.openxmlformats.org/drawingml/2006/main">
              <a:ext uri="{FF2B5EF4-FFF2-40B4-BE49-F238E27FC236}">
                <a16:creationId xmlns:a16="http://schemas.microsoft.com/office/drawing/2014/main" id="{226B4E40-2C0A-4B35-B67E-93D1814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619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Sketch an assessment plan. Explain:</a:t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• what you would assess;</a:t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• what learners would do;</a:t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• how performance would be judged; and</a:t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• how results would be used.</a:t>
            </a:r>
          </a:p>
        </p:txBody>
      </p:sp>
      <p:sp>
        <p:nvSpPr>
          <p:cNvPr id="13" name="side">
            <a:extLst xmlns:a="http://schemas.openxmlformats.org/drawingml/2006/main">
              <a:ext uri="{FF2B5EF4-FFF2-40B4-BE49-F238E27FC236}">
                <a16:creationId xmlns:a16="http://schemas.microsoft.com/office/drawing/2014/main" id="{22FDCD52-07BB-40AD-B7E9-6CB31E4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3257550" cy="4019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EBB2111C-EBB3-4691-A932-39F8F209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8600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D4A72C"/>
                </a:solidFill>
              </a:defRPr>
            </a:pPr>
            <a:r>
              <a:rPr sz="4650" b="1" i="0">
                <a:solidFill>
                  <a:srgbClr val="D4A72C"/>
                </a:solidFill>
              </a:rPr>
              <a:t>25</a:t>
            </a:r>
          </a:p>
        </p:txBody>
      </p:sp>
      <p:sp>
        <p:nvSpPr>
          <p:cNvPr id="15" name="minutes">
            <a:extLst xmlns:a="http://schemas.openxmlformats.org/drawingml/2006/main">
              <a:ext uri="{FF2B5EF4-FFF2-40B4-BE49-F238E27FC236}">
                <a16:creationId xmlns:a16="http://schemas.microsoft.com/office/drawing/2014/main" id="{D5E94B8A-771D-4904-8CFC-68292856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MINUTES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0878E36-A40A-4DC8-9A19-B2895FDA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te">
            <a:extLst xmlns:a="http://schemas.openxmlformats.org/drawingml/2006/main">
              <a:ext uri="{FF2B5EF4-FFF2-40B4-BE49-F238E27FC236}">
                <a16:creationId xmlns:a16="http://schemas.microsoft.com/office/drawing/2014/main" id="{A2C7F0D6-BD71-4926-BC66-AF3D4E50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Work independently.</a:t>
            </a:r>
          </a:p>
          <a:p xmlns:a="http://schemas.openxmlformats.org/drawingml/2006/main">
            <a:pPr algn="ctr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This is diagnostic, not graded.</a:t>
            </a:r>
          </a:p>
          <a:p xmlns:a="http://schemas.openxmlformats.org/drawingml/2006/main">
            <a:pPr algn="ctr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Do not consult the textbook yet.</a:t>
            </a:r>
          </a:p>
        </p:txBody>
      </p:sp>
    </p:spTree>
    <p:extLst>
      <p:ext uri="{BB962C8B-B14F-4D97-AF65-F5344CB8AC3E}">
        <p14:creationId xmlns:p14="http://schemas.microsoft.com/office/powerpoint/2010/main" val="10053299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a027970d54b91">
            <a:extLst>
              <a:ext uri="{96DAC541-7B7A-43D3-8B79-37D633B846F1}">
                <asvg:svgBlip xmlns:asvg="http://schemas.microsoft.com/office/drawing/2016/SVG/main" r:embed="R1ee412c2486f4b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38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" name="k">
            <a:extLst xmlns:a="http://schemas.openxmlformats.org/drawingml/2006/main">
              <a:ext uri="{FF2B5EF4-FFF2-40B4-BE49-F238E27FC236}">
                <a16:creationId xmlns:a16="http://schemas.microsoft.com/office/drawing/2014/main" id="{0D21DAFE-E15E-44E9-B607-F8AE662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4A72C"/>
                </a:solidFill>
              </a:defRPr>
            </a:pPr>
            <a:r>
              <a:rPr sz="1125" b="1" i="0">
                <a:solidFill>
                  <a:srgbClr val="D4A72C"/>
                </a:solidFill>
              </a:rPr>
              <a:t>PAIR DEBRIEF</a:t>
            </a:r>
          </a:p>
        </p:txBody>
      </p:sp>
      <p:sp>
        <p:nvSpPr>
          <p:cNvPr id="3" name="t">
            <a:extLst xmlns:a="http://schemas.openxmlformats.org/drawingml/2006/main">
              <a:ext uri="{FF2B5EF4-FFF2-40B4-BE49-F238E27FC236}">
                <a16:creationId xmlns:a16="http://schemas.microsoft.com/office/drawing/2014/main" id="{AA7BC3FE-A16F-435D-B5F9-FDB48C6B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Where did your design begin?</a:t>
            </a:r>
          </a:p>
        </p:txBody>
      </p:sp>
      <p:sp>
        <p:nvSpPr>
          <p:cNvPr id="4" name="opt-0">
            <a:extLst xmlns:a="http://schemas.openxmlformats.org/drawingml/2006/main">
              <a:ext uri="{FF2B5EF4-FFF2-40B4-BE49-F238E27FC236}">
                <a16:creationId xmlns:a16="http://schemas.microsoft.com/office/drawing/2014/main" id="{8B94E705-406D-4FDA-BD24-814CA776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23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5" name="letter-0">
            <a:extLst xmlns:a="http://schemas.openxmlformats.org/drawingml/2006/main">
              <a:ext uri="{FF2B5EF4-FFF2-40B4-BE49-F238E27FC236}">
                <a16:creationId xmlns:a16="http://schemas.microsoft.com/office/drawing/2014/main" id="{D23E27EA-35DE-4530-B93E-8A947F7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4A72C"/>
                </a:solidFill>
              </a:defRPr>
            </a:pPr>
            <a:r>
              <a:rPr sz="1875" b="1" i="0">
                <a:solidFill>
                  <a:srgbClr val="D4A72C"/>
                </a:solidFill>
              </a:rPr>
              <a:t>A</a:t>
            </a:r>
          </a:p>
        </p:txBody>
      </p:sp>
      <p:sp>
        <p:nvSpPr>
          <p:cNvPr id="6" name="opttext-0">
            <a:extLst xmlns:a="http://schemas.openxmlformats.org/drawingml/2006/main">
              <a:ext uri="{FF2B5EF4-FFF2-40B4-BE49-F238E27FC236}">
                <a16:creationId xmlns:a16="http://schemas.microsoft.com/office/drawing/2014/main" id="{8AFB2DCC-B214-4B14-BB91-BC369FE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09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 familiar test format</a:t>
            </a:r>
          </a:p>
        </p:txBody>
      </p:sp>
      <p:sp>
        <p:nvSpPr>
          <p:cNvPr id="7" name="opt-1">
            <a:extLst xmlns:a="http://schemas.openxmlformats.org/drawingml/2006/main">
              <a:ext uri="{FF2B5EF4-FFF2-40B4-BE49-F238E27FC236}">
                <a16:creationId xmlns:a16="http://schemas.microsoft.com/office/drawing/2014/main" id="{7F20242F-F6DC-4F01-9A0E-21D1150B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23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8" name="letter-1">
            <a:extLst xmlns:a="http://schemas.openxmlformats.org/drawingml/2006/main">
              <a:ext uri="{FF2B5EF4-FFF2-40B4-BE49-F238E27FC236}">
                <a16:creationId xmlns:a16="http://schemas.microsoft.com/office/drawing/2014/main" id="{3A232F33-03B2-4E4F-A851-AA82C53E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4A72C"/>
                </a:solidFill>
              </a:defRPr>
            </a:pPr>
            <a:r>
              <a:rPr sz="1875" b="1" i="0">
                <a:solidFill>
                  <a:srgbClr val="D4A72C"/>
                </a:solidFill>
              </a:rPr>
              <a:t>B</a:t>
            </a:r>
          </a:p>
        </p:txBody>
      </p:sp>
      <p:sp>
        <p:nvSpPr>
          <p:cNvPr id="9" name="opttext-1">
            <a:extLst xmlns:a="http://schemas.openxmlformats.org/drawingml/2006/main">
              <a:ext uri="{FF2B5EF4-FFF2-40B4-BE49-F238E27FC236}">
                <a16:creationId xmlns:a16="http://schemas.microsoft.com/office/drawing/2014/main" id="{C8954C36-EFA3-4C5F-9933-673612BB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The content recently taught</a:t>
            </a:r>
          </a:p>
        </p:txBody>
      </p:sp>
      <p:sp>
        <p:nvSpPr>
          <p:cNvPr id="10" name="opt-2">
            <a:extLst xmlns:a="http://schemas.openxmlformats.org/drawingml/2006/main">
              <a:ext uri="{FF2B5EF4-FFF2-40B4-BE49-F238E27FC236}">
                <a16:creationId xmlns:a16="http://schemas.microsoft.com/office/drawing/2014/main" id="{6C36F593-DDAB-498D-8CE8-871B53B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723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1" name="letter-2">
            <a:extLst xmlns:a="http://schemas.openxmlformats.org/drawingml/2006/main">
              <a:ext uri="{FF2B5EF4-FFF2-40B4-BE49-F238E27FC236}">
                <a16:creationId xmlns:a16="http://schemas.microsoft.com/office/drawing/2014/main" id="{A7261035-A67F-40BB-8EDC-07370F79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4A72C"/>
                </a:solidFill>
              </a:defRPr>
            </a:pPr>
            <a:r>
              <a:rPr sz="1875" b="1" i="0">
                <a:solidFill>
                  <a:srgbClr val="D4A72C"/>
                </a:solidFill>
              </a:rPr>
              <a:t>C</a:t>
            </a:r>
          </a:p>
        </p:txBody>
      </p:sp>
      <p:sp>
        <p:nvSpPr>
          <p:cNvPr id="12" name="opttext-2">
            <a:extLst xmlns:a="http://schemas.openxmlformats.org/drawingml/2006/main">
              <a:ext uri="{FF2B5EF4-FFF2-40B4-BE49-F238E27FC236}">
                <a16:creationId xmlns:a16="http://schemas.microsoft.com/office/drawing/2014/main" id="{99615F38-6842-4EB5-B8A9-C7703584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719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The ability to be assessed</a:t>
            </a:r>
          </a:p>
        </p:txBody>
      </p:sp>
      <p:sp>
        <p:nvSpPr>
          <p:cNvPr id="13" name="opt-3">
            <a:extLst xmlns:a="http://schemas.openxmlformats.org/drawingml/2006/main">
              <a:ext uri="{FF2B5EF4-FFF2-40B4-BE49-F238E27FC236}">
                <a16:creationId xmlns:a16="http://schemas.microsoft.com/office/drawing/2014/main" id="{00CD4490-6968-4E80-ABFD-D91D7FD4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4" name="letter-3">
            <a:extLst xmlns:a="http://schemas.openxmlformats.org/drawingml/2006/main">
              <a:ext uri="{FF2B5EF4-FFF2-40B4-BE49-F238E27FC236}">
                <a16:creationId xmlns:a16="http://schemas.microsoft.com/office/drawing/2014/main" id="{C3B8E9DF-ECA4-481F-8A96-69D8619B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D</a:t>
            </a:r>
          </a:p>
        </p:txBody>
      </p:sp>
      <p:sp>
        <p:nvSpPr>
          <p:cNvPr id="15" name="opttext-3">
            <a:extLst xmlns:a="http://schemas.openxmlformats.org/drawingml/2006/main">
              <a:ext uri="{FF2B5EF4-FFF2-40B4-BE49-F238E27FC236}">
                <a16:creationId xmlns:a16="http://schemas.microsoft.com/office/drawing/2014/main" id="{D333AD37-E393-4899-8DD0-4B473447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The decision to be made</a:t>
            </a:r>
          </a:p>
        </p:txBody>
      </p:sp>
      <p:sp>
        <p:nvSpPr>
          <p:cNvPr id="16" name="reflect">
            <a:extLst xmlns:a="http://schemas.openxmlformats.org/drawingml/2006/main">
              <a:ext uri="{FF2B5EF4-FFF2-40B4-BE49-F238E27FC236}">
                <a16:creationId xmlns:a16="http://schemas.microsoft.com/office/drawing/2014/main" id="{6B896FD1-EEC1-4B30-A8CC-87CB67B9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47900"/>
            <a:ext cx="2762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Compare your starting point with a partner.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What assumptions shaped your choices?</a:t>
            </a:r>
          </a:p>
          <a:p xmlns:a="http://schemas.openxmlformats.org/drawingml/2006/main"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What information did you wish you had?</a:t>
            </a:r>
          </a:p>
        </p:txBody>
      </p:sp>
      <p:sp>
        <p:nvSpPr>
          <p:cNvPr id="17" name="n">
            <a:extLst xmlns:a="http://schemas.openxmlformats.org/drawingml/2006/main">
              <a:ext uri="{FF2B5EF4-FFF2-40B4-BE49-F238E27FC236}">
                <a16:creationId xmlns:a16="http://schemas.microsoft.com/office/drawing/2014/main" id="{1553C789-5E87-4087-ADD6-B1EE45F4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9403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AB77AE0-1213-495A-908F-B3CC9D2C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1a6dd11e84d3d">
            <a:extLst>
              <a:ext uri="{96DAC541-7B7A-43D3-8B79-37D633B846F1}">
                <asvg:svgBlip xmlns:asvg="http://schemas.microsoft.com/office/drawing/2016/SVG/main" r:embed="R37b8239be87c4e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660374C-5854-4C89-BD90-F23C382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SESSION OUTCOMES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B0718A-49B1-45F4-BD8C-2E83B858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By the end, you will see assessment as a system of consequential decisions.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08AD0E7-4628-4699-BE88-940D88E3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D793CAA-3F48-42D3-A2D9-645CC60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F0DE5301-4387-4029-BAB7-1690ABB1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7C52E872-538C-403E-A50B-3771B9B1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num-0">
            <a:extLst xmlns:a="http://schemas.openxmlformats.org/drawingml/2006/main">
              <a:ext uri="{FF2B5EF4-FFF2-40B4-BE49-F238E27FC236}">
                <a16:creationId xmlns:a16="http://schemas.microsoft.com/office/drawing/2014/main" id="{2C0DE988-4571-401A-9BCE-CB3E15C3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98918"/>
                </a:solidFill>
              </a:defRPr>
            </a:pPr>
            <a:r>
              <a:rPr sz="2100" b="1" i="0">
                <a:solidFill>
                  <a:srgbClr val="B98918"/>
                </a:solidFill>
              </a:rPr>
              <a:t>01</a:t>
            </a:r>
          </a:p>
        </p:txBody>
      </p:sp>
      <p:sp>
        <p:nvSpPr>
          <p:cNvPr id="10" name="verb-0">
            <a:extLst xmlns:a="http://schemas.openxmlformats.org/drawingml/2006/main">
              <a:ext uri="{FF2B5EF4-FFF2-40B4-BE49-F238E27FC236}">
                <a16:creationId xmlns:a16="http://schemas.microsoft.com/office/drawing/2014/main" id="{CB2B099B-B9A6-4933-9A6C-30C79E9C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DEFINE</a:t>
            </a:r>
          </a:p>
        </p:txBody>
      </p:sp>
      <p:sp>
        <p:nvSpPr>
          <p:cNvPr id="11" name="desc-0">
            <a:extLst xmlns:a="http://schemas.openxmlformats.org/drawingml/2006/main">
              <a:ext uri="{FF2B5EF4-FFF2-40B4-BE49-F238E27FC236}">
                <a16:creationId xmlns:a16="http://schemas.microsoft.com/office/drawing/2014/main" id="{D31D8C8F-1051-4BD2-862F-AE3D806A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B36"/>
                </a:solidFill>
              </a:defRPr>
            </a:pPr>
            <a:r>
              <a:rPr sz="1500" b="0" i="0">
                <a:solidFill>
                  <a:srgbClr val="202B36"/>
                </a:solidFill>
              </a:rPr>
              <a:t>Explain assessment as evidence collection for decision-making.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8AA4B6E-F7AD-42DC-97D0-29F0D574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3642BC0F-882A-49BB-9E11-B117C40D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98918"/>
                </a:solidFill>
              </a:defRPr>
            </a:pPr>
            <a:r>
              <a:rPr sz="210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verb-1">
            <a:extLst xmlns:a="http://schemas.openxmlformats.org/drawingml/2006/main">
              <a:ext uri="{FF2B5EF4-FFF2-40B4-BE49-F238E27FC236}">
                <a16:creationId xmlns:a16="http://schemas.microsoft.com/office/drawing/2014/main" id="{C35D5A95-8950-4AD7-80E2-41501D63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DISTINGUISH</a:t>
            </a:r>
          </a:p>
        </p:txBody>
      </p:sp>
      <p:sp>
        <p:nvSpPr>
          <p:cNvPr id="15" name="desc-1">
            <a:extLst xmlns:a="http://schemas.openxmlformats.org/drawingml/2006/main">
              <a:ext uri="{FF2B5EF4-FFF2-40B4-BE49-F238E27FC236}">
                <a16:creationId xmlns:a16="http://schemas.microsoft.com/office/drawing/2014/main" id="{E22C49E4-04A6-4D68-939A-7E73A0B3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479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B36"/>
                </a:solidFill>
              </a:defRPr>
            </a:pPr>
            <a:r>
              <a:rPr sz="1500" b="0" i="0">
                <a:solidFill>
                  <a:srgbClr val="202B36"/>
                </a:solidFill>
              </a:rPr>
              <a:t>Locate tests within the broader landscape of assessment.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67F0260-D07A-4956-AD7F-C9DB19A7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0DB89359-DF00-40EC-8743-3CD3808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98918"/>
                </a:solidFill>
              </a:defRPr>
            </a:pPr>
            <a:r>
              <a:rPr sz="210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8" name="verb-2">
            <a:extLst xmlns:a="http://schemas.openxmlformats.org/drawingml/2006/main">
              <a:ext uri="{FF2B5EF4-FFF2-40B4-BE49-F238E27FC236}">
                <a16:creationId xmlns:a16="http://schemas.microsoft.com/office/drawing/2014/main" id="{48602387-B9B4-4050-9552-996AEE78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INTERROGATE</a:t>
            </a:r>
          </a:p>
        </p:txBody>
      </p:sp>
      <p:sp>
        <p:nvSpPr>
          <p:cNvPr id="19" name="desc-2">
            <a:extLst xmlns:a="http://schemas.openxmlformats.org/drawingml/2006/main">
              <a:ext uri="{FF2B5EF4-FFF2-40B4-BE49-F238E27FC236}">
                <a16:creationId xmlns:a16="http://schemas.microsoft.com/office/drawing/2014/main" id="{EF315815-5715-4143-B408-89EDB28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B36"/>
                </a:solidFill>
              </a:defRPr>
            </a:pPr>
            <a:r>
              <a:rPr sz="1500" b="0" i="0">
                <a:solidFill>
                  <a:srgbClr val="202B36"/>
                </a:solidFill>
              </a:rPr>
              <a:t>Identify stakeholders, power, purposes, and consequences.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7388432B-8C42-4FF5-85A1-91A86491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EF51AE4A-BE40-4CCE-8D05-1EF7D086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98918"/>
                </a:solidFill>
              </a:defRPr>
            </a:pPr>
            <a:r>
              <a:rPr sz="2100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22" name="verb-3">
            <a:extLst xmlns:a="http://schemas.openxmlformats.org/drawingml/2006/main">
              <a:ext uri="{FF2B5EF4-FFF2-40B4-BE49-F238E27FC236}">
                <a16:creationId xmlns:a16="http://schemas.microsoft.com/office/drawing/2014/main" id="{A488CA43-49C8-49F3-90E6-FAA9F480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POSITION</a:t>
            </a:r>
          </a:p>
        </p:txBody>
      </p:sp>
      <p:sp>
        <p:nvSpPr>
          <p:cNvPr id="23" name="desc-3">
            <a:extLst xmlns:a="http://schemas.openxmlformats.org/drawingml/2006/main">
              <a:ext uri="{FF2B5EF4-FFF2-40B4-BE49-F238E27FC236}">
                <a16:creationId xmlns:a16="http://schemas.microsoft.com/office/drawing/2014/main" id="{E54B9F7D-F9B7-47B4-A987-E344C9A6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100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B36"/>
                </a:solidFill>
              </a:defRPr>
            </a:pPr>
            <a:r>
              <a:rPr sz="1500" b="0" i="0">
                <a:solidFill>
                  <a:srgbClr val="202B36"/>
                </a:solidFill>
              </a:rPr>
              <a:t>Explain why assessment literacy is professional responsibility.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83177EC9-B5A1-404C-B6A2-88668C3B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um-4">
            <a:extLst xmlns:a="http://schemas.openxmlformats.org/drawingml/2006/main">
              <a:ext uri="{FF2B5EF4-FFF2-40B4-BE49-F238E27FC236}">
                <a16:creationId xmlns:a16="http://schemas.microsoft.com/office/drawing/2014/main" id="{9BB8344D-A60B-4C4C-AC20-A9888C90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B98918"/>
                </a:solidFill>
              </a:defRPr>
            </a:pPr>
            <a:r>
              <a:rPr sz="2100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26" name="verb-4">
            <a:extLst xmlns:a="http://schemas.openxmlformats.org/drawingml/2006/main">
              <a:ext uri="{FF2B5EF4-FFF2-40B4-BE49-F238E27FC236}">
                <a16:creationId xmlns:a16="http://schemas.microsoft.com/office/drawing/2014/main" id="{426B21A4-F0AF-46FC-AFC5-17E66CB6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BEGIN</a:t>
            </a:r>
          </a:p>
        </p:txBody>
      </p:sp>
      <p:sp>
        <p:nvSpPr>
          <p:cNvPr id="27" name="desc-4">
            <a:extLst xmlns:a="http://schemas.openxmlformats.org/drawingml/2006/main">
              <a:ext uri="{FF2B5EF4-FFF2-40B4-BE49-F238E27FC236}">
                <a16:creationId xmlns:a16="http://schemas.microsoft.com/office/drawing/2014/main" id="{9E0CB7E9-789D-4F45-9A48-7DC4520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911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B36"/>
                </a:solidFill>
              </a:defRPr>
            </a:pPr>
            <a:r>
              <a:rPr sz="1500" b="0" i="0">
                <a:solidFill>
                  <a:srgbClr val="202B36"/>
                </a:solidFill>
              </a:rPr>
              <a:t>Frame an authentic assessment problem for the design studio.</a:t>
            </a:r>
          </a:p>
        </p:txBody>
      </p:sp>
    </p:spTree>
    <p:extLst>
      <p:ext uri="{BB962C8B-B14F-4D97-AF65-F5344CB8AC3E}">
        <p14:creationId xmlns:p14="http://schemas.microsoft.com/office/powerpoint/2010/main" val="1046104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58C13EB-FC3E-4E0E-BEE5-21384175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3e31633254282">
            <a:extLst>
              <a:ext uri="{96DAC541-7B7A-43D3-8B79-37D633B846F1}">
                <asvg:svgBlip xmlns:asvg="http://schemas.microsoft.com/office/drawing/2016/SVG/main" r:embed="R0fb5938d1fe143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9F7E4F3-124D-476F-B2DC-9052F25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CORE IDEA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62A410-80FB-412E-888B-D8877357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Assessment turns performance into evidence for a decision.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ADBE268D-A95B-45CB-ADB1-7E7701F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AB72B9D-4B50-4348-93C6-C872B9AA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504C2863-F502-4DF9-8F09-AD3D28A7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6E0CBB14-4D8B-400F-BA45-6FFEEA0F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step-0">
            <a:extLst xmlns:a="http://schemas.openxmlformats.org/drawingml/2006/main">
              <a:ext uri="{FF2B5EF4-FFF2-40B4-BE49-F238E27FC236}">
                <a16:creationId xmlns:a16="http://schemas.microsoft.com/office/drawing/2014/main" id="{4970F0E5-D556-4B42-A0D4-1250F74B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stephead-0">
            <a:extLst xmlns:a="http://schemas.openxmlformats.org/drawingml/2006/main">
              <a:ext uri="{FF2B5EF4-FFF2-40B4-BE49-F238E27FC236}">
                <a16:creationId xmlns:a16="http://schemas.microsoft.com/office/drawing/2014/main" id="{16AB6482-E4FC-466C-ABE6-F2489AA2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4A72C"/>
                </a:solidFill>
              </a:defRPr>
            </a:pPr>
            <a:r>
              <a:rPr sz="1575" b="1" i="0">
                <a:solidFill>
                  <a:srgbClr val="D4A72C"/>
                </a:solidFill>
              </a:rPr>
              <a:t>ELICIT</a:t>
            </a:r>
          </a:p>
        </p:txBody>
      </p:sp>
      <p:sp>
        <p:nvSpPr>
          <p:cNvPr id="11" name="stepbody-0">
            <a:extLst xmlns:a="http://schemas.openxmlformats.org/drawingml/2006/main">
              <a:ext uri="{FF2B5EF4-FFF2-40B4-BE49-F238E27FC236}">
                <a16:creationId xmlns:a16="http://schemas.microsoft.com/office/drawing/2014/main" id="{8C4D84E3-A632-499A-8F23-19E5A26B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Create an opportunity for performance</a:t>
            </a:r>
          </a:p>
        </p:txBody>
      </p:sp>
      <p:sp>
        <p:nvSpPr>
          <p:cNvPr id="12" name="connector-0">
            <a:extLst xmlns:a="http://schemas.openxmlformats.org/drawingml/2006/main">
              <a:ext uri="{FF2B5EF4-FFF2-40B4-BE49-F238E27FC236}">
                <a16:creationId xmlns:a16="http://schemas.microsoft.com/office/drawing/2014/main" id="{7E3D7FB0-B630-4D50-B946-F321C1A5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1">
            <a:extLst xmlns:a="http://schemas.openxmlformats.org/drawingml/2006/main">
              <a:ext uri="{FF2B5EF4-FFF2-40B4-BE49-F238E27FC236}">
                <a16:creationId xmlns:a16="http://schemas.microsoft.com/office/drawing/2014/main" id="{EC164357-2E79-4578-9A34-3EFC973C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4" name="stephead-1">
            <a:extLst xmlns:a="http://schemas.openxmlformats.org/drawingml/2006/main">
              <a:ext uri="{FF2B5EF4-FFF2-40B4-BE49-F238E27FC236}">
                <a16:creationId xmlns:a16="http://schemas.microsoft.com/office/drawing/2014/main" id="{A747B70B-12F5-4C2A-8C82-C5EEF998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336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OBSERVE</a:t>
            </a:r>
          </a:p>
        </p:txBody>
      </p:sp>
      <p:sp>
        <p:nvSpPr>
          <p:cNvPr id="15" name="stepbody-1">
            <a:extLst xmlns:a="http://schemas.openxmlformats.org/drawingml/2006/main">
              <a:ext uri="{FF2B5EF4-FFF2-40B4-BE49-F238E27FC236}">
                <a16:creationId xmlns:a16="http://schemas.microsoft.com/office/drawing/2014/main" id="{4F371C13-0E30-4BBA-BD75-FF292F28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Attend to what learners say, do, or produce</a:t>
            </a:r>
          </a:p>
        </p:txBody>
      </p:sp>
      <p:sp>
        <p:nvSpPr>
          <p:cNvPr id="1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B9358E71-A11F-4D89-9BFB-832D13C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A043C989-AB88-40A3-BF07-C6FCC043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8" name="stephead-2">
            <a:extLst xmlns:a="http://schemas.openxmlformats.org/drawingml/2006/main">
              <a:ext uri="{FF2B5EF4-FFF2-40B4-BE49-F238E27FC236}">
                <a16:creationId xmlns:a16="http://schemas.microsoft.com/office/drawing/2014/main" id="{B4F7F8C5-1652-4100-97BE-2C4913AE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4A72C"/>
                </a:solidFill>
              </a:defRPr>
            </a:pPr>
            <a:r>
              <a:rPr sz="1575" b="1" i="0">
                <a:solidFill>
                  <a:srgbClr val="D4A72C"/>
                </a:solidFill>
              </a:rPr>
              <a:t>INTERPRET</a:t>
            </a:r>
          </a:p>
        </p:txBody>
      </p:sp>
      <p:sp>
        <p:nvSpPr>
          <p:cNvPr id="19" name="stepbody-2">
            <a:extLst xmlns:a="http://schemas.openxmlformats.org/drawingml/2006/main">
              <a:ext uri="{FF2B5EF4-FFF2-40B4-BE49-F238E27FC236}">
                <a16:creationId xmlns:a16="http://schemas.microsoft.com/office/drawing/2014/main" id="{56F5FF69-142D-4637-8ED7-097F5507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Relate performance to a construct or criterion</a:t>
            </a:r>
          </a:p>
        </p:txBody>
      </p:sp>
      <p:sp>
        <p:nvSpPr>
          <p:cNvPr id="20" name="connector-2">
            <a:extLst xmlns:a="http://schemas.openxmlformats.org/drawingml/2006/main">
              <a:ext uri="{FF2B5EF4-FFF2-40B4-BE49-F238E27FC236}">
                <a16:creationId xmlns:a16="http://schemas.microsoft.com/office/drawing/2014/main" id="{A62AF621-7231-4791-B2AB-A570446B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3">
            <a:extLst xmlns:a="http://schemas.openxmlformats.org/drawingml/2006/main">
              <a:ext uri="{FF2B5EF4-FFF2-40B4-BE49-F238E27FC236}">
                <a16:creationId xmlns:a16="http://schemas.microsoft.com/office/drawing/2014/main" id="{3DC80755-C227-4648-B13F-0C84A0A1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2" name="stephead-3">
            <a:extLst xmlns:a="http://schemas.openxmlformats.org/drawingml/2006/main">
              <a:ext uri="{FF2B5EF4-FFF2-40B4-BE49-F238E27FC236}">
                <a16:creationId xmlns:a16="http://schemas.microsoft.com/office/drawing/2014/main" id="{9FBC5245-1111-4120-8D59-6157BC69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DECIDE</a:t>
            </a:r>
          </a:p>
        </p:txBody>
      </p:sp>
      <p:sp>
        <p:nvSpPr>
          <p:cNvPr id="23" name="stepbody-3">
            <a:extLst xmlns:a="http://schemas.openxmlformats.org/drawingml/2006/main">
              <a:ext uri="{FF2B5EF4-FFF2-40B4-BE49-F238E27FC236}">
                <a16:creationId xmlns:a16="http://schemas.microsoft.com/office/drawing/2014/main" id="{DDDF5D37-D3F5-481B-BDA3-443DE4A8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161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Use the interpretation for teaching or other action</a:t>
            </a:r>
          </a:p>
        </p:txBody>
      </p:sp>
      <p:sp>
        <p:nvSpPr>
          <p:cNvPr id="24" name="take">
            <a:extLst xmlns:a="http://schemas.openxmlformats.org/drawingml/2006/main">
              <a:ext uri="{FF2B5EF4-FFF2-40B4-BE49-F238E27FC236}">
                <a16:creationId xmlns:a16="http://schemas.microsoft.com/office/drawing/2014/main" id="{9428F294-29B6-442D-A83F-9B966E24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816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8727E"/>
                </a:solidFill>
              </a:defRPr>
            </a:pPr>
            <a:r>
              <a:rPr sz="1800" b="1" i="0">
                <a:solidFill>
                  <a:srgbClr val="18727E"/>
                </a:solidFill>
              </a:rPr>
              <a:t>The instrument is only one part of the assessment system.</a:t>
            </a:r>
          </a:p>
        </p:txBody>
      </p:sp>
    </p:spTree>
    <p:extLst>
      <p:ext uri="{BB962C8B-B14F-4D97-AF65-F5344CB8AC3E}">
        <p14:creationId xmlns:p14="http://schemas.microsoft.com/office/powerpoint/2010/main" val="1768444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D1DCECB-4E48-4135-AAEF-242F763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16b52b1f04986">
            <a:extLst>
              <a:ext uri="{96DAC541-7B7A-43D3-8B79-37D633B846F1}">
                <asvg:svgBlip xmlns:asvg="http://schemas.microsoft.com/office/drawing/2016/SVG/main" r:embed="R7e20bf7128f74c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D304ADE-99F5-4313-990D-26434944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ASSESSMENT LANDSCAPE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41E7C2-3FDC-4FAA-8DB5-BA7D7BAC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Classroom assessment ranges from implicit observation to formal testing.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71E7D7-BFAD-45D3-8411-9EAE7027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665A35A-7FBC-4F7E-97BC-C76145B4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8E7DB831-1DDB-4BFC-BC96-185E78E7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82978CA0-31D6-4A24-B218-C56067A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AC848139-311D-4FB4-86E1-F99D82AD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29000"/>
            <a:ext cx="960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6FBB4761-60D5-465B-8456-7C3888C7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lab-0">
            <a:extLst xmlns:a="http://schemas.openxmlformats.org/drawingml/2006/main">
              <a:ext uri="{FF2B5EF4-FFF2-40B4-BE49-F238E27FC236}">
                <a16:creationId xmlns:a16="http://schemas.microsoft.com/office/drawing/2014/main" id="{AE7742AB-A3EE-43A9-A5E1-18372F8A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IMPLICIT</a:t>
            </a:r>
          </a:p>
        </p:txBody>
      </p:sp>
      <p:sp>
        <p:nvSpPr>
          <p:cNvPr id="12" name="ex-0">
            <a:extLst xmlns:a="http://schemas.openxmlformats.org/drawingml/2006/main">
              <a:ext uri="{FF2B5EF4-FFF2-40B4-BE49-F238E27FC236}">
                <a16:creationId xmlns:a16="http://schemas.microsoft.com/office/drawing/2014/main" id="{FBFE32C4-B6D0-46C7-BD62-DB05DB83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Noticing hesitation during pair work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EF5C4DAF-9A96-4172-8623-9E41C5A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lab-1">
            <a:extLst xmlns:a="http://schemas.openxmlformats.org/drawingml/2006/main">
              <a:ext uri="{FF2B5EF4-FFF2-40B4-BE49-F238E27FC236}">
                <a16:creationId xmlns:a16="http://schemas.microsoft.com/office/drawing/2014/main" id="{861EDDAA-9C9E-4AAB-9786-174EF723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INFORMAL</a:t>
            </a:r>
          </a:p>
        </p:txBody>
      </p:sp>
      <p:sp>
        <p:nvSpPr>
          <p:cNvPr id="15" name="ex-1">
            <a:extLst xmlns:a="http://schemas.openxmlformats.org/drawingml/2006/main">
              <a:ext uri="{FF2B5EF4-FFF2-40B4-BE49-F238E27FC236}">
                <a16:creationId xmlns:a16="http://schemas.microsoft.com/office/drawing/2014/main" id="{FEC662FE-E572-4A98-BA26-5D27F84C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481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Checking understanding through questions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16648F98-3E1E-4239-A3B5-355DAFD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lab-2">
            <a:extLst xmlns:a="http://schemas.openxmlformats.org/drawingml/2006/main">
              <a:ext uri="{FF2B5EF4-FFF2-40B4-BE49-F238E27FC236}">
                <a16:creationId xmlns:a16="http://schemas.microsoft.com/office/drawing/2014/main" id="{81E79E9A-17FF-4187-B0D7-9A9121A1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EXPLICIT</a:t>
            </a:r>
          </a:p>
        </p:txBody>
      </p:sp>
      <p:sp>
        <p:nvSpPr>
          <p:cNvPr id="18" name="ex-2">
            <a:extLst xmlns:a="http://schemas.openxmlformats.org/drawingml/2006/main">
              <a:ext uri="{FF2B5EF4-FFF2-40B4-BE49-F238E27FC236}">
                <a16:creationId xmlns:a16="http://schemas.microsoft.com/office/drawing/2014/main" id="{67E33F6B-A33D-4BBB-853E-578497AA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Applying criteria and giving feedback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8AAFDA01-F84D-4310-BB27-DDFCA44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lab-3">
            <a:extLst xmlns:a="http://schemas.openxmlformats.org/drawingml/2006/main">
              <a:ext uri="{FF2B5EF4-FFF2-40B4-BE49-F238E27FC236}">
                <a16:creationId xmlns:a16="http://schemas.microsoft.com/office/drawing/2014/main" id="{F38BCCE1-FB4E-4E94-B2B0-72A884FB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33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FORMAL</a:t>
            </a:r>
          </a:p>
        </p:txBody>
      </p:sp>
      <p:sp>
        <p:nvSpPr>
          <p:cNvPr id="21" name="ex-3">
            <a:extLst xmlns:a="http://schemas.openxmlformats.org/drawingml/2006/main">
              <a:ext uri="{FF2B5EF4-FFF2-40B4-BE49-F238E27FC236}">
                <a16:creationId xmlns:a16="http://schemas.microsoft.com/office/drawing/2014/main" id="{96ABCA64-C651-4237-B6B3-0FB31642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4810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Administering a controlled test</a:t>
            </a:r>
          </a:p>
        </p:txBody>
      </p:sp>
      <p:sp>
        <p:nvSpPr>
          <p:cNvPr id="22" name="left">
            <a:extLst xmlns:a="http://schemas.openxmlformats.org/drawingml/2006/main">
              <a:ext uri="{FF2B5EF4-FFF2-40B4-BE49-F238E27FC236}">
                <a16:creationId xmlns:a16="http://schemas.microsoft.com/office/drawing/2014/main" id="{CE23D95E-D284-49A5-B8FE-77BD0CD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8727E"/>
                </a:solidFill>
              </a:defRPr>
            </a:pPr>
            <a:r>
              <a:rPr sz="1125" b="1" i="0">
                <a:solidFill>
                  <a:srgbClr val="18727E"/>
                </a:solidFill>
              </a:rPr>
              <a:t>EMBEDDED IN TEACHING</a:t>
            </a:r>
          </a:p>
        </p:txBody>
      </p:sp>
      <p:sp>
        <p:nvSpPr>
          <p:cNvPr id="23" name="right">
            <a:extLst xmlns:a="http://schemas.openxmlformats.org/drawingml/2006/main">
              <a:ext uri="{FF2B5EF4-FFF2-40B4-BE49-F238E27FC236}">
                <a16:creationId xmlns:a16="http://schemas.microsoft.com/office/drawing/2014/main" id="{E9CCA7A5-8335-4E86-9165-696AC704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17365D"/>
                </a:solidFill>
              </a:defRPr>
            </a:pPr>
            <a:r>
              <a:rPr sz="1125" b="1" i="0">
                <a:solidFill>
                  <a:srgbClr val="17365D"/>
                </a:solidFill>
              </a:rPr>
              <a:t>STANDARDISED CONDITIONS</a:t>
            </a:r>
          </a:p>
        </p:txBody>
      </p:sp>
    </p:spTree>
    <p:extLst>
      <p:ext uri="{BB962C8B-B14F-4D97-AF65-F5344CB8AC3E}">
        <p14:creationId xmlns:p14="http://schemas.microsoft.com/office/powerpoint/2010/main" val="1534032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4751716-716F-4155-8C3A-01199024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7be0067484279">
            <a:extLst>
              <a:ext uri="{96DAC541-7B7A-43D3-8B79-37D633B846F1}">
                <asvg:svgBlip xmlns:asvg="http://schemas.microsoft.com/office/drawing/2016/SVG/main" r:embed="R56c84de0922c42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17863F7-9A94-4B02-B833-B112FAF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PURPOSE BEFORE FORMAT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DCEB8F-C670-4DE8-B5CB-79BC5E7D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The same evidence can support different decisions — with different stakes.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AA833BA-C591-45D4-ABC7-DD4B3407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814A0E5-8B41-4FD7-9435-081B821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CBD10371-B16C-4710-9B53-F5FFAC0F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AD8AC351-B623-4645-A0AB-E6B2CDE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p-0">
            <a:extLst xmlns:a="http://schemas.openxmlformats.org/drawingml/2006/main">
              <a:ext uri="{FF2B5EF4-FFF2-40B4-BE49-F238E27FC236}">
                <a16:creationId xmlns:a16="http://schemas.microsoft.com/office/drawing/2014/main" id="{66279527-50B4-44D6-A184-A18110F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h-0">
            <a:extLst xmlns:a="http://schemas.openxmlformats.org/drawingml/2006/main">
              <a:ext uri="{FF2B5EF4-FFF2-40B4-BE49-F238E27FC236}">
                <a16:creationId xmlns:a16="http://schemas.microsoft.com/office/drawing/2014/main" id="{DAFE1EB7-8E16-4BCF-BC43-3CF2966A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727E"/>
                </a:solidFill>
              </a:defRPr>
            </a:pPr>
            <a:r>
              <a:rPr sz="1425" b="1" i="0">
                <a:solidFill>
                  <a:srgbClr val="18727E"/>
                </a:solidFill>
              </a:rPr>
              <a:t>LEARNING</a:t>
            </a:r>
          </a:p>
        </p:txBody>
      </p:sp>
      <p:sp>
        <p:nvSpPr>
          <p:cNvPr id="11" name="pq-0">
            <a:extLst xmlns:a="http://schemas.openxmlformats.org/drawingml/2006/main">
              <a:ext uri="{FF2B5EF4-FFF2-40B4-BE49-F238E27FC236}">
                <a16:creationId xmlns:a16="http://schemas.microsoft.com/office/drawing/2014/main" id="{89D3A181-2CE5-44A6-9EB4-E05F4EBF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431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What should the learner do next?</a:t>
            </a:r>
          </a:p>
        </p:txBody>
      </p:sp>
      <p:sp>
        <p:nvSpPr>
          <p:cNvPr id="12" name="pa-0">
            <a:extLst xmlns:a="http://schemas.openxmlformats.org/drawingml/2006/main">
              <a:ext uri="{FF2B5EF4-FFF2-40B4-BE49-F238E27FC236}">
                <a16:creationId xmlns:a16="http://schemas.microsoft.com/office/drawing/2014/main" id="{B1F73B71-9398-4230-9351-795F803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Feedback • adaptation • self-regulation</a:t>
            </a:r>
          </a:p>
        </p:txBody>
      </p:sp>
      <p:sp>
        <p:nvSpPr>
          <p:cNvPr id="13" name="p-1">
            <a:extLst xmlns:a="http://schemas.openxmlformats.org/drawingml/2006/main">
              <a:ext uri="{FF2B5EF4-FFF2-40B4-BE49-F238E27FC236}">
                <a16:creationId xmlns:a16="http://schemas.microsoft.com/office/drawing/2014/main" id="{9F4D96AB-3AB6-4646-AD8D-B75EF20D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4" name="ph-1">
            <a:extLst xmlns:a="http://schemas.openxmlformats.org/drawingml/2006/main">
              <a:ext uri="{FF2B5EF4-FFF2-40B4-BE49-F238E27FC236}">
                <a16:creationId xmlns:a16="http://schemas.microsoft.com/office/drawing/2014/main" id="{16804D97-E14E-484F-864F-7AC81F47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365D"/>
                </a:solidFill>
              </a:defRPr>
            </a:pPr>
            <a:r>
              <a:rPr sz="1425" b="1" i="0">
                <a:solidFill>
                  <a:srgbClr val="17365D"/>
                </a:solidFill>
              </a:rPr>
              <a:t>PROGRESS</a:t>
            </a:r>
          </a:p>
        </p:txBody>
      </p:sp>
      <p:sp>
        <p:nvSpPr>
          <p:cNvPr id="15" name="pq-1">
            <a:extLst xmlns:a="http://schemas.openxmlformats.org/drawingml/2006/main">
              <a:ext uri="{FF2B5EF4-FFF2-40B4-BE49-F238E27FC236}">
                <a16:creationId xmlns:a16="http://schemas.microsoft.com/office/drawing/2014/main" id="{5D430B72-393B-4AE4-9383-63E43DF8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14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Has learning advanced as intended?</a:t>
            </a:r>
          </a:p>
        </p:txBody>
      </p:sp>
      <p:sp>
        <p:nvSpPr>
          <p:cNvPr id="16" name="pa-1">
            <a:extLst xmlns:a="http://schemas.openxmlformats.org/drawingml/2006/main">
              <a:ext uri="{FF2B5EF4-FFF2-40B4-BE49-F238E27FC236}">
                <a16:creationId xmlns:a16="http://schemas.microsoft.com/office/drawing/2014/main" id="{5730CE21-9B15-437F-B647-99DFB4B8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Monitoring • reporting • curriculum review</a:t>
            </a:r>
          </a:p>
        </p:txBody>
      </p:sp>
      <p:sp>
        <p:nvSpPr>
          <p:cNvPr id="17" name="p-2">
            <a:extLst xmlns:a="http://schemas.openxmlformats.org/drawingml/2006/main">
              <a:ext uri="{FF2B5EF4-FFF2-40B4-BE49-F238E27FC236}">
                <a16:creationId xmlns:a16="http://schemas.microsoft.com/office/drawing/2014/main" id="{99A6FC8C-296B-47AE-A39F-EEE8D695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B98918"/>
            </a:solidFill>
            <a:prstDash val="solid"/>
          </a:ln>
        </p:spPr>
      </p:sp>
      <p:sp>
        <p:nvSpPr>
          <p:cNvPr id="18" name="ph-2">
            <a:extLst xmlns:a="http://schemas.openxmlformats.org/drawingml/2006/main">
              <a:ext uri="{FF2B5EF4-FFF2-40B4-BE49-F238E27FC236}">
                <a16:creationId xmlns:a16="http://schemas.microsoft.com/office/drawing/2014/main" id="{6DE7E2B2-CA47-4605-8EF6-7515F47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98918"/>
                </a:solidFill>
              </a:defRPr>
            </a:pPr>
            <a:r>
              <a:rPr sz="1425" b="1" i="0">
                <a:solidFill>
                  <a:srgbClr val="B98918"/>
                </a:solidFill>
              </a:rPr>
              <a:t>PLACEMENT</a:t>
            </a:r>
          </a:p>
        </p:txBody>
      </p:sp>
      <p:sp>
        <p:nvSpPr>
          <p:cNvPr id="19" name="pq-2">
            <a:extLst xmlns:a="http://schemas.openxmlformats.org/drawingml/2006/main">
              <a:ext uri="{FF2B5EF4-FFF2-40B4-BE49-F238E27FC236}">
                <a16:creationId xmlns:a16="http://schemas.microsoft.com/office/drawing/2014/main" id="{61CE2C89-6EC8-4E3E-BB8F-F109A687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862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Where should the learner enter?</a:t>
            </a:r>
          </a:p>
        </p:txBody>
      </p:sp>
      <p:sp>
        <p:nvSpPr>
          <p:cNvPr id="20" name="pa-2">
            <a:extLst xmlns:a="http://schemas.openxmlformats.org/drawingml/2006/main">
              <a:ext uri="{FF2B5EF4-FFF2-40B4-BE49-F238E27FC236}">
                <a16:creationId xmlns:a16="http://schemas.microsoft.com/office/drawing/2014/main" id="{7464214C-F03B-40F8-915D-A32AC21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Grouping • level selection • support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0076B331-A5A4-4483-AF1E-491FE23A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43A"/>
            </a:solidFill>
            <a:prstDash val="solid"/>
          </a:ln>
        </p:spPr>
      </p:sp>
      <p:sp>
        <p:nvSpPr>
          <p:cNvPr id="22" name="ph-3">
            <a:extLst xmlns:a="http://schemas.openxmlformats.org/drawingml/2006/main">
              <a:ext uri="{FF2B5EF4-FFF2-40B4-BE49-F238E27FC236}">
                <a16:creationId xmlns:a16="http://schemas.microsoft.com/office/drawing/2014/main" id="{3CE1A5EC-FF93-41D9-A5F7-1351B4BF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8443A"/>
                </a:solidFill>
              </a:defRPr>
            </a:pPr>
            <a:r>
              <a:rPr sz="1425" b="1" i="0">
                <a:solidFill>
                  <a:srgbClr val="A8443A"/>
                </a:solidFill>
              </a:rPr>
              <a:t>CERTIFICATION</a:t>
            </a:r>
          </a:p>
        </p:txBody>
      </p:sp>
      <p:sp>
        <p:nvSpPr>
          <p:cNvPr id="23" name="pq-3">
            <a:extLst xmlns:a="http://schemas.openxmlformats.org/drawingml/2006/main">
              <a:ext uri="{FF2B5EF4-FFF2-40B4-BE49-F238E27FC236}">
                <a16:creationId xmlns:a16="http://schemas.microsoft.com/office/drawing/2014/main" id="{09F99ABA-C471-4337-870B-942BC810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57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Has the required standard been met?</a:t>
            </a:r>
          </a:p>
        </p:txBody>
      </p:sp>
      <p:sp>
        <p:nvSpPr>
          <p:cNvPr id="24" name="pa-3">
            <a:extLst xmlns:a="http://schemas.openxmlformats.org/drawingml/2006/main">
              <a:ext uri="{FF2B5EF4-FFF2-40B4-BE49-F238E27FC236}">
                <a16:creationId xmlns:a16="http://schemas.microsoft.com/office/drawing/2014/main" id="{AFACB77D-9364-4BA9-A124-CC56962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Grade • award • selection</a:t>
            </a:r>
          </a:p>
        </p:txBody>
      </p:sp>
      <p:sp>
        <p:nvSpPr>
          <p:cNvPr id="25" name="key">
            <a:extLst xmlns:a="http://schemas.openxmlformats.org/drawingml/2006/main">
              <a:ext uri="{FF2B5EF4-FFF2-40B4-BE49-F238E27FC236}">
                <a16:creationId xmlns:a16="http://schemas.microsoft.com/office/drawing/2014/main" id="{78110F51-A665-4D41-89CD-3F9773BA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994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Design implication: the more consequential the decision, the stronger the required evidence and controls.</a:t>
            </a:r>
          </a:p>
        </p:txBody>
      </p:sp>
    </p:spTree>
    <p:extLst>
      <p:ext uri="{BB962C8B-B14F-4D97-AF65-F5344CB8AC3E}">
        <p14:creationId xmlns:p14="http://schemas.microsoft.com/office/powerpoint/2010/main" val="792007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75ca4cbb046ad">
            <a:extLst>
              <a:ext uri="{96DAC541-7B7A-43D3-8B79-37D633B846F1}">
                <asvg:svgBlip xmlns:asvg="http://schemas.microsoft.com/office/drawing/2016/SVG/main" r:embed="Rb726ea02efa54e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" name="k">
            <a:extLst xmlns:a="http://schemas.openxmlformats.org/drawingml/2006/main">
              <a:ext uri="{FF2B5EF4-FFF2-40B4-BE49-F238E27FC236}">
                <a16:creationId xmlns:a16="http://schemas.microsoft.com/office/drawing/2014/main" id="{8634A3DC-2D4A-4C8E-9BA0-5631DEEE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4A72C"/>
                </a:solidFill>
              </a:defRPr>
            </a:pPr>
            <a:r>
              <a:rPr sz="1125" b="1" i="0">
                <a:solidFill>
                  <a:srgbClr val="D4A72C"/>
                </a:solidFill>
              </a:rPr>
              <a:t>POWER &amp; STAKEHOLDERS</a:t>
            </a:r>
          </a:p>
        </p:txBody>
      </p:sp>
      <p:sp>
        <p:nvSpPr>
          <p:cNvPr id="3" name="t">
            <a:extLst xmlns:a="http://schemas.openxmlformats.org/drawingml/2006/main">
              <a:ext uri="{FF2B5EF4-FFF2-40B4-BE49-F238E27FC236}">
                <a16:creationId xmlns:a16="http://schemas.microsoft.com/office/drawing/2014/main" id="{FA11C54C-8095-4AE3-9711-8FCEF7F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Assessment never affects only the person taking it.</a:t>
            </a:r>
          </a:p>
        </p:txBody>
      </p:sp>
      <p:sp>
        <p:nvSpPr>
          <p:cNvPr id="4" name="stake-0">
            <a:extLst xmlns:a="http://schemas.openxmlformats.org/drawingml/2006/main">
              <a:ext uri="{FF2B5EF4-FFF2-40B4-BE49-F238E27FC236}">
                <a16:creationId xmlns:a16="http://schemas.microsoft.com/office/drawing/2014/main" id="{E5338257-143A-40AE-B5D3-C408EABF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5" name="stakeh-0">
            <a:extLst xmlns:a="http://schemas.openxmlformats.org/drawingml/2006/main">
              <a:ext uri="{FF2B5EF4-FFF2-40B4-BE49-F238E27FC236}">
                <a16:creationId xmlns:a16="http://schemas.microsoft.com/office/drawing/2014/main" id="{466B72C7-A8ED-43D1-91EB-4B5E1AB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365D"/>
                </a:solidFill>
              </a:defRPr>
            </a:pPr>
            <a:r>
              <a:rPr sz="1425" b="1" i="0">
                <a:solidFill>
                  <a:srgbClr val="17365D"/>
                </a:solidFill>
              </a:rPr>
              <a:t>LEARNERS</a:t>
            </a:r>
          </a:p>
        </p:txBody>
      </p:sp>
      <p:sp>
        <p:nvSpPr>
          <p:cNvPr id="6" name="stakeb-0">
            <a:extLst xmlns:a="http://schemas.openxmlformats.org/drawingml/2006/main">
              <a:ext uri="{FF2B5EF4-FFF2-40B4-BE49-F238E27FC236}">
                <a16:creationId xmlns:a16="http://schemas.microsoft.com/office/drawing/2014/main" id="{6CF9DD61-B5BD-4095-B33A-40139327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Opportunity • identity • motivation</a:t>
            </a:r>
          </a:p>
        </p:txBody>
      </p:sp>
      <p:sp>
        <p:nvSpPr>
          <p:cNvPr id="7" name="stake-1">
            <a:extLst xmlns:a="http://schemas.openxmlformats.org/drawingml/2006/main">
              <a:ext uri="{FF2B5EF4-FFF2-40B4-BE49-F238E27FC236}">
                <a16:creationId xmlns:a16="http://schemas.microsoft.com/office/drawing/2014/main" id="{0BE926BD-623E-4E87-93E2-AF8DB795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8" name="stakeh-1">
            <a:extLst xmlns:a="http://schemas.openxmlformats.org/drawingml/2006/main">
              <a:ext uri="{FF2B5EF4-FFF2-40B4-BE49-F238E27FC236}">
                <a16:creationId xmlns:a16="http://schemas.microsoft.com/office/drawing/2014/main" id="{B734B359-9B1F-4D77-AC0D-40F91FA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4A72C"/>
                </a:solidFill>
              </a:defRPr>
            </a:pPr>
            <a:r>
              <a:rPr sz="1425" b="1" i="0">
                <a:solidFill>
                  <a:srgbClr val="D4A72C"/>
                </a:solidFill>
              </a:rPr>
              <a:t>TEACHERS</a:t>
            </a:r>
          </a:p>
        </p:txBody>
      </p:sp>
      <p:sp>
        <p:nvSpPr>
          <p:cNvPr id="9" name="stakeb-1">
            <a:extLst xmlns:a="http://schemas.openxmlformats.org/drawingml/2006/main">
              <a:ext uri="{FF2B5EF4-FFF2-40B4-BE49-F238E27FC236}">
                <a16:creationId xmlns:a16="http://schemas.microsoft.com/office/drawing/2014/main" id="{3824BF69-D847-4CB9-BF2C-D2E89B89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Pedagogy • workload • professional judgement</a:t>
            </a:r>
          </a:p>
        </p:txBody>
      </p:sp>
      <p:sp>
        <p:nvSpPr>
          <p:cNvPr id="10" name="stake-2">
            <a:extLst xmlns:a="http://schemas.openxmlformats.org/drawingml/2006/main">
              <a:ext uri="{FF2B5EF4-FFF2-40B4-BE49-F238E27FC236}">
                <a16:creationId xmlns:a16="http://schemas.microsoft.com/office/drawing/2014/main" id="{F4657AF0-FBD1-4731-9375-4EEF474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1" name="stakeh-2">
            <a:extLst xmlns:a="http://schemas.openxmlformats.org/drawingml/2006/main">
              <a:ext uri="{FF2B5EF4-FFF2-40B4-BE49-F238E27FC236}">
                <a16:creationId xmlns:a16="http://schemas.microsoft.com/office/drawing/2014/main" id="{72A76A13-AC8D-4D8F-9C02-4D993F38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4A72C"/>
                </a:solidFill>
              </a:defRPr>
            </a:pPr>
            <a:r>
              <a:rPr sz="1425" b="1" i="0">
                <a:solidFill>
                  <a:srgbClr val="D4A72C"/>
                </a:solidFill>
              </a:rPr>
              <a:t>PROGRAMMES</a:t>
            </a:r>
          </a:p>
        </p:txBody>
      </p:sp>
      <p:sp>
        <p:nvSpPr>
          <p:cNvPr id="12" name="stakeb-2">
            <a:extLst xmlns:a="http://schemas.openxmlformats.org/drawingml/2006/main">
              <a:ext uri="{FF2B5EF4-FFF2-40B4-BE49-F238E27FC236}">
                <a16:creationId xmlns:a16="http://schemas.microsoft.com/office/drawing/2014/main" id="{D922C23D-CB90-4783-B443-0BFF6B51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Placement • progression • accountability</a:t>
            </a:r>
          </a:p>
        </p:txBody>
      </p:sp>
      <p:sp>
        <p:nvSpPr>
          <p:cNvPr id="13" name="stake-3">
            <a:extLst xmlns:a="http://schemas.openxmlformats.org/drawingml/2006/main">
              <a:ext uri="{FF2B5EF4-FFF2-40B4-BE49-F238E27FC236}">
                <a16:creationId xmlns:a16="http://schemas.microsoft.com/office/drawing/2014/main" id="{34634F6F-BC5E-42F5-B457-820CD4EA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4" name="stakeh-3">
            <a:extLst xmlns:a="http://schemas.openxmlformats.org/drawingml/2006/main">
              <a:ext uri="{FF2B5EF4-FFF2-40B4-BE49-F238E27FC236}">
                <a16:creationId xmlns:a16="http://schemas.microsoft.com/office/drawing/2014/main" id="{EA1BA7A7-57B7-45BE-BE27-E0DD6FF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4A72C"/>
                </a:solidFill>
              </a:defRPr>
            </a:pPr>
            <a:r>
              <a:rPr sz="1425" b="1" i="0">
                <a:solidFill>
                  <a:srgbClr val="D4A72C"/>
                </a:solidFill>
              </a:rPr>
              <a:t>FAMILIES</a:t>
            </a:r>
          </a:p>
        </p:txBody>
      </p:sp>
      <p:sp>
        <p:nvSpPr>
          <p:cNvPr id="15" name="stakeb-3">
            <a:extLst xmlns:a="http://schemas.openxmlformats.org/drawingml/2006/main">
              <a:ext uri="{FF2B5EF4-FFF2-40B4-BE49-F238E27FC236}">
                <a16:creationId xmlns:a16="http://schemas.microsoft.com/office/drawing/2014/main" id="{1A61C947-C0BF-4B75-944C-A7991AB9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Expectation • cost • future choices</a:t>
            </a:r>
          </a:p>
        </p:txBody>
      </p:sp>
      <p:sp>
        <p:nvSpPr>
          <p:cNvPr id="16" name="stake-4">
            <a:extLst xmlns:a="http://schemas.openxmlformats.org/drawingml/2006/main">
              <a:ext uri="{FF2B5EF4-FFF2-40B4-BE49-F238E27FC236}">
                <a16:creationId xmlns:a16="http://schemas.microsoft.com/office/drawing/2014/main" id="{61C99383-7C29-4BF0-9F4C-FBE1CD9B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7" name="stakeh-4">
            <a:extLst xmlns:a="http://schemas.openxmlformats.org/drawingml/2006/main">
              <a:ext uri="{FF2B5EF4-FFF2-40B4-BE49-F238E27FC236}">
                <a16:creationId xmlns:a16="http://schemas.microsoft.com/office/drawing/2014/main" id="{2C9D3515-6C3F-422F-8916-A4334A54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4A72C"/>
                </a:solidFill>
              </a:defRPr>
            </a:pPr>
            <a:r>
              <a:rPr sz="1425" b="1" i="0">
                <a:solidFill>
                  <a:srgbClr val="D4A72C"/>
                </a:solidFill>
              </a:rPr>
              <a:t>INSTITUTIONS</a:t>
            </a:r>
          </a:p>
        </p:txBody>
      </p:sp>
      <p:sp>
        <p:nvSpPr>
          <p:cNvPr id="18" name="stakeb-4">
            <a:extLst xmlns:a="http://schemas.openxmlformats.org/drawingml/2006/main">
              <a:ext uri="{FF2B5EF4-FFF2-40B4-BE49-F238E27FC236}">
                <a16:creationId xmlns:a16="http://schemas.microsoft.com/office/drawing/2014/main" id="{0FF0F9F2-AACE-4286-873B-4955DCB9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862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Reputation • funding • policy</a:t>
            </a:r>
          </a:p>
        </p:txBody>
      </p:sp>
      <p:sp>
        <p:nvSpPr>
          <p:cNvPr id="19" name="stake-5">
            <a:extLst xmlns:a="http://schemas.openxmlformats.org/drawingml/2006/main">
              <a:ext uri="{FF2B5EF4-FFF2-40B4-BE49-F238E27FC236}">
                <a16:creationId xmlns:a16="http://schemas.microsoft.com/office/drawing/2014/main" id="{61FAB20F-6F3E-4D90-B93A-5476241A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3238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0" name="stakeh-5">
            <a:extLst xmlns:a="http://schemas.openxmlformats.org/drawingml/2006/main">
              <a:ext uri="{FF2B5EF4-FFF2-40B4-BE49-F238E27FC236}">
                <a16:creationId xmlns:a16="http://schemas.microsoft.com/office/drawing/2014/main" id="{BF8BB5B2-4397-4B1F-ADEF-DB2A2BF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4A72C"/>
                </a:solidFill>
              </a:defRPr>
            </a:pPr>
            <a:r>
              <a:rPr sz="1425" b="1" i="0">
                <a:solidFill>
                  <a:srgbClr val="D4A72C"/>
                </a:solidFill>
              </a:rPr>
              <a:t>SOCIETY</a:t>
            </a:r>
          </a:p>
        </p:txBody>
      </p:sp>
      <p:sp>
        <p:nvSpPr>
          <p:cNvPr id="21" name="stakeb-5">
            <a:extLst xmlns:a="http://schemas.openxmlformats.org/drawingml/2006/main">
              <a:ext uri="{FF2B5EF4-FFF2-40B4-BE49-F238E27FC236}">
                <a16:creationId xmlns:a16="http://schemas.microsoft.com/office/drawing/2014/main" id="{EA3FEEE5-F657-4252-92E0-B0D3F7F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Access • mobility • inclusion</a:t>
            </a:r>
          </a:p>
        </p:txBody>
      </p:sp>
      <p:sp>
        <p:nvSpPr>
          <p:cNvPr id="22" name="n">
            <a:extLst xmlns:a="http://schemas.openxmlformats.org/drawingml/2006/main">
              <a:ext uri="{FF2B5EF4-FFF2-40B4-BE49-F238E27FC236}">
                <a16:creationId xmlns:a16="http://schemas.microsoft.com/office/drawing/2014/main" id="{900E2414-286B-4636-8B52-103702F0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9651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E38D29B-FF10-4A7D-B2AD-7623F015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e419017f4a35">
            <a:extLst>
              <a:ext uri="{96DAC541-7B7A-43D3-8B79-37D633B846F1}">
                <asvg:svgBlip xmlns:asvg="http://schemas.microsoft.com/office/drawing/2016/SVG/main" r:embed="R1b4b800400bf45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23F22B58-3363-493F-9012-0FE23708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CASE DISCUSSION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57B752-FB83-422F-BDA0-00B65DA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One speaking score — several consequences.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BF9F6B4-94D7-4D0F-8A7A-5D4ACD8C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4AE307A-2302-46E6-9D6B-DBB53235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Adapted classroom case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5B33EDC9-C1EF-4707-88B2-D97C9F7B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A4197074-2251-49F7-9287-3C75521F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case">
            <a:extLst xmlns:a="http://schemas.openxmlformats.org/drawingml/2006/main">
              <a:ext uri="{FF2B5EF4-FFF2-40B4-BE49-F238E27FC236}">
                <a16:creationId xmlns:a16="http://schemas.microsoft.com/office/drawing/2014/main" id="{3ED10E0F-ABB7-4ACE-8BC0-2D87DF33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66750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caseh">
            <a:extLst xmlns:a="http://schemas.openxmlformats.org/drawingml/2006/main">
              <a:ext uri="{FF2B5EF4-FFF2-40B4-BE49-F238E27FC236}">
                <a16:creationId xmlns:a16="http://schemas.microsoft.com/office/drawing/2014/main" id="{7148C14D-AC4A-4A17-AF9B-EEEDDD07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8918"/>
                </a:solidFill>
              </a:defRPr>
            </a:pPr>
            <a:r>
              <a:rPr sz="1200" b="1" i="0">
                <a:solidFill>
                  <a:srgbClr val="B98918"/>
                </a:solidFill>
              </a:rPr>
              <a:t>THE SITUATION</a:t>
            </a:r>
          </a:p>
        </p:txBody>
      </p:sp>
      <p:sp>
        <p:nvSpPr>
          <p:cNvPr id="11" name="casebody">
            <a:extLst xmlns:a="http://schemas.openxmlformats.org/drawingml/2006/main">
              <a:ext uri="{FF2B5EF4-FFF2-40B4-BE49-F238E27FC236}">
                <a16:creationId xmlns:a16="http://schemas.microsoft.com/office/drawing/2014/main" id="{CE0670F4-15B5-4E16-89BF-3E367938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6000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365D"/>
                </a:solidFill>
              </a:defRPr>
            </a:pPr>
            <a:r>
              <a:rPr sz="1650" b="0" i="0">
                <a:solidFill>
                  <a:srgbClr val="17365D"/>
                </a:solidFill>
              </a:rPr>
              <a:t>A university uses a five-minute individual interview to decide whether students may enter an English-medium programme.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17365D"/>
                </a:solidFill>
              </a:defRPr>
            </a:pPr>
            <a:r>
              <a:rPr sz="1650" b="0" i="0">
                <a:solidFill>
                  <a:srgbClr val="17365D"/>
                </a:solidFill>
              </a:rPr>
              <a:t>Two teachers score each student, but the criteria are not shared with students. Some students have never experienced an interview of this kind.</a:t>
            </a:r>
          </a:p>
        </p:txBody>
      </p:sp>
      <p:sp>
        <p:nvSpPr>
          <p:cNvPr id="12" name="questions">
            <a:extLst xmlns:a="http://schemas.openxmlformats.org/drawingml/2006/main">
              <a:ext uri="{FF2B5EF4-FFF2-40B4-BE49-F238E27FC236}">
                <a16:creationId xmlns:a16="http://schemas.microsoft.com/office/drawing/2014/main" id="{E331ED50-9408-4D03-9914-CEF867AF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47850"/>
            <a:ext cx="3810000" cy="39243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3" name="qh">
            <a:extLst xmlns:a="http://schemas.openxmlformats.org/drawingml/2006/main">
              <a:ext uri="{FF2B5EF4-FFF2-40B4-BE49-F238E27FC236}">
                <a16:creationId xmlns:a16="http://schemas.microsoft.com/office/drawing/2014/main" id="{88C32FB6-EF06-4502-826E-436D9A7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</a:t>
            </a:r>
          </a:p>
        </p:txBody>
      </p:sp>
      <p:sp>
        <p:nvSpPr>
          <p:cNvPr id="14" name="qb">
            <a:extLst xmlns:a="http://schemas.openxmlformats.org/drawingml/2006/main">
              <a:ext uri="{FF2B5EF4-FFF2-40B4-BE49-F238E27FC236}">
                <a16:creationId xmlns:a16="http://schemas.microsoft.com/office/drawing/2014/main" id="{7A9D705F-A538-46B7-9B49-6C74E2A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3048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1. What decision is being made?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2. What evidence does the interview provide — and omit?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3. Who may be advantaged or disadvantaged?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4. What would you change first?</a:t>
            </a:r>
          </a:p>
        </p:txBody>
      </p:sp>
    </p:spTree>
    <p:extLst>
      <p:ext uri="{BB962C8B-B14F-4D97-AF65-F5344CB8AC3E}">
        <p14:creationId xmlns:p14="http://schemas.microsoft.com/office/powerpoint/2010/main" val="773633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3A15A82-9D92-4402-919A-DF2193E8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acb965de84679">
            <a:extLst>
              <a:ext uri="{96DAC541-7B7A-43D3-8B79-37D633B846F1}">
                <asvg:svgBlip xmlns:asvg="http://schemas.microsoft.com/office/drawing/2016/SVG/main" r:embed="R80c25741927042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CF9846A-65A0-4096-8EB5-22481C59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PROFESSIONAL CAPABILITY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ABEE99-8BC6-4234-BBA9-2FC0331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Language Assessment Literacy connects knowledge, action, and responsibility.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38DCCF1-70F5-4F1B-9D7D-42123DF2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1E4D3C3-05F9-43FC-94B2-86ADF568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533AFCB4-128F-4E17-AEC1-76DF18E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902851EF-4CD3-4114-8034-38AF1DB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lal-0">
            <a:extLst xmlns:a="http://schemas.openxmlformats.org/drawingml/2006/main">
              <a:ext uri="{FF2B5EF4-FFF2-40B4-BE49-F238E27FC236}">
                <a16:creationId xmlns:a16="http://schemas.microsoft.com/office/drawing/2014/main" id="{8DA965F3-C1E9-4C6A-AB0A-C77474A6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lalh-0">
            <a:extLst xmlns:a="http://schemas.openxmlformats.org/drawingml/2006/main">
              <a:ext uri="{FF2B5EF4-FFF2-40B4-BE49-F238E27FC236}">
                <a16:creationId xmlns:a16="http://schemas.microsoft.com/office/drawing/2014/main" id="{4E61182E-705D-4557-BE52-6968E86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KNOW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25E62FE2-BEC0-482B-BE37-DCDA4868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lb-0">
            <a:extLst xmlns:a="http://schemas.openxmlformats.org/drawingml/2006/main">
              <a:ext uri="{FF2B5EF4-FFF2-40B4-BE49-F238E27FC236}">
                <a16:creationId xmlns:a16="http://schemas.microsoft.com/office/drawing/2014/main" id="{9C08812C-70DC-4471-AC29-2927AB8F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Concepts, purposes, constructs, quality principles</a:t>
            </a:r>
          </a:p>
        </p:txBody>
      </p:sp>
      <p:sp>
        <p:nvSpPr>
          <p:cNvPr id="13" name="lal-1">
            <a:extLst xmlns:a="http://schemas.openxmlformats.org/drawingml/2006/main">
              <a:ext uri="{FF2B5EF4-FFF2-40B4-BE49-F238E27FC236}">
                <a16:creationId xmlns:a16="http://schemas.microsoft.com/office/drawing/2014/main" id="{AF64CF15-91BE-4449-B00E-83795D1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4" name="lalh-1">
            <a:extLst xmlns:a="http://schemas.openxmlformats.org/drawingml/2006/main">
              <a:ext uri="{FF2B5EF4-FFF2-40B4-BE49-F238E27FC236}">
                <a16:creationId xmlns:a16="http://schemas.microsoft.com/office/drawing/2014/main" id="{28962F61-5A3D-4D68-8711-F530A3A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33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365D"/>
                </a:solidFill>
              </a:defRPr>
            </a:pPr>
            <a:r>
              <a:rPr sz="2100" b="1" i="0">
                <a:solidFill>
                  <a:srgbClr val="17365D"/>
                </a:solidFill>
              </a:rPr>
              <a:t>DO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DAD6C9B-7DA3-479E-A5BC-6D43A8CB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lb-1">
            <a:extLst xmlns:a="http://schemas.openxmlformats.org/drawingml/2006/main">
              <a:ext uri="{FF2B5EF4-FFF2-40B4-BE49-F238E27FC236}">
                <a16:creationId xmlns:a16="http://schemas.microsoft.com/office/drawing/2014/main" id="{47BAF4A8-C001-4CED-B153-9D00428B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99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7365D"/>
                </a:solidFill>
              </a:defRPr>
            </a:pPr>
            <a:r>
              <a:rPr sz="1425" b="0" i="0">
                <a:solidFill>
                  <a:srgbClr val="17365D"/>
                </a:solidFill>
              </a:rPr>
              <a:t>Design, administer, score, interpret, communicate</a:t>
            </a:r>
          </a:p>
        </p:txBody>
      </p:sp>
      <p:sp>
        <p:nvSpPr>
          <p:cNvPr id="17" name="lal-2">
            <a:extLst xmlns:a="http://schemas.openxmlformats.org/drawingml/2006/main">
              <a:ext uri="{FF2B5EF4-FFF2-40B4-BE49-F238E27FC236}">
                <a16:creationId xmlns:a16="http://schemas.microsoft.com/office/drawing/2014/main" id="{6E4B6E34-5224-4D28-BD8F-8E2DDD4A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8" name="lalh-2">
            <a:extLst xmlns:a="http://schemas.openxmlformats.org/drawingml/2006/main">
              <a:ext uri="{FF2B5EF4-FFF2-40B4-BE49-F238E27FC236}">
                <a16:creationId xmlns:a16="http://schemas.microsoft.com/office/drawing/2014/main" id="{B9840947-2783-429D-9474-9B8EA35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33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8727E"/>
                </a:solidFill>
              </a:defRPr>
            </a:pPr>
            <a:r>
              <a:rPr sz="2100" b="1" i="0">
                <a:solidFill>
                  <a:srgbClr val="18727E"/>
                </a:solidFill>
              </a:rPr>
              <a:t>JUDGE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4E5DD2D9-288F-49C2-B6DD-DAACD45F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lb-2">
            <a:extLst xmlns:a="http://schemas.openxmlformats.org/drawingml/2006/main">
              <a:ext uri="{FF2B5EF4-FFF2-40B4-BE49-F238E27FC236}">
                <a16:creationId xmlns:a16="http://schemas.microsoft.com/office/drawing/2014/main" id="{B489B4A3-44B6-4064-8ECB-BE8FB43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99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8727E"/>
                </a:solidFill>
              </a:defRPr>
            </a:pPr>
            <a:r>
              <a:rPr sz="1425" b="0" i="0">
                <a:solidFill>
                  <a:srgbClr val="18727E"/>
                </a:solidFill>
              </a:rPr>
              <a:t>Context, fairness, ethics, consequences, limits</a:t>
            </a:r>
          </a:p>
        </p:txBody>
      </p:sp>
      <p:sp>
        <p:nvSpPr>
          <p:cNvPr id="21" name="lalkey">
            <a:extLst xmlns:a="http://schemas.openxmlformats.org/drawingml/2006/main">
              <a:ext uri="{FF2B5EF4-FFF2-40B4-BE49-F238E27FC236}">
                <a16:creationId xmlns:a16="http://schemas.microsoft.com/office/drawing/2014/main" id="{6D4E7391-D226-4840-AE31-7028A63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00650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Literacy is visible when these three capacities are coordinated in context.</a:t>
            </a:r>
          </a:p>
        </p:txBody>
      </p:sp>
    </p:spTree>
    <p:extLst>
      <p:ext uri="{BB962C8B-B14F-4D97-AF65-F5344CB8AC3E}">
        <p14:creationId xmlns:p14="http://schemas.microsoft.com/office/powerpoint/2010/main" val="19630546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BC2C5E1-4DDA-4DBB-BA5A-D9A3674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bc980c92c40ce">
            <a:extLst>
              <a:ext uri="{96DAC541-7B7A-43D3-8B79-37D633B846F1}">
                <asvg:svgBlip xmlns:asvg="http://schemas.microsoft.com/office/drawing/2016/SVG/main" r:embed="R42adb544066a4d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BEE0FDF-D3F3-4A35-99AF-98D343F1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CRITICAL AWARENESS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F4ECF2-4C56-4AA3-B8CF-45F849F3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Assessment literacy also means recognising when practice is indefensible.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53CD20E-849B-4D44-84A3-3F5BECA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99A2AD6-793A-4036-83EA-B0820F24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E07CB318-96AC-4375-9F4E-8A145AF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C913A863-CE29-44A6-A664-B0FB0ED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warn-0">
            <a:extLst xmlns:a="http://schemas.openxmlformats.org/drawingml/2006/main">
              <a:ext uri="{FF2B5EF4-FFF2-40B4-BE49-F238E27FC236}">
                <a16:creationId xmlns:a16="http://schemas.microsoft.com/office/drawing/2014/main" id="{F0E8C007-033F-438C-AA02-BECDB020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bang-0">
            <a:extLst xmlns:a="http://schemas.openxmlformats.org/drawingml/2006/main">
              <a:ext uri="{FF2B5EF4-FFF2-40B4-BE49-F238E27FC236}">
                <a16:creationId xmlns:a16="http://schemas.microsoft.com/office/drawing/2014/main" id="{320473B2-EE69-4F08-8834-C58A2E3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bad-0">
            <a:extLst xmlns:a="http://schemas.openxmlformats.org/drawingml/2006/main">
              <a:ext uri="{FF2B5EF4-FFF2-40B4-BE49-F238E27FC236}">
                <a16:creationId xmlns:a16="http://schemas.microsoft.com/office/drawing/2014/main" id="{CBD9F255-6C14-4520-AE53-BCD8FCC7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The task does not represent the intended construct.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5E7E8EC5-F941-4DBD-9A7D-5AE17D5A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arn-1">
            <a:extLst xmlns:a="http://schemas.openxmlformats.org/drawingml/2006/main">
              <a:ext uri="{FF2B5EF4-FFF2-40B4-BE49-F238E27FC236}">
                <a16:creationId xmlns:a16="http://schemas.microsoft.com/office/drawing/2014/main" id="{2E2FB844-1664-4275-A836-E3181E42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91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bang-1">
            <a:extLst xmlns:a="http://schemas.openxmlformats.org/drawingml/2006/main">
              <a:ext uri="{FF2B5EF4-FFF2-40B4-BE49-F238E27FC236}">
                <a16:creationId xmlns:a16="http://schemas.microsoft.com/office/drawing/2014/main" id="{5E2BE1A6-813A-4F1F-B48F-92A587BA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5" name="bad-1">
            <a:extLst xmlns:a="http://schemas.openxmlformats.org/drawingml/2006/main">
              <a:ext uri="{FF2B5EF4-FFF2-40B4-BE49-F238E27FC236}">
                <a16:creationId xmlns:a16="http://schemas.microsoft.com/office/drawing/2014/main" id="{BA60A0E6-7C89-4440-8DE6-C1B3DEE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Scores are used for decisions they cannot support.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DC0026C-0085-42E2-8889-342C869A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arn-2">
            <a:extLst xmlns:a="http://schemas.openxmlformats.org/drawingml/2006/main">
              <a:ext uri="{FF2B5EF4-FFF2-40B4-BE49-F238E27FC236}">
                <a16:creationId xmlns:a16="http://schemas.microsoft.com/office/drawing/2014/main" id="{E7FEE2FF-CFF7-4BD0-BA33-7E1FBDA2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bang-2">
            <a:extLst xmlns:a="http://schemas.openxmlformats.org/drawingml/2006/main">
              <a:ext uri="{FF2B5EF4-FFF2-40B4-BE49-F238E27FC236}">
                <a16:creationId xmlns:a16="http://schemas.microsoft.com/office/drawing/2014/main" id="{1D37EF93-AAA6-48F8-98F1-301B341D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9" name="bad-2">
            <a:extLst xmlns:a="http://schemas.openxmlformats.org/drawingml/2006/main">
              <a:ext uri="{FF2B5EF4-FFF2-40B4-BE49-F238E27FC236}">
                <a16:creationId xmlns:a16="http://schemas.microsoft.com/office/drawing/2014/main" id="{119C7A15-1D72-475D-A3CB-E174248A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Criteria are hidden or inconsistently applied.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9C15A8EA-A489-460D-B103-30E58CF8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624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arn-3">
            <a:extLst xmlns:a="http://schemas.openxmlformats.org/drawingml/2006/main">
              <a:ext uri="{FF2B5EF4-FFF2-40B4-BE49-F238E27FC236}">
                <a16:creationId xmlns:a16="http://schemas.microsoft.com/office/drawing/2014/main" id="{B3E296CF-3390-424E-9815-CAE0F4E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891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bang-3">
            <a:extLst xmlns:a="http://schemas.openxmlformats.org/drawingml/2006/main">
              <a:ext uri="{FF2B5EF4-FFF2-40B4-BE49-F238E27FC236}">
                <a16:creationId xmlns:a16="http://schemas.microsoft.com/office/drawing/2014/main" id="{63446BAB-4252-41CD-8924-CDD71457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3" name="bad-3">
            <a:extLst xmlns:a="http://schemas.openxmlformats.org/drawingml/2006/main">
              <a:ext uri="{FF2B5EF4-FFF2-40B4-BE49-F238E27FC236}">
                <a16:creationId xmlns:a16="http://schemas.microsoft.com/office/drawing/2014/main" id="{BEB5B7CC-FE34-4BA9-82D5-04DEB8F2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Language, technology, or format creates irrelevant barriers.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8DD73CD2-EA80-4B7D-8625-500DAD3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arn-4">
            <a:extLst xmlns:a="http://schemas.openxmlformats.org/drawingml/2006/main">
              <a:ext uri="{FF2B5EF4-FFF2-40B4-BE49-F238E27FC236}">
                <a16:creationId xmlns:a16="http://schemas.microsoft.com/office/drawing/2014/main" id="{2358DAD1-F393-42D9-B0E5-8A216016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43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bang-4">
            <a:extLst xmlns:a="http://schemas.openxmlformats.org/drawingml/2006/main">
              <a:ext uri="{FF2B5EF4-FFF2-40B4-BE49-F238E27FC236}">
                <a16:creationId xmlns:a16="http://schemas.microsoft.com/office/drawing/2014/main" id="{A4FB5EAE-669E-477E-8466-A85D5B3C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7" name="bad-4">
            <a:extLst xmlns:a="http://schemas.openxmlformats.org/drawingml/2006/main">
              <a:ext uri="{FF2B5EF4-FFF2-40B4-BE49-F238E27FC236}">
                <a16:creationId xmlns:a16="http://schemas.microsoft.com/office/drawing/2014/main" id="{43713137-26C4-49F9-815D-8A453F7D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Efficiency is prioritised without considering consequences.</a:t>
            </a:r>
          </a:p>
        </p:txBody>
      </p:sp>
    </p:spTree>
    <p:extLst>
      <p:ext uri="{BB962C8B-B14F-4D97-AF65-F5344CB8AC3E}">
        <p14:creationId xmlns:p14="http://schemas.microsoft.com/office/powerpoint/2010/main" val="858686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D08492D-EBCC-4481-B704-B19396BE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6482c650c4ed4">
            <a:extLst>
              <a:ext uri="{96DAC541-7B7A-43D3-8B79-37D633B846F1}">
                <asvg:svgBlip xmlns:asvg="http://schemas.microsoft.com/office/drawing/2016/SVG/main" r:embed="R1828d5bd0f4641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0B45F9C-E4FA-434D-B71B-83D83207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COURSE ARCHITECTURE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947BCA-A584-406B-9528-B1A82E39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Knowledge becomes literacy when it is used to design.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380CD55-B61D-4203-80F4-1D071DBF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99CECDA-E4C2-43AA-A9A8-2F5A4BAA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1C641EEC-F2CC-4EE4-899D-E5E8D8D2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31AE0674-CC59-4AD2-BE01-BC28DEAD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F720EA20-53E9-496C-929D-BA7C90F8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0005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lh">
            <a:extLst xmlns:a="http://schemas.openxmlformats.org/drawingml/2006/main">
              <a:ext uri="{FF2B5EF4-FFF2-40B4-BE49-F238E27FC236}">
                <a16:creationId xmlns:a16="http://schemas.microsoft.com/office/drawing/2014/main" id="{49F4ED2A-BAAD-4CA2-B6D9-3675C655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4A72C"/>
                </a:solidFill>
              </a:defRPr>
            </a:pPr>
            <a:r>
              <a:rPr sz="1725" b="1" i="0">
                <a:solidFill>
                  <a:srgbClr val="D4A72C"/>
                </a:solidFill>
              </a:rPr>
              <a:t>CONTENT SPINE</a:t>
            </a:r>
          </a:p>
        </p:txBody>
      </p:sp>
      <p:sp>
        <p:nvSpPr>
          <p:cNvPr id="11" name="ls">
            <a:extLst xmlns:a="http://schemas.openxmlformats.org/drawingml/2006/main">
              <a:ext uri="{FF2B5EF4-FFF2-40B4-BE49-F238E27FC236}">
                <a16:creationId xmlns:a16="http://schemas.microsoft.com/office/drawing/2014/main" id="{EBF1B9A6-8E7D-42C5-B4DD-C152F3E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FFFFFF"/>
                </a:solidFill>
              </a:defRPr>
            </a:pPr>
            <a:r>
              <a:rPr sz="1275" b="0" i="1">
                <a:solidFill>
                  <a:srgbClr val="FFFFFF"/>
                </a:solidFill>
              </a:rPr>
              <a:t>Phakiti &amp; Leung (2024)</a:t>
            </a:r>
          </a:p>
        </p:txBody>
      </p:sp>
      <p:sp>
        <p:nvSpPr>
          <p:cNvPr id="12" name="lb">
            <a:extLst xmlns:a="http://schemas.openxmlformats.org/drawingml/2006/main">
              <a:ext uri="{FF2B5EF4-FFF2-40B4-BE49-F238E27FC236}">
                <a16:creationId xmlns:a16="http://schemas.microsoft.com/office/drawing/2014/main" id="{9EDDFBF2-04E3-4A59-B38E-8A4F6574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PURPOSE &amp; POWER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CONSTRUCTS &amp; EVIDENCE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ASSESSMENT TYPES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DESIGN &amp; MEASUREMENT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QUALITY &amp; CONSEQUENCES</a:t>
            </a:r>
          </a:p>
        </p:txBody>
      </p:sp>
      <p:sp>
        <p:nvSpPr>
          <p:cNvPr id="13" name="lq">
            <a:extLst xmlns:a="http://schemas.openxmlformats.org/drawingml/2006/main">
              <a:ext uri="{FF2B5EF4-FFF2-40B4-BE49-F238E27FC236}">
                <a16:creationId xmlns:a16="http://schemas.microsoft.com/office/drawing/2014/main" id="{79F05DA1-E124-4383-818C-30A603C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WHAT you learn</a:t>
            </a:r>
          </a:p>
        </p:txBody>
      </p:sp>
      <p:sp>
        <p:nvSpPr>
          <p:cNvPr id="14" name="right">
            <a:extLst xmlns:a="http://schemas.openxmlformats.org/drawingml/2006/main">
              <a:ext uri="{FF2B5EF4-FFF2-40B4-BE49-F238E27FC236}">
                <a16:creationId xmlns:a16="http://schemas.microsoft.com/office/drawing/2014/main" id="{BF15E74B-7510-4E8F-ACC5-7259352B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47850"/>
            <a:ext cx="40005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rh">
            <a:extLst xmlns:a="http://schemas.openxmlformats.org/drawingml/2006/main">
              <a:ext uri="{FF2B5EF4-FFF2-40B4-BE49-F238E27FC236}">
                <a16:creationId xmlns:a16="http://schemas.microsoft.com/office/drawing/2014/main" id="{2FB61EA1-68E4-4FCA-9352-931A3272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PEDAGOGICAL SPINE</a:t>
            </a:r>
          </a:p>
        </p:txBody>
      </p:sp>
      <p:sp>
        <p:nvSpPr>
          <p:cNvPr id="16" name="rs">
            <a:extLst xmlns:a="http://schemas.openxmlformats.org/drawingml/2006/main">
              <a:ext uri="{FF2B5EF4-FFF2-40B4-BE49-F238E27FC236}">
                <a16:creationId xmlns:a16="http://schemas.microsoft.com/office/drawing/2014/main" id="{6C19A447-9CDA-499B-A852-457959BC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18727E"/>
                </a:solidFill>
              </a:defRPr>
            </a:pPr>
            <a:r>
              <a:rPr sz="1275" b="0" i="1">
                <a:solidFill>
                  <a:srgbClr val="18727E"/>
                </a:solidFill>
              </a:rPr>
              <a:t>Assessment Design Studio</a:t>
            </a:r>
          </a:p>
        </p:txBody>
      </p:sp>
      <p:sp>
        <p:nvSpPr>
          <p:cNvPr id="17" name="rb">
            <a:extLst xmlns:a="http://schemas.openxmlformats.org/drawingml/2006/main">
              <a:ext uri="{FF2B5EF4-FFF2-40B4-BE49-F238E27FC236}">
                <a16:creationId xmlns:a16="http://schemas.microsoft.com/office/drawing/2014/main" id="{F4FE204A-5B65-44DF-A686-2BC5A88F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AUTHENTIC PROBLEMS</a:t>
            </a:r>
          </a:p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SUCCESSIVE PROTOTYPES</a:t>
            </a:r>
          </a:p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CRITIQUE &amp; JUSTIFICATION</a:t>
            </a:r>
          </a:p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PILOTING &amp; EVIDENCE</a:t>
            </a:r>
          </a:p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REDESIGN &amp; TRANSFER</a:t>
            </a:r>
          </a:p>
        </p:txBody>
      </p:sp>
      <p:sp>
        <p:nvSpPr>
          <p:cNvPr id="18" name="rq">
            <a:extLst xmlns:a="http://schemas.openxmlformats.org/drawingml/2006/main">
              <a:ext uri="{FF2B5EF4-FFF2-40B4-BE49-F238E27FC236}">
                <a16:creationId xmlns:a16="http://schemas.microsoft.com/office/drawing/2014/main" id="{1E456BB7-9D23-47A8-BE3F-C15462AA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29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HOW you learn to use it</a:t>
            </a:r>
          </a:p>
        </p:txBody>
      </p:sp>
      <p:sp>
        <p:nvSpPr>
          <p:cNvPr id="19" name="bridge">
            <a:extLst xmlns:a="http://schemas.openxmlformats.org/drawingml/2006/main">
              <a:ext uri="{FF2B5EF4-FFF2-40B4-BE49-F238E27FC236}">
                <a16:creationId xmlns:a16="http://schemas.microsoft.com/office/drawing/2014/main" id="{3599C8A0-8A93-4D8D-AEC4-93446F83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38550"/>
            <a:ext cx="2819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dlbox">
            <a:extLst xmlns:a="http://schemas.openxmlformats.org/drawingml/2006/main">
              <a:ext uri="{FF2B5EF4-FFF2-40B4-BE49-F238E27FC236}">
                <a16:creationId xmlns:a16="http://schemas.microsoft.com/office/drawing/2014/main" id="{EF7EE057-528D-42DB-B609-EF524FAA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19812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1" name="adlh">
            <a:extLst xmlns:a="http://schemas.openxmlformats.org/drawingml/2006/main">
              <a:ext uri="{FF2B5EF4-FFF2-40B4-BE49-F238E27FC236}">
                <a16:creationId xmlns:a16="http://schemas.microsoft.com/office/drawing/2014/main" id="{761F0B61-2D96-4A12-BFCA-C8492CAA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ADL</a:t>
            </a:r>
          </a:p>
        </p:txBody>
      </p:sp>
      <p:sp>
        <p:nvSpPr>
          <p:cNvPr id="22" name="adlb">
            <a:extLst xmlns:a="http://schemas.openxmlformats.org/drawingml/2006/main">
              <a:ext uri="{FF2B5EF4-FFF2-40B4-BE49-F238E27FC236}">
                <a16:creationId xmlns:a16="http://schemas.microsoft.com/office/drawing/2014/main" id="{04E2A6A9-FC7F-4BCA-AB4D-F1231603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19500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ASSESSMENT</a:t>
            </a:r>
          </a:p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DESIGN LITERACY</a:t>
            </a:r>
          </a:p>
        </p:txBody>
      </p:sp>
    </p:spTree>
    <p:extLst>
      <p:ext uri="{BB962C8B-B14F-4D97-AF65-F5344CB8AC3E}">
        <p14:creationId xmlns:p14="http://schemas.microsoft.com/office/powerpoint/2010/main" val="18381044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1e556040f4c14">
            <a:extLst>
              <a:ext uri="{96DAC541-7B7A-43D3-8B79-37D633B846F1}">
                <asvg:svgBlip xmlns:asvg="http://schemas.microsoft.com/office/drawing/2016/SVG/main" r:embed="R91a93dedb8ee42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" name="k">
            <a:extLst xmlns:a="http://schemas.openxmlformats.org/drawingml/2006/main">
              <a:ext uri="{FF2B5EF4-FFF2-40B4-BE49-F238E27FC236}">
                <a16:creationId xmlns:a16="http://schemas.microsoft.com/office/drawing/2014/main" id="{3441E932-66B8-4775-AE35-173DB77D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4A72C"/>
                </a:solidFill>
              </a:defRPr>
            </a:pPr>
            <a:r>
              <a:rPr sz="1125" b="1" i="0">
                <a:solidFill>
                  <a:srgbClr val="D4A72C"/>
                </a:solidFill>
              </a:rPr>
              <a:t>DEVELOPMENTAL SHIFT</a:t>
            </a:r>
          </a:p>
        </p:txBody>
      </p:sp>
      <p:sp>
        <p:nvSpPr>
          <p:cNvPr id="3" name="t">
            <a:extLst xmlns:a="http://schemas.openxmlformats.org/drawingml/2006/main">
              <a:ext uri="{FF2B5EF4-FFF2-40B4-BE49-F238E27FC236}">
                <a16:creationId xmlns:a16="http://schemas.microsoft.com/office/drawing/2014/main" id="{C7A8C403-48F8-40F6-BE16-D57CF1A0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The goal is not to abandon tests — it is to design assessments deliberately.</a:t>
            </a:r>
          </a:p>
        </p:txBody>
      </p:sp>
      <p:sp>
        <p:nvSpPr>
          <p:cNvPr id="4" name="u-0">
            <a:extLst xmlns:a="http://schemas.openxmlformats.org/drawingml/2006/main">
              <a:ext uri="{FF2B5EF4-FFF2-40B4-BE49-F238E27FC236}">
                <a16:creationId xmlns:a16="http://schemas.microsoft.com/office/drawing/2014/main" id="{DA04D63A-398F-45C0-A9FD-608FE9E5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BFCBE0"/>
                </a:solidFill>
              </a:defRPr>
            </a:pPr>
            <a:r>
              <a:rPr sz="1425" b="1" i="0">
                <a:solidFill>
                  <a:srgbClr val="BFCBE0"/>
                </a:solidFill>
              </a:rPr>
              <a:t>FORMAT-FIRST</a:t>
            </a:r>
          </a:p>
        </p:txBody>
      </p:sp>
      <p:sp>
        <p:nvSpPr>
          <p:cNvPr id="5" name="arr-0">
            <a:extLst xmlns:a="http://schemas.openxmlformats.org/drawingml/2006/main">
              <a:ext uri="{FF2B5EF4-FFF2-40B4-BE49-F238E27FC236}">
                <a16:creationId xmlns:a16="http://schemas.microsoft.com/office/drawing/2014/main" id="{05FB5708-5594-410A-AD82-8ECE9169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76475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p-0">
            <a:extLst xmlns:a="http://schemas.openxmlformats.org/drawingml/2006/main">
              <a:ext uri="{FF2B5EF4-FFF2-40B4-BE49-F238E27FC236}">
                <a16:creationId xmlns:a16="http://schemas.microsoft.com/office/drawing/2014/main" id="{5F1FD4E9-D9DB-4B6C-BD25-1596BFCB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7" name="d-0">
            <a:extLst xmlns:a="http://schemas.openxmlformats.org/drawingml/2006/main">
              <a:ext uri="{FF2B5EF4-FFF2-40B4-BE49-F238E27FC236}">
                <a16:creationId xmlns:a16="http://schemas.microsoft.com/office/drawing/2014/main" id="{76D64344-90A1-406E-8A59-8BD05071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4A72C"/>
                </a:solidFill>
              </a:defRPr>
            </a:pPr>
            <a:r>
              <a:rPr sz="1575" b="1" i="0">
                <a:solidFill>
                  <a:srgbClr val="D4A72C"/>
                </a:solidFill>
              </a:rPr>
              <a:t>PURPOSE-FIRST</a:t>
            </a:r>
          </a:p>
        </p:txBody>
      </p:sp>
      <p:sp>
        <p:nvSpPr>
          <p:cNvPr id="8" name="u-1">
            <a:extLst xmlns:a="http://schemas.openxmlformats.org/drawingml/2006/main">
              <a:ext uri="{FF2B5EF4-FFF2-40B4-BE49-F238E27FC236}">
                <a16:creationId xmlns:a16="http://schemas.microsoft.com/office/drawing/2014/main" id="{FA6F4F06-B828-473F-BE3E-CA4F5131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BFCBE0"/>
                </a:solidFill>
              </a:defRPr>
            </a:pPr>
            <a:r>
              <a:rPr sz="1425" b="1" i="0">
                <a:solidFill>
                  <a:srgbClr val="BFCBE0"/>
                </a:solidFill>
              </a:rPr>
              <a:t>ITEMS</a:t>
            </a:r>
          </a:p>
        </p:txBody>
      </p:sp>
      <p:sp>
        <p:nvSpPr>
          <p:cNvPr id="9" name="arr-1">
            <a:extLst xmlns:a="http://schemas.openxmlformats.org/drawingml/2006/main">
              <a:ext uri="{FF2B5EF4-FFF2-40B4-BE49-F238E27FC236}">
                <a16:creationId xmlns:a16="http://schemas.microsoft.com/office/drawing/2014/main" id="{9F6C93B0-73C5-4B44-B755-341ADE61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p-1">
            <a:extLst xmlns:a="http://schemas.openxmlformats.org/drawingml/2006/main">
              <a:ext uri="{FF2B5EF4-FFF2-40B4-BE49-F238E27FC236}">
                <a16:creationId xmlns:a16="http://schemas.microsoft.com/office/drawing/2014/main" id="{860783F8-B408-4314-B85F-E99FEEC7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d-1">
            <a:extLst xmlns:a="http://schemas.openxmlformats.org/drawingml/2006/main">
              <a:ext uri="{FF2B5EF4-FFF2-40B4-BE49-F238E27FC236}">
                <a16:creationId xmlns:a16="http://schemas.microsoft.com/office/drawing/2014/main" id="{E134E216-FBC4-47A2-AE61-E0454EED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4A72C"/>
                </a:solidFill>
              </a:defRPr>
            </a:pPr>
            <a:r>
              <a:rPr sz="1575" b="1" i="0">
                <a:solidFill>
                  <a:srgbClr val="D4A72C"/>
                </a:solidFill>
              </a:rPr>
              <a:t>EVIDENCE SYSTEM</a:t>
            </a:r>
          </a:p>
        </p:txBody>
      </p:sp>
      <p:sp>
        <p:nvSpPr>
          <p:cNvPr id="12" name="u-2">
            <a:extLst xmlns:a="http://schemas.openxmlformats.org/drawingml/2006/main">
              <a:ext uri="{FF2B5EF4-FFF2-40B4-BE49-F238E27FC236}">
                <a16:creationId xmlns:a16="http://schemas.microsoft.com/office/drawing/2014/main" id="{6DC9C939-BA3B-439B-BCD0-9FE0C32F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BFCBE0"/>
                </a:solidFill>
              </a:defRPr>
            </a:pPr>
            <a:r>
              <a:rPr sz="1425" b="1" i="0">
                <a:solidFill>
                  <a:srgbClr val="BFCBE0"/>
                </a:solidFill>
              </a:rPr>
              <a:t>SCORE PRODUCTION</a:t>
            </a:r>
          </a:p>
        </p:txBody>
      </p:sp>
      <p:sp>
        <p:nvSpPr>
          <p:cNvPr id="13" name="arr-2">
            <a:extLst xmlns:a="http://schemas.openxmlformats.org/drawingml/2006/main">
              <a:ext uri="{FF2B5EF4-FFF2-40B4-BE49-F238E27FC236}">
                <a16:creationId xmlns:a16="http://schemas.microsoft.com/office/drawing/2014/main" id="{0B9BB157-B62B-4807-A8A1-1FA6B77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24275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p-2">
            <a:extLst xmlns:a="http://schemas.openxmlformats.org/drawingml/2006/main">
              <a:ext uri="{FF2B5EF4-FFF2-40B4-BE49-F238E27FC236}">
                <a16:creationId xmlns:a16="http://schemas.microsoft.com/office/drawing/2014/main" id="{4EEA59AF-92F4-4127-AC1D-73560A5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d-2">
            <a:extLst xmlns:a="http://schemas.openxmlformats.org/drawingml/2006/main">
              <a:ext uri="{FF2B5EF4-FFF2-40B4-BE49-F238E27FC236}">
                <a16:creationId xmlns:a16="http://schemas.microsoft.com/office/drawing/2014/main" id="{CAAC5141-39D6-4F80-90E7-CC2AA310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4A72C"/>
                </a:solidFill>
              </a:defRPr>
            </a:pPr>
            <a:r>
              <a:rPr sz="1575" b="1" i="0">
                <a:solidFill>
                  <a:srgbClr val="D4A72C"/>
                </a:solidFill>
              </a:rPr>
              <a:t>INTERPRETATION &amp; USE</a:t>
            </a:r>
          </a:p>
        </p:txBody>
      </p:sp>
      <p:sp>
        <p:nvSpPr>
          <p:cNvPr id="16" name="u-3">
            <a:extLst xmlns:a="http://schemas.openxmlformats.org/drawingml/2006/main">
              <a:ext uri="{FF2B5EF4-FFF2-40B4-BE49-F238E27FC236}">
                <a16:creationId xmlns:a16="http://schemas.microsoft.com/office/drawing/2014/main" id="{858FE70E-C412-414E-96D7-64A8E6F3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BFCBE0"/>
                </a:solidFill>
              </a:defRPr>
            </a:pPr>
            <a:r>
              <a:rPr sz="1425" b="1" i="0">
                <a:solidFill>
                  <a:srgbClr val="BFCBE0"/>
                </a:solidFill>
              </a:rPr>
              <a:t>ONE-OFF CONSTRUCTION</a:t>
            </a:r>
          </a:p>
        </p:txBody>
      </p:sp>
      <p:sp>
        <p:nvSpPr>
          <p:cNvPr id="17" name="arr-3">
            <a:extLst xmlns:a="http://schemas.openxmlformats.org/drawingml/2006/main">
              <a:ext uri="{FF2B5EF4-FFF2-40B4-BE49-F238E27FC236}">
                <a16:creationId xmlns:a16="http://schemas.microsoft.com/office/drawing/2014/main" id="{8F4BB360-078F-4B54-8647-DB4B442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48175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ip-3">
            <a:extLst xmlns:a="http://schemas.openxmlformats.org/drawingml/2006/main">
              <a:ext uri="{FF2B5EF4-FFF2-40B4-BE49-F238E27FC236}">
                <a16:creationId xmlns:a16="http://schemas.microsoft.com/office/drawing/2014/main" id="{34282EDF-982B-467E-B989-25C25B2E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9" name="d-3">
            <a:extLst xmlns:a="http://schemas.openxmlformats.org/drawingml/2006/main">
              <a:ext uri="{FF2B5EF4-FFF2-40B4-BE49-F238E27FC236}">
                <a16:creationId xmlns:a16="http://schemas.microsoft.com/office/drawing/2014/main" id="{942F88F7-1F71-48BA-9394-7DFDCFF4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4A72C"/>
                </a:solidFill>
              </a:defRPr>
            </a:pPr>
            <a:r>
              <a:rPr sz="1575" b="1" i="0">
                <a:solidFill>
                  <a:srgbClr val="D4A72C"/>
                </a:solidFill>
              </a:rPr>
              <a:t>ITERATIVE REDESIGN</a:t>
            </a:r>
          </a:p>
        </p:txBody>
      </p:sp>
      <p:sp>
        <p:nvSpPr>
          <p:cNvPr id="20" name="u-4">
            <a:extLst xmlns:a="http://schemas.openxmlformats.org/drawingml/2006/main">
              <a:ext uri="{FF2B5EF4-FFF2-40B4-BE49-F238E27FC236}">
                <a16:creationId xmlns:a16="http://schemas.microsoft.com/office/drawing/2014/main" id="{369E4DA0-B883-46AD-9CF1-B8880D8F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BFCBE0"/>
                </a:solidFill>
              </a:defRPr>
            </a:pPr>
            <a:r>
              <a:rPr sz="1425" b="1" i="0">
                <a:solidFill>
                  <a:srgbClr val="BFCBE0"/>
                </a:solidFill>
              </a:rPr>
              <a:t>IMPLICIT PREFERENCE</a:t>
            </a:r>
          </a:p>
        </p:txBody>
      </p:sp>
      <p:sp>
        <p:nvSpPr>
          <p:cNvPr id="21" name="arr-4">
            <a:extLst xmlns:a="http://schemas.openxmlformats.org/drawingml/2006/main">
              <a:ext uri="{FF2B5EF4-FFF2-40B4-BE49-F238E27FC236}">
                <a16:creationId xmlns:a16="http://schemas.microsoft.com/office/drawing/2014/main" id="{2452AFA6-031B-449D-90A5-6EE74785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72075"/>
            <a:ext cx="1581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p-4">
            <a:extLst xmlns:a="http://schemas.openxmlformats.org/drawingml/2006/main">
              <a:ext uri="{FF2B5EF4-FFF2-40B4-BE49-F238E27FC236}">
                <a16:creationId xmlns:a16="http://schemas.microsoft.com/office/drawing/2014/main" id="{068D14CD-BD88-446A-A458-9E0DA19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86350"/>
            <a:ext cx="2095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3" name="d-4">
            <a:extLst xmlns:a="http://schemas.openxmlformats.org/drawingml/2006/main">
              <a:ext uri="{FF2B5EF4-FFF2-40B4-BE49-F238E27FC236}">
                <a16:creationId xmlns:a16="http://schemas.microsoft.com/office/drawing/2014/main" id="{4930565C-38B8-49BD-AAB3-C96DA439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4A72C"/>
                </a:solidFill>
              </a:defRPr>
            </a:pPr>
            <a:r>
              <a:rPr sz="1575" b="1" i="0">
                <a:solidFill>
                  <a:srgbClr val="D4A72C"/>
                </a:solidFill>
              </a:rPr>
              <a:t>EXPLICIT JUSTIFICATION</a:t>
            </a:r>
          </a:p>
        </p:txBody>
      </p:sp>
      <p:sp>
        <p:nvSpPr>
          <p:cNvPr id="24" name="labels">
            <a:extLst xmlns:a="http://schemas.openxmlformats.org/drawingml/2006/main">
              <a:ext uri="{FF2B5EF4-FFF2-40B4-BE49-F238E27FC236}">
                <a16:creationId xmlns:a16="http://schemas.microsoft.com/office/drawing/2014/main" id="{311C5DEF-966B-43AE-B93C-E9DBC6B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BFCBE0"/>
                </a:solidFill>
              </a:defRPr>
            </a:pPr>
            <a:r>
              <a:rPr sz="1125" b="1" i="0">
                <a:solidFill>
                  <a:srgbClr val="BFCBE0"/>
                </a:solidFill>
              </a:rPr>
              <a:t>TEST-USER ORIENTATION</a:t>
            </a:r>
          </a:p>
        </p:txBody>
      </p:sp>
      <p:sp>
        <p:nvSpPr>
          <p:cNvPr id="25" name="labels2">
            <a:extLst xmlns:a="http://schemas.openxmlformats.org/drawingml/2006/main">
              <a:ext uri="{FF2B5EF4-FFF2-40B4-BE49-F238E27FC236}">
                <a16:creationId xmlns:a16="http://schemas.microsoft.com/office/drawing/2014/main" id="{2FBFC73A-C145-44BC-83BE-E6DD9D93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91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DESIGNER ORIENTATION</a:t>
            </a:r>
          </a:p>
        </p:txBody>
      </p:sp>
      <p:sp>
        <p:nvSpPr>
          <p:cNvPr id="26" name="n">
            <a:extLst xmlns:a="http://schemas.openxmlformats.org/drawingml/2006/main">
              <a:ext uri="{FF2B5EF4-FFF2-40B4-BE49-F238E27FC236}">
                <a16:creationId xmlns:a16="http://schemas.microsoft.com/office/drawing/2014/main" id="{3CA0F6E0-2918-4BB6-A8DE-4AFCA7C3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31778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483BCE3-83C8-45B7-B7C3-02F8A2B9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750866e9d4b0b">
            <a:extLst>
              <a:ext uri="{96DAC541-7B7A-43D3-8B79-37D633B846F1}">
                <asvg:svgBlip xmlns:asvg="http://schemas.microsoft.com/office/drawing/2016/SVG/main" r:embed="Rff77f66ce67f4e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287E170-F4AA-4981-BD73-08E376B0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DESIGN STUDIO LAUNCH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BEDA0B-3687-4322-AAF5-E7C5661F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Start with an authentic assessment problem — not a preferred format.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1C258DF-E693-4E87-9D6F-5D2C2AE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7CEB8FB-F581-4175-AC2E-CE0D629D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40C6C3CA-4B86-4F44-A0D8-0750BDA5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4FBE1321-1F6F-44CA-950E-1E5E7D53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brief">
            <a:extLst xmlns:a="http://schemas.openxmlformats.org/drawingml/2006/main">
              <a:ext uri="{FF2B5EF4-FFF2-40B4-BE49-F238E27FC236}">
                <a16:creationId xmlns:a16="http://schemas.microsoft.com/office/drawing/2014/main" id="{CDAC32EE-16BC-4486-8101-77A75DB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286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bh">
            <a:extLst xmlns:a="http://schemas.openxmlformats.org/drawingml/2006/main">
              <a:ext uri="{FF2B5EF4-FFF2-40B4-BE49-F238E27FC236}">
                <a16:creationId xmlns:a16="http://schemas.microsoft.com/office/drawing/2014/main" id="{D868E2A4-22F6-4F10-AC4B-A8BD65B9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YOUR TEAM DESIGN BRIEF</a:t>
            </a:r>
          </a:p>
        </p:txBody>
      </p:sp>
      <p:sp>
        <p:nvSpPr>
          <p:cNvPr id="11" name="bb">
            <a:extLst xmlns:a="http://schemas.openxmlformats.org/drawingml/2006/main">
              <a:ext uri="{FF2B5EF4-FFF2-40B4-BE49-F238E27FC236}">
                <a16:creationId xmlns:a16="http://schemas.microsoft.com/office/drawing/2014/main" id="{7A8E4265-77B4-4462-BD8E-7AFD4DF7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4292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Identify a real assessment need from a context known to at least one team member.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The need must involve a decision about language learning or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Describe the problem before proposing a solution.</a:t>
            </a:r>
          </a:p>
        </p:txBody>
      </p:sp>
      <p:sp>
        <p:nvSpPr>
          <p:cNvPr id="12" name="avoid">
            <a:extLst xmlns:a="http://schemas.openxmlformats.org/drawingml/2006/main">
              <a:ext uri="{FF2B5EF4-FFF2-40B4-BE49-F238E27FC236}">
                <a16:creationId xmlns:a16="http://schemas.microsoft.com/office/drawing/2014/main" id="{BD13C0D1-05C6-42CE-9BC1-BA5B153C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8443A"/>
                </a:solidFill>
              </a:defRPr>
            </a:pPr>
            <a:r>
              <a:rPr sz="1275" b="1" i="0">
                <a:solidFill>
                  <a:srgbClr val="A8443A"/>
                </a:solidFill>
              </a:rPr>
              <a:t>AVOID STARTING WITH</a:t>
            </a:r>
          </a:p>
        </p:txBody>
      </p:sp>
      <p:sp>
        <p:nvSpPr>
          <p:cNvPr id="13" name="x-0">
            <a:extLst xmlns:a="http://schemas.openxmlformats.org/drawingml/2006/main">
              <a:ext uri="{FF2B5EF4-FFF2-40B4-BE49-F238E27FC236}">
                <a16:creationId xmlns:a16="http://schemas.microsoft.com/office/drawing/2014/main" id="{4DB8670C-2CDA-4348-9B81-05763F6D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43A"/>
          </a:solidFill>
          <a:ln xmlns:a="http://schemas.openxmlformats.org/drawingml/2006/main" w="9525">
            <a:solidFill>
              <a:srgbClr val="A8443A"/>
            </a:solidFill>
            <a:prstDash val="solid"/>
          </a:ln>
        </p:spPr>
      </p:sp>
      <p:sp>
        <p:nvSpPr>
          <p:cNvPr id="14" name="xx-0">
            <a:extLst xmlns:a="http://schemas.openxmlformats.org/drawingml/2006/main">
              <a:ext uri="{FF2B5EF4-FFF2-40B4-BE49-F238E27FC236}">
                <a16:creationId xmlns:a16="http://schemas.microsoft.com/office/drawing/2014/main" id="{1CEBC1FC-F7A0-466F-A238-D43AE02D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15" name="av-0">
            <a:extLst xmlns:a="http://schemas.openxmlformats.org/drawingml/2006/main">
              <a:ext uri="{FF2B5EF4-FFF2-40B4-BE49-F238E27FC236}">
                <a16:creationId xmlns:a16="http://schemas.microsoft.com/office/drawing/2014/main" id="{9DD44431-C00B-4CCA-81FF-1BDAD0B7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“We want to make a multiple-choice test.”</a:t>
            </a:r>
          </a:p>
        </p:txBody>
      </p:sp>
      <p:sp>
        <p:nvSpPr>
          <p:cNvPr id="16" name="x-1">
            <a:extLst xmlns:a="http://schemas.openxmlformats.org/drawingml/2006/main">
              <a:ext uri="{FF2B5EF4-FFF2-40B4-BE49-F238E27FC236}">
                <a16:creationId xmlns:a16="http://schemas.microsoft.com/office/drawing/2014/main" id="{1C8FCA75-9A23-41F9-9581-C59F86C2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90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43A"/>
          </a:solidFill>
          <a:ln xmlns:a="http://schemas.openxmlformats.org/drawingml/2006/main" w="9525">
            <a:solidFill>
              <a:srgbClr val="A8443A"/>
            </a:solidFill>
            <a:prstDash val="solid"/>
          </a:ln>
        </p:spPr>
      </p:sp>
      <p:sp>
        <p:nvSpPr>
          <p:cNvPr id="17" name="xx-1">
            <a:extLst xmlns:a="http://schemas.openxmlformats.org/drawingml/2006/main">
              <a:ext uri="{FF2B5EF4-FFF2-40B4-BE49-F238E27FC236}">
                <a16:creationId xmlns:a16="http://schemas.microsoft.com/office/drawing/2014/main" id="{C1845009-5A7A-4801-A3FA-0E8C3BA8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909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18" name="av-1">
            <a:extLst xmlns:a="http://schemas.openxmlformats.org/drawingml/2006/main">
              <a:ext uri="{FF2B5EF4-FFF2-40B4-BE49-F238E27FC236}">
                <a16:creationId xmlns:a16="http://schemas.microsoft.com/office/drawing/2014/main" id="{602B2CCA-7BAA-4AF9-978A-153F65B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“We need 30 questions.”</a:t>
            </a:r>
          </a:p>
        </p:txBody>
      </p:sp>
      <p:sp>
        <p:nvSpPr>
          <p:cNvPr id="19" name="x-2">
            <a:extLst xmlns:a="http://schemas.openxmlformats.org/drawingml/2006/main">
              <a:ext uri="{FF2B5EF4-FFF2-40B4-BE49-F238E27FC236}">
                <a16:creationId xmlns:a16="http://schemas.microsoft.com/office/drawing/2014/main" id="{39D92EAC-A518-4A88-A319-5600E1A0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443A"/>
          </a:solidFill>
          <a:ln xmlns:a="http://schemas.openxmlformats.org/drawingml/2006/main" w="9525">
            <a:solidFill>
              <a:srgbClr val="A8443A"/>
            </a:solidFill>
            <a:prstDash val="solid"/>
          </a:ln>
        </p:spPr>
      </p:sp>
      <p:sp>
        <p:nvSpPr>
          <p:cNvPr id="20" name="xx-2">
            <a:extLst xmlns:a="http://schemas.openxmlformats.org/drawingml/2006/main">
              <a:ext uri="{FF2B5EF4-FFF2-40B4-BE49-F238E27FC236}">
                <a16:creationId xmlns:a16="http://schemas.microsoft.com/office/drawing/2014/main" id="{2CA03C9C-23DA-43B3-B7C2-34699450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21" name="av-2">
            <a:extLst xmlns:a="http://schemas.openxmlformats.org/drawingml/2006/main">
              <a:ext uri="{FF2B5EF4-FFF2-40B4-BE49-F238E27FC236}">
                <a16:creationId xmlns:a16="http://schemas.microsoft.com/office/drawing/2014/main" id="{04982CB6-5379-4023-A8CF-DA003661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“We found a rubric online.”</a:t>
            </a:r>
          </a:p>
        </p:txBody>
      </p:sp>
      <p:sp>
        <p:nvSpPr>
          <p:cNvPr id="22" name="begin">
            <a:extLst xmlns:a="http://schemas.openxmlformats.org/drawingml/2006/main">
              <a:ext uri="{FF2B5EF4-FFF2-40B4-BE49-F238E27FC236}">
                <a16:creationId xmlns:a16="http://schemas.microsoft.com/office/drawing/2014/main" id="{FF364842-5DDB-4924-AB3F-0F07DDD9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A7862"/>
                </a:solidFill>
              </a:defRPr>
            </a:pPr>
            <a:r>
              <a:rPr sz="1275" b="1" i="0">
                <a:solidFill>
                  <a:srgbClr val="3A7862"/>
                </a:solidFill>
              </a:rPr>
              <a:t>BEGIN WITH</a:t>
            </a:r>
          </a:p>
        </p:txBody>
      </p:sp>
      <p:sp>
        <p:nvSpPr>
          <p:cNvPr id="23" name="beginbody">
            <a:extLst xmlns:a="http://schemas.openxmlformats.org/drawingml/2006/main">
              <a:ext uri="{FF2B5EF4-FFF2-40B4-BE49-F238E27FC236}">
                <a16:creationId xmlns:a16="http://schemas.microsoft.com/office/drawing/2014/main" id="{7BDC75BD-E697-4E3E-995B-3298CC4D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72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learners • purpose • decision • context</a:t>
            </a:r>
          </a:p>
        </p:txBody>
      </p:sp>
    </p:spTree>
    <p:extLst>
      <p:ext uri="{BB962C8B-B14F-4D97-AF65-F5344CB8AC3E}">
        <p14:creationId xmlns:p14="http://schemas.microsoft.com/office/powerpoint/2010/main" val="9388423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7615203-FE94-42B9-9349-46B6C888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ce094990942f1">
            <a:extLst>
              <a:ext uri="{96DAC541-7B7A-43D3-8B79-37D633B846F1}">
                <asvg:svgBlip xmlns:asvg="http://schemas.microsoft.com/office/drawing/2016/SVG/main" r:embed="R3d18d820f38e45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6F0F70E-87D6-4E63-B5AE-14E7ABFF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COLLABORATIVE DESIGN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B6089D-63FA-49C5-98B7-82C6A9E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Eight teams of four — every member makes reasoning visible.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814BD4E-5334-432D-A42B-B7AF235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7C7BC1A-FC1A-4CB0-A119-73DE8E1B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design protocol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6D7E04AE-B064-419E-AA0B-97334B9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5CDC7359-EAA1-49E1-8CA5-8DDCA72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role-0">
            <a:extLst xmlns:a="http://schemas.openxmlformats.org/drawingml/2006/main">
              <a:ext uri="{FF2B5EF4-FFF2-40B4-BE49-F238E27FC236}">
                <a16:creationId xmlns:a16="http://schemas.microsoft.com/office/drawing/2014/main" id="{1D206AE7-ACAB-4769-871E-FB1F0B79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048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ole-0-title">
            <a:extLst xmlns:a="http://schemas.openxmlformats.org/drawingml/2006/main">
              <a:ext uri="{FF2B5EF4-FFF2-40B4-BE49-F238E27FC236}">
                <a16:creationId xmlns:a16="http://schemas.microsoft.com/office/drawing/2014/main" id="{3F0F29D0-C6D6-43E4-92E2-064F0F90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CONTEXT LEAD</a:t>
            </a:r>
          </a:p>
        </p:txBody>
      </p:sp>
      <p:sp>
        <p:nvSpPr>
          <p:cNvPr id="11" name="role-0-body">
            <a:extLst xmlns:a="http://schemas.openxmlformats.org/drawingml/2006/main">
              <a:ext uri="{FF2B5EF4-FFF2-40B4-BE49-F238E27FC236}">
                <a16:creationId xmlns:a16="http://schemas.microsoft.com/office/drawing/2014/main" id="{565527F1-363D-415E-B9EC-CD6B975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Keeps learners, setting, and constraints visible</a:t>
            </a:r>
          </a:p>
        </p:txBody>
      </p:sp>
      <p:sp>
        <p:nvSpPr>
          <p:cNvPr id="12" name="r0overlay">
            <a:extLst xmlns:a="http://schemas.openxmlformats.org/drawingml/2006/main">
              <a:ext uri="{FF2B5EF4-FFF2-40B4-BE49-F238E27FC236}">
                <a16:creationId xmlns:a16="http://schemas.microsoft.com/office/drawing/2014/main" id="{78693060-8E8B-40EB-AA4A-6197289A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59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Keeps learners, setting, and constraints visible</a:t>
            </a:r>
          </a:p>
        </p:txBody>
      </p:sp>
      <p:sp>
        <p:nvSpPr>
          <p:cNvPr id="13" name="role-1">
            <a:extLst xmlns:a="http://schemas.openxmlformats.org/drawingml/2006/main">
              <a:ext uri="{FF2B5EF4-FFF2-40B4-BE49-F238E27FC236}">
                <a16:creationId xmlns:a16="http://schemas.microsoft.com/office/drawing/2014/main" id="{FE459C97-60CA-4246-BF88-A6A3CABA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048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4" name="role-1-title">
            <a:extLst xmlns:a="http://schemas.openxmlformats.org/drawingml/2006/main">
              <a:ext uri="{FF2B5EF4-FFF2-40B4-BE49-F238E27FC236}">
                <a16:creationId xmlns:a16="http://schemas.microsoft.com/office/drawing/2014/main" id="{E425FCB4-3518-4A57-8736-4565D9D3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CONSTRUCT LEAD</a:t>
            </a:r>
          </a:p>
        </p:txBody>
      </p:sp>
      <p:sp>
        <p:nvSpPr>
          <p:cNvPr id="15" name="role-1-body">
            <a:extLst xmlns:a="http://schemas.openxmlformats.org/drawingml/2006/main">
              <a:ext uri="{FF2B5EF4-FFF2-40B4-BE49-F238E27FC236}">
                <a16:creationId xmlns:a16="http://schemas.microsoft.com/office/drawing/2014/main" id="{85F9316B-5429-4588-A52C-51CF24C9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Challenges what is being assessed</a:t>
            </a:r>
          </a:p>
        </p:txBody>
      </p:sp>
      <p:sp>
        <p:nvSpPr>
          <p:cNvPr id="16" name="role-2">
            <a:extLst xmlns:a="http://schemas.openxmlformats.org/drawingml/2006/main">
              <a:ext uri="{FF2B5EF4-FFF2-40B4-BE49-F238E27FC236}">
                <a16:creationId xmlns:a16="http://schemas.microsoft.com/office/drawing/2014/main" id="{C0AA9119-6E9F-40B1-85CA-01F4C55E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048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7" name="role-2-title">
            <a:extLst xmlns:a="http://schemas.openxmlformats.org/drawingml/2006/main">
              <a:ext uri="{FF2B5EF4-FFF2-40B4-BE49-F238E27FC236}">
                <a16:creationId xmlns:a16="http://schemas.microsoft.com/office/drawing/2014/main" id="{211C9B3E-2580-4574-B436-99D994C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EVIDENCE LEAD</a:t>
            </a:r>
          </a:p>
        </p:txBody>
      </p:sp>
      <p:sp>
        <p:nvSpPr>
          <p:cNvPr id="18" name="role-2-body">
            <a:extLst xmlns:a="http://schemas.openxmlformats.org/drawingml/2006/main">
              <a:ext uri="{FF2B5EF4-FFF2-40B4-BE49-F238E27FC236}">
                <a16:creationId xmlns:a16="http://schemas.microsoft.com/office/drawing/2014/main" id="{D6CECE9A-D52D-4FAD-8BBE-FC550838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Connects performance, criteria, and interpretation</a:t>
            </a:r>
          </a:p>
        </p:txBody>
      </p:sp>
      <p:sp>
        <p:nvSpPr>
          <p:cNvPr id="19" name="role-3">
            <a:extLst xmlns:a="http://schemas.openxmlformats.org/drawingml/2006/main">
              <a:ext uri="{FF2B5EF4-FFF2-40B4-BE49-F238E27FC236}">
                <a16:creationId xmlns:a16="http://schemas.microsoft.com/office/drawing/2014/main" id="{0F98813D-B61E-4B1C-9581-4EA6741C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7600"/>
            <a:ext cx="5048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0" name="role-3-title">
            <a:extLst xmlns:a="http://schemas.openxmlformats.org/drawingml/2006/main">
              <a:ext uri="{FF2B5EF4-FFF2-40B4-BE49-F238E27FC236}">
                <a16:creationId xmlns:a16="http://schemas.microsoft.com/office/drawing/2014/main" id="{FC198CEF-8153-432F-8059-2B4AEAF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CRITICAL FRIEND</a:t>
            </a:r>
          </a:p>
        </p:txBody>
      </p:sp>
      <p:sp>
        <p:nvSpPr>
          <p:cNvPr id="21" name="role-3-body">
            <a:extLst xmlns:a="http://schemas.openxmlformats.org/drawingml/2006/main">
              <a:ext uri="{FF2B5EF4-FFF2-40B4-BE49-F238E27FC236}">
                <a16:creationId xmlns:a16="http://schemas.microsoft.com/office/drawing/2014/main" id="{90BEFFCF-8732-4A34-9843-76D46D4C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29100"/>
            <a:ext cx="459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Tests assumptions, fairness, and consequences</a:t>
            </a:r>
          </a:p>
        </p:txBody>
      </p:sp>
      <p:sp>
        <p:nvSpPr>
          <p:cNvPr id="22" name="rotate">
            <a:extLst xmlns:a="http://schemas.openxmlformats.org/drawingml/2006/main">
              <a:ext uri="{FF2B5EF4-FFF2-40B4-BE49-F238E27FC236}">
                <a16:creationId xmlns:a16="http://schemas.microsoft.com/office/drawing/2014/main" id="{C5259EAB-A29E-46C8-87DE-7C485E8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Roles rotate across prototypes. Collaboration does not replace individual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8099252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8AF6E18-4778-4104-BB7B-684EF983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770a1d1634863">
            <a:extLst>
              <a:ext uri="{96DAC541-7B7A-43D3-8B79-37D633B846F1}">
                <asvg:svgBlip xmlns:asvg="http://schemas.microsoft.com/office/drawing/2016/SVG/main" r:embed="R49ff9ced451c44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F3293DF-A00F-409F-9AD7-FBCEF1E7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STUDIO ACTIVITY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F2315F-8B19-4126-BE22-7E1294C4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Map the assessment problem before designing the assessment.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859F8F3-7B1B-40FC-A3DA-58DB7371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9FD8C48-93E6-484E-9572-45180B12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Team design activity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B2DC1DDB-5E68-4266-A0CF-AA9350B4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CA03243D-1268-4700-9908-8BA910BE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map-0">
            <a:extLst xmlns:a="http://schemas.openxmlformats.org/drawingml/2006/main">
              <a:ext uri="{FF2B5EF4-FFF2-40B4-BE49-F238E27FC236}">
                <a16:creationId xmlns:a16="http://schemas.microsoft.com/office/drawing/2014/main" id="{2D54B05F-B093-48E6-B70C-79427AE0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38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mh-0">
            <a:extLst xmlns:a="http://schemas.openxmlformats.org/drawingml/2006/main">
              <a:ext uri="{FF2B5EF4-FFF2-40B4-BE49-F238E27FC236}">
                <a16:creationId xmlns:a16="http://schemas.microsoft.com/office/drawing/2014/main" id="{1F6956DA-8770-4810-A3E2-E3A99BB1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LEARNERS</a:t>
            </a:r>
          </a:p>
        </p:txBody>
      </p:sp>
      <p:sp>
        <p:nvSpPr>
          <p:cNvPr id="11" name="mb-0">
            <a:extLst xmlns:a="http://schemas.openxmlformats.org/drawingml/2006/main">
              <a:ext uri="{FF2B5EF4-FFF2-40B4-BE49-F238E27FC236}">
                <a16:creationId xmlns:a16="http://schemas.microsoft.com/office/drawing/2014/main" id="{9D664D15-E752-42EF-98F2-F5E10B5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Who are they? What experiences and resources do they bring?</a:t>
            </a:r>
          </a:p>
        </p:txBody>
      </p:sp>
      <p:sp>
        <p:nvSpPr>
          <p:cNvPr id="12" name="map-1">
            <a:extLst xmlns:a="http://schemas.openxmlformats.org/drawingml/2006/main">
              <a:ext uri="{FF2B5EF4-FFF2-40B4-BE49-F238E27FC236}">
                <a16:creationId xmlns:a16="http://schemas.microsoft.com/office/drawing/2014/main" id="{2F222C39-2C5C-4CA8-9C86-83A7451C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238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mh-1">
            <a:extLst xmlns:a="http://schemas.openxmlformats.org/drawingml/2006/main">
              <a:ext uri="{FF2B5EF4-FFF2-40B4-BE49-F238E27FC236}">
                <a16:creationId xmlns:a16="http://schemas.microsoft.com/office/drawing/2014/main" id="{EFA86C6F-7190-445A-B399-9A2EB36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193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PURPOSE</a:t>
            </a:r>
          </a:p>
        </p:txBody>
      </p:sp>
      <p:sp>
        <p:nvSpPr>
          <p:cNvPr id="14" name="mb-1">
            <a:extLst xmlns:a="http://schemas.openxmlformats.org/drawingml/2006/main">
              <a:ext uri="{FF2B5EF4-FFF2-40B4-BE49-F238E27FC236}">
                <a16:creationId xmlns:a16="http://schemas.microsoft.com/office/drawing/2014/main" id="{7B714A89-03B8-4FBC-93E1-3A88BFEE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Why is evidence needed?</a:t>
            </a:r>
          </a:p>
        </p:txBody>
      </p:sp>
      <p:sp>
        <p:nvSpPr>
          <p:cNvPr id="15" name="map-2">
            <a:extLst xmlns:a="http://schemas.openxmlformats.org/drawingml/2006/main">
              <a:ext uri="{FF2B5EF4-FFF2-40B4-BE49-F238E27FC236}">
                <a16:creationId xmlns:a16="http://schemas.microsoft.com/office/drawing/2014/main" id="{9019FA73-EDEF-42C1-8D67-032D004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3238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6" name="mh-2">
            <a:extLst xmlns:a="http://schemas.openxmlformats.org/drawingml/2006/main">
              <a:ext uri="{FF2B5EF4-FFF2-40B4-BE49-F238E27FC236}">
                <a16:creationId xmlns:a16="http://schemas.microsoft.com/office/drawing/2014/main" id="{182154A6-331F-4953-B925-93A06E21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193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DECISION</a:t>
            </a:r>
          </a:p>
        </p:txBody>
      </p:sp>
      <p:sp>
        <p:nvSpPr>
          <p:cNvPr id="17" name="mb-2">
            <a:extLst xmlns:a="http://schemas.openxmlformats.org/drawingml/2006/main">
              <a:ext uri="{FF2B5EF4-FFF2-40B4-BE49-F238E27FC236}">
                <a16:creationId xmlns:a16="http://schemas.microsoft.com/office/drawing/2014/main" id="{E367C371-F840-448A-AAB7-79130FDF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3840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What action will follow?</a:t>
            </a:r>
          </a:p>
        </p:txBody>
      </p:sp>
      <p:sp>
        <p:nvSpPr>
          <p:cNvPr id="18" name="map-3">
            <a:extLst xmlns:a="http://schemas.openxmlformats.org/drawingml/2006/main">
              <a:ext uri="{FF2B5EF4-FFF2-40B4-BE49-F238E27FC236}">
                <a16:creationId xmlns:a16="http://schemas.microsoft.com/office/drawing/2014/main" id="{C342FE9E-D917-44FC-9204-4DF20719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238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9" name="mh-3">
            <a:extLst xmlns:a="http://schemas.openxmlformats.org/drawingml/2006/main">
              <a:ext uri="{FF2B5EF4-FFF2-40B4-BE49-F238E27FC236}">
                <a16:creationId xmlns:a16="http://schemas.microsoft.com/office/drawing/2014/main" id="{4CD74E71-C36B-40B2-9747-69ECB753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STAKEHOLDERS</a:t>
            </a:r>
          </a:p>
        </p:txBody>
      </p:sp>
      <p:sp>
        <p:nvSpPr>
          <p:cNvPr id="20" name="mb-3">
            <a:extLst xmlns:a="http://schemas.openxmlformats.org/drawingml/2006/main">
              <a:ext uri="{FF2B5EF4-FFF2-40B4-BE49-F238E27FC236}">
                <a16:creationId xmlns:a16="http://schemas.microsoft.com/office/drawing/2014/main" id="{BA14A47D-97B1-4589-9F4D-EC575A26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Who influences or is affected?</a:t>
            </a:r>
          </a:p>
        </p:txBody>
      </p:sp>
      <p:sp>
        <p:nvSpPr>
          <p:cNvPr id="21" name="map-4">
            <a:extLst xmlns:a="http://schemas.openxmlformats.org/drawingml/2006/main">
              <a:ext uri="{FF2B5EF4-FFF2-40B4-BE49-F238E27FC236}">
                <a16:creationId xmlns:a16="http://schemas.microsoft.com/office/drawing/2014/main" id="{B0848528-18AE-4334-A5DC-24149B8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57600"/>
            <a:ext cx="3238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2" name="mh-4">
            <a:extLst xmlns:a="http://schemas.openxmlformats.org/drawingml/2006/main">
              <a:ext uri="{FF2B5EF4-FFF2-40B4-BE49-F238E27FC236}">
                <a16:creationId xmlns:a16="http://schemas.microsoft.com/office/drawing/2014/main" id="{0ACBB1CF-1489-48A7-AEAD-ED9ADC1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CONSTRAINTS</a:t>
            </a:r>
          </a:p>
        </p:txBody>
      </p:sp>
      <p:sp>
        <p:nvSpPr>
          <p:cNvPr id="23" name="mb-4">
            <a:extLst xmlns:a="http://schemas.openxmlformats.org/drawingml/2006/main">
              <a:ext uri="{FF2B5EF4-FFF2-40B4-BE49-F238E27FC236}">
                <a16:creationId xmlns:a16="http://schemas.microsoft.com/office/drawing/2014/main" id="{63631815-C121-431D-8F6E-99D19D80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Time, people, policy, technology, access</a:t>
            </a:r>
          </a:p>
        </p:txBody>
      </p:sp>
      <p:sp>
        <p:nvSpPr>
          <p:cNvPr id="24" name="map-5">
            <a:extLst xmlns:a="http://schemas.openxmlformats.org/drawingml/2006/main">
              <a:ext uri="{FF2B5EF4-FFF2-40B4-BE49-F238E27FC236}">
                <a16:creationId xmlns:a16="http://schemas.microsoft.com/office/drawing/2014/main" id="{D048FF54-22C7-4764-BA21-07B4757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3238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5" name="mh-5">
            <a:extLst xmlns:a="http://schemas.openxmlformats.org/drawingml/2006/main">
              <a:ext uri="{FF2B5EF4-FFF2-40B4-BE49-F238E27FC236}">
                <a16:creationId xmlns:a16="http://schemas.microsoft.com/office/drawing/2014/main" id="{6F1647E0-0499-42CF-9418-51336511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290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27E"/>
                </a:solidFill>
              </a:defRPr>
            </a:pPr>
            <a:r>
              <a:rPr sz="1350" b="1" i="0">
                <a:solidFill>
                  <a:srgbClr val="18727E"/>
                </a:solidFill>
              </a:rPr>
              <a:t>CONSEQUENCES</a:t>
            </a:r>
          </a:p>
        </p:txBody>
      </p:sp>
      <p:sp>
        <p:nvSpPr>
          <p:cNvPr id="26" name="mb-5">
            <a:extLst xmlns:a="http://schemas.openxmlformats.org/drawingml/2006/main">
              <a:ext uri="{FF2B5EF4-FFF2-40B4-BE49-F238E27FC236}">
                <a16:creationId xmlns:a16="http://schemas.microsoft.com/office/drawing/2014/main" id="{3AD31A44-C2C0-4841-B34A-3199DA1C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281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What could improve — or go wrong?</a:t>
            </a:r>
          </a:p>
        </p:txBody>
      </p:sp>
      <p:sp>
        <p:nvSpPr>
          <p:cNvPr id="27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B4F2B69-1578-41A3-AAEF-3030FCA0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816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DELIVERABLE  •  One-page Assessment Problem Map</a:t>
            </a:r>
          </a:p>
        </p:txBody>
      </p:sp>
    </p:spTree>
    <p:extLst>
      <p:ext uri="{BB962C8B-B14F-4D97-AF65-F5344CB8AC3E}">
        <p14:creationId xmlns:p14="http://schemas.microsoft.com/office/powerpoint/2010/main" val="915833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cda365e4b40e0">
            <a:extLst>
              <a:ext uri="{96DAC541-7B7A-43D3-8B79-37D633B846F1}">
                <asvg:svgBlip xmlns:asvg="http://schemas.microsoft.com/office/drawing/2016/SVG/main" r:embed="R1ca9ab28a74148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000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" name="k">
            <a:extLst xmlns:a="http://schemas.openxmlformats.org/drawingml/2006/main">
              <a:ext uri="{FF2B5EF4-FFF2-40B4-BE49-F238E27FC236}">
                <a16:creationId xmlns:a16="http://schemas.microsoft.com/office/drawing/2014/main" id="{40677F49-913C-47FB-B02E-A5D6B69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4A72C"/>
                </a:solidFill>
              </a:defRPr>
            </a:pPr>
            <a:r>
              <a:rPr sz="1125" b="1" i="0">
                <a:solidFill>
                  <a:srgbClr val="D4A72C"/>
                </a:solidFill>
              </a:rPr>
              <a:t>GALLERY CRITIQUE</a:t>
            </a:r>
          </a:p>
        </p:txBody>
      </p:sp>
      <p:sp>
        <p:nvSpPr>
          <p:cNvPr id="3" name="t">
            <a:extLst xmlns:a="http://schemas.openxmlformats.org/drawingml/2006/main">
              <a:ext uri="{FF2B5EF4-FFF2-40B4-BE49-F238E27FC236}">
                <a16:creationId xmlns:a16="http://schemas.microsoft.com/office/drawing/2014/main" id="{09D5D379-E31A-4985-BF11-58785B1F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Critique the framing before anyone proposes a test.</a:t>
            </a:r>
          </a:p>
        </p:txBody>
      </p:sp>
      <p:sp>
        <p:nvSpPr>
          <p:cNvPr id="4" name="crit-0">
            <a:extLst xmlns:a="http://schemas.openxmlformats.org/drawingml/2006/main">
              <a:ext uri="{FF2B5EF4-FFF2-40B4-BE49-F238E27FC236}">
                <a16:creationId xmlns:a16="http://schemas.microsoft.com/office/drawing/2014/main" id="{028C6F98-AC65-472A-A863-056DC5C4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5" name="ch-0">
            <a:extLst xmlns:a="http://schemas.openxmlformats.org/drawingml/2006/main">
              <a:ext uri="{FF2B5EF4-FFF2-40B4-BE49-F238E27FC236}">
                <a16:creationId xmlns:a16="http://schemas.microsoft.com/office/drawing/2014/main" id="{469EAD82-F1AB-4340-9038-CDC6117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CLARITY</a:t>
            </a:r>
          </a:p>
        </p:txBody>
      </p:sp>
      <p:sp>
        <p:nvSpPr>
          <p:cNvPr id="6" name="cb-0">
            <a:extLst xmlns:a="http://schemas.openxmlformats.org/drawingml/2006/main">
              <a:ext uri="{FF2B5EF4-FFF2-40B4-BE49-F238E27FC236}">
                <a16:creationId xmlns:a16="http://schemas.microsoft.com/office/drawing/2014/main" id="{53667E35-1B7D-473A-9C0C-CEA5D876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Is the problem understandable?</a:t>
            </a:r>
          </a:p>
        </p:txBody>
      </p:sp>
      <p:sp>
        <p:nvSpPr>
          <p:cNvPr id="7" name="crit-1">
            <a:extLst xmlns:a="http://schemas.openxmlformats.org/drawingml/2006/main">
              <a:ext uri="{FF2B5EF4-FFF2-40B4-BE49-F238E27FC236}">
                <a16:creationId xmlns:a16="http://schemas.microsoft.com/office/drawing/2014/main" id="{84A6F602-3277-4B56-9B86-01045D94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8" name="ch-1">
            <a:extLst xmlns:a="http://schemas.openxmlformats.org/drawingml/2006/main">
              <a:ext uri="{FF2B5EF4-FFF2-40B4-BE49-F238E27FC236}">
                <a16:creationId xmlns:a16="http://schemas.microsoft.com/office/drawing/2014/main" id="{26FA1ADC-2643-48D0-BB2C-A2BA604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EVIDENCE NEED</a:t>
            </a:r>
          </a:p>
        </p:txBody>
      </p:sp>
      <p:sp>
        <p:nvSpPr>
          <p:cNvPr id="9" name="cb-1">
            <a:extLst xmlns:a="http://schemas.openxmlformats.org/drawingml/2006/main">
              <a:ext uri="{FF2B5EF4-FFF2-40B4-BE49-F238E27FC236}">
                <a16:creationId xmlns:a16="http://schemas.microsoft.com/office/drawing/2014/main" id="{5DEC01C8-F238-4CB5-9BCD-C015C227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What evidence is actually required?</a:t>
            </a:r>
          </a:p>
        </p:txBody>
      </p:sp>
      <p:sp>
        <p:nvSpPr>
          <p:cNvPr id="10" name="crit-2">
            <a:extLst xmlns:a="http://schemas.openxmlformats.org/drawingml/2006/main">
              <a:ext uri="{FF2B5EF4-FFF2-40B4-BE49-F238E27FC236}">
                <a16:creationId xmlns:a16="http://schemas.microsoft.com/office/drawing/2014/main" id="{7199DBFE-FBFB-41AC-A7F7-6AA4A7B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1" name="ch-2">
            <a:extLst xmlns:a="http://schemas.openxmlformats.org/drawingml/2006/main">
              <a:ext uri="{FF2B5EF4-FFF2-40B4-BE49-F238E27FC236}">
                <a16:creationId xmlns:a16="http://schemas.microsoft.com/office/drawing/2014/main" id="{E0D11EA7-08FF-4B94-A7F1-FB2AA958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MISSING VOICE</a:t>
            </a:r>
          </a:p>
        </p:txBody>
      </p:sp>
      <p:sp>
        <p:nvSpPr>
          <p:cNvPr id="12" name="cb-2">
            <a:extLst xmlns:a="http://schemas.openxmlformats.org/drawingml/2006/main">
              <a:ext uri="{FF2B5EF4-FFF2-40B4-BE49-F238E27FC236}">
                <a16:creationId xmlns:a16="http://schemas.microsoft.com/office/drawing/2014/main" id="{9575B84A-5C9B-48E8-9FC7-C06E0F4F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Whose perspective is absent?</a:t>
            </a:r>
          </a:p>
        </p:txBody>
      </p:sp>
      <p:sp>
        <p:nvSpPr>
          <p:cNvPr id="13" name="crit-3">
            <a:extLst xmlns:a="http://schemas.openxmlformats.org/drawingml/2006/main">
              <a:ext uri="{FF2B5EF4-FFF2-40B4-BE49-F238E27FC236}">
                <a16:creationId xmlns:a16="http://schemas.microsoft.com/office/drawing/2014/main" id="{C7B63DC6-BCB6-4A57-923E-D0EDBA1A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4" name="ch-3">
            <a:extLst xmlns:a="http://schemas.openxmlformats.org/drawingml/2006/main">
              <a:ext uri="{FF2B5EF4-FFF2-40B4-BE49-F238E27FC236}">
                <a16:creationId xmlns:a16="http://schemas.microsoft.com/office/drawing/2014/main" id="{E6E85CF6-9FA5-41C0-815D-2473509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CONSEQUENCE</a:t>
            </a:r>
          </a:p>
        </p:txBody>
      </p:sp>
      <p:sp>
        <p:nvSpPr>
          <p:cNvPr id="15" name="cb-3">
            <a:extLst xmlns:a="http://schemas.openxmlformats.org/drawingml/2006/main">
              <a:ext uri="{FF2B5EF4-FFF2-40B4-BE49-F238E27FC236}">
                <a16:creationId xmlns:a16="http://schemas.microsoft.com/office/drawing/2014/main" id="{C1A1D911-541C-4192-9E99-9852E7D3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What could this decision enable or restrict?</a:t>
            </a:r>
          </a:p>
        </p:txBody>
      </p:sp>
      <p:sp>
        <p:nvSpPr>
          <p:cNvPr id="16" name="protocol">
            <a:extLst xmlns:a="http://schemas.openxmlformats.org/drawingml/2006/main">
              <a:ext uri="{FF2B5EF4-FFF2-40B4-BE49-F238E27FC236}">
                <a16:creationId xmlns:a16="http://schemas.microsoft.com/office/drawing/2014/main" id="{2A8281F0-692E-4729-BF1F-487E6B8C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Leave one question and one constructive suggestion for each team.</a:t>
            </a:r>
          </a:p>
        </p:txBody>
      </p:sp>
      <p:sp>
        <p:nvSpPr>
          <p:cNvPr id="17" name="n">
            <a:extLst xmlns:a="http://schemas.openxmlformats.org/drawingml/2006/main">
              <a:ext uri="{FF2B5EF4-FFF2-40B4-BE49-F238E27FC236}">
                <a16:creationId xmlns:a16="http://schemas.microsoft.com/office/drawing/2014/main" id="{8521CDB9-9F45-49C3-89C5-4EC32847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09834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98F1805-4969-42B8-8B04-AE9F900D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f6d62a0a641fe">
            <a:extLst>
              <a:ext uri="{96DAC541-7B7A-43D3-8B79-37D633B846F1}">
                <asvg:svgBlip xmlns:asvg="http://schemas.microsoft.com/office/drawing/2016/SVG/main" r:embed="Rec777f91106044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DD35E8C-BC9F-4132-A905-6648E4E3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SESSION SYNTHESIS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E1AC3D-2AE0-4150-BEE6-7EF3EBD1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Five principles to carry into every assessment design.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81519B1-E00E-4884-976D-86E4CF84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BB908BD-759D-4F20-96D6-99983E6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5139AFBC-C851-49BA-B79A-87FAF1C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CA7107E6-1536-4E37-B214-5816AA5D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pn-0">
            <a:extLst xmlns:a="http://schemas.openxmlformats.org/drawingml/2006/main">
              <a:ext uri="{FF2B5EF4-FFF2-40B4-BE49-F238E27FC236}">
                <a16:creationId xmlns:a16="http://schemas.microsoft.com/office/drawing/2014/main" id="{DF8B685C-3D58-48E8-B370-49CC88CE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pnt-0">
            <a:extLst xmlns:a="http://schemas.openxmlformats.org/drawingml/2006/main">
              <a:ext uri="{FF2B5EF4-FFF2-40B4-BE49-F238E27FC236}">
                <a16:creationId xmlns:a16="http://schemas.microsoft.com/office/drawing/2014/main" id="{800EAE33-7E3F-4344-831F-0118CF9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pt-0">
            <a:extLst xmlns:a="http://schemas.openxmlformats.org/drawingml/2006/main">
              <a:ext uri="{FF2B5EF4-FFF2-40B4-BE49-F238E27FC236}">
                <a16:creationId xmlns:a16="http://schemas.microsoft.com/office/drawing/2014/main" id="{0B5215F0-FE2A-4CD2-AC39-186C5A61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907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Assessment begins with a purpose and decision.</a:t>
            </a:r>
          </a:p>
        </p:txBody>
      </p:sp>
      <p:sp>
        <p:nvSpPr>
          <p:cNvPr id="12" name="pn-1">
            <a:extLst xmlns:a="http://schemas.openxmlformats.org/drawingml/2006/main">
              <a:ext uri="{FF2B5EF4-FFF2-40B4-BE49-F238E27FC236}">
                <a16:creationId xmlns:a16="http://schemas.microsoft.com/office/drawing/2014/main" id="{04B8D0B3-E1CF-4458-8890-3429DA1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3" name="pnt-1">
            <a:extLst xmlns:a="http://schemas.openxmlformats.org/drawingml/2006/main">
              <a:ext uri="{FF2B5EF4-FFF2-40B4-BE49-F238E27FC236}">
                <a16:creationId xmlns:a16="http://schemas.microsoft.com/office/drawing/2014/main" id="{C97E780E-5C80-4E8D-A082-F0E427F3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pt-1">
            <a:extLst xmlns:a="http://schemas.openxmlformats.org/drawingml/2006/main">
              <a:ext uri="{FF2B5EF4-FFF2-40B4-BE49-F238E27FC236}">
                <a16:creationId xmlns:a16="http://schemas.microsoft.com/office/drawing/2014/main" id="{0D38D148-C03F-465D-8018-BBF9EDAF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A test is an instrument — not the whole assessment system.</a:t>
            </a:r>
          </a:p>
        </p:txBody>
      </p:sp>
      <p:sp>
        <p:nvSpPr>
          <p:cNvPr id="15" name="pn-2">
            <a:extLst xmlns:a="http://schemas.openxmlformats.org/drawingml/2006/main">
              <a:ext uri="{FF2B5EF4-FFF2-40B4-BE49-F238E27FC236}">
                <a16:creationId xmlns:a16="http://schemas.microsoft.com/office/drawing/2014/main" id="{BE8E5002-C8F7-4849-973A-D0C7F128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6" name="pnt-2">
            <a:extLst xmlns:a="http://schemas.openxmlformats.org/drawingml/2006/main">
              <a:ext uri="{FF2B5EF4-FFF2-40B4-BE49-F238E27FC236}">
                <a16:creationId xmlns:a16="http://schemas.microsoft.com/office/drawing/2014/main" id="{B3EAEAEA-3B67-4F2F-8C69-8D8A73CC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pt-2">
            <a:extLst xmlns:a="http://schemas.openxmlformats.org/drawingml/2006/main">
              <a:ext uri="{FF2B5EF4-FFF2-40B4-BE49-F238E27FC236}">
                <a16:creationId xmlns:a16="http://schemas.microsoft.com/office/drawing/2014/main" id="{92F86049-49F6-478A-B925-F9A1A2CC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Evidence is interpreted; it does not speak for itself.</a:t>
            </a:r>
          </a:p>
        </p:txBody>
      </p:sp>
      <p:sp>
        <p:nvSpPr>
          <p:cNvPr id="18" name="pn-3">
            <a:extLst xmlns:a="http://schemas.openxmlformats.org/drawingml/2006/main">
              <a:ext uri="{FF2B5EF4-FFF2-40B4-BE49-F238E27FC236}">
                <a16:creationId xmlns:a16="http://schemas.microsoft.com/office/drawing/2014/main" id="{45661A4F-84FB-44E8-AF8D-8D326B20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9" name="pnt-3">
            <a:extLst xmlns:a="http://schemas.openxmlformats.org/drawingml/2006/main">
              <a:ext uri="{FF2B5EF4-FFF2-40B4-BE49-F238E27FC236}">
                <a16:creationId xmlns:a16="http://schemas.microsoft.com/office/drawing/2014/main" id="{64C81BF4-09C3-4049-82F8-DBFF934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pt-3">
            <a:extLst xmlns:a="http://schemas.openxmlformats.org/drawingml/2006/main">
              <a:ext uri="{FF2B5EF4-FFF2-40B4-BE49-F238E27FC236}">
                <a16:creationId xmlns:a16="http://schemas.microsoft.com/office/drawing/2014/main" id="{0970B9B1-5066-4958-911B-57FAD804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910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02B36"/>
                </a:solidFill>
              </a:defRPr>
            </a:pPr>
            <a:r>
              <a:rPr sz="1575" b="0" i="0">
                <a:solidFill>
                  <a:srgbClr val="202B36"/>
                </a:solidFill>
              </a:rPr>
              <a:t>Assessment distributes opportunities and consequences.</a:t>
            </a:r>
          </a:p>
        </p:txBody>
      </p:sp>
      <p:sp>
        <p:nvSpPr>
          <p:cNvPr id="21" name="pn-4">
            <a:extLst xmlns:a="http://schemas.openxmlformats.org/drawingml/2006/main">
              <a:ext uri="{FF2B5EF4-FFF2-40B4-BE49-F238E27FC236}">
                <a16:creationId xmlns:a16="http://schemas.microsoft.com/office/drawing/2014/main" id="{C53BA96D-DF9D-4F34-9F6B-29D4BBBB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2" name="pnt-4">
            <a:extLst xmlns:a="http://schemas.openxmlformats.org/drawingml/2006/main">
              <a:ext uri="{FF2B5EF4-FFF2-40B4-BE49-F238E27FC236}">
                <a16:creationId xmlns:a16="http://schemas.microsoft.com/office/drawing/2014/main" id="{DB5A260A-3505-4447-98C9-32B99F6D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pt-4">
            <a:extLst xmlns:a="http://schemas.openxmlformats.org/drawingml/2006/main">
              <a:ext uri="{FF2B5EF4-FFF2-40B4-BE49-F238E27FC236}">
                <a16:creationId xmlns:a16="http://schemas.microsoft.com/office/drawing/2014/main" id="{83ED686B-D289-4B34-89D6-C0F7CC17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Literacy combines knowledge, practice, judgement, and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8206325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89704838c4950">
            <a:extLst>
              <a:ext uri="{96DAC541-7B7A-43D3-8B79-37D633B846F1}">
                <asvg:svgBlip xmlns:asvg="http://schemas.microsoft.com/office/drawing/2016/SVG/main" r:embed="Rf8cac69b398c46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381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" name="k">
            <a:extLst xmlns:a="http://schemas.openxmlformats.org/drawingml/2006/main">
              <a:ext uri="{FF2B5EF4-FFF2-40B4-BE49-F238E27FC236}">
                <a16:creationId xmlns:a16="http://schemas.microsoft.com/office/drawing/2014/main" id="{643A428C-D3B2-4611-9D35-665D6132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4A72C"/>
                </a:solidFill>
              </a:defRPr>
            </a:pPr>
            <a:r>
              <a:rPr sz="1125" b="1" i="0">
                <a:solidFill>
                  <a:srgbClr val="D4A72C"/>
                </a:solidFill>
              </a:rPr>
              <a:t>EXIT TICKET</a:t>
            </a:r>
          </a:p>
        </p:txBody>
      </p:sp>
      <p:sp>
        <p:nvSpPr>
          <p:cNvPr id="3" name="t">
            <a:extLst xmlns:a="http://schemas.openxmlformats.org/drawingml/2006/main">
              <a:ext uri="{FF2B5EF4-FFF2-40B4-BE49-F238E27FC236}">
                <a16:creationId xmlns:a16="http://schemas.microsoft.com/office/drawing/2014/main" id="{CFDD1612-4986-45F4-AF43-9940386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What changed in the way you see assessment?</a:t>
            </a:r>
          </a:p>
        </p:txBody>
      </p:sp>
      <p:sp>
        <p:nvSpPr>
          <p:cNvPr id="4" name="reflect1">
            <a:extLst xmlns:a="http://schemas.openxmlformats.org/drawingml/2006/main">
              <a:ext uri="{FF2B5EF4-FFF2-40B4-BE49-F238E27FC236}">
                <a16:creationId xmlns:a16="http://schemas.microsoft.com/office/drawing/2014/main" id="{E5B45790-D6CA-41DF-88F3-27FD5753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5" name="reflect1-title">
            <a:extLst xmlns:a="http://schemas.openxmlformats.org/drawingml/2006/main">
              <a:ext uri="{FF2B5EF4-FFF2-40B4-BE49-F238E27FC236}">
                <a16:creationId xmlns:a16="http://schemas.microsoft.com/office/drawing/2014/main" id="{656AFBD7-FD5C-4D84-9CA8-889F744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ONE SHIFT</a:t>
            </a:r>
          </a:p>
        </p:txBody>
      </p:sp>
      <p:sp>
        <p:nvSpPr>
          <p:cNvPr id="6" name="reflect1-body">
            <a:extLst xmlns:a="http://schemas.openxmlformats.org/drawingml/2006/main">
              <a:ext uri="{FF2B5EF4-FFF2-40B4-BE49-F238E27FC236}">
                <a16:creationId xmlns:a16="http://schemas.microsoft.com/office/drawing/2014/main" id="{606C4167-EDF1-47C4-AD6F-C535C654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A belief or assumption you reconsidered</a:t>
            </a:r>
          </a:p>
        </p:txBody>
      </p:sp>
      <p:sp>
        <p:nvSpPr>
          <p:cNvPr id="7" name="reflect2">
            <a:extLst xmlns:a="http://schemas.openxmlformats.org/drawingml/2006/main">
              <a:ext uri="{FF2B5EF4-FFF2-40B4-BE49-F238E27FC236}">
                <a16:creationId xmlns:a16="http://schemas.microsoft.com/office/drawing/2014/main" id="{CE120490-FB56-4FD2-842A-DF2166A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8" name="reflect2-title">
            <a:extLst xmlns:a="http://schemas.openxmlformats.org/drawingml/2006/main">
              <a:ext uri="{FF2B5EF4-FFF2-40B4-BE49-F238E27FC236}">
                <a16:creationId xmlns:a16="http://schemas.microsoft.com/office/drawing/2014/main" id="{12FC7924-9645-4253-9715-B348E3D2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ONE QUESTION</a:t>
            </a:r>
          </a:p>
        </p:txBody>
      </p:sp>
      <p:sp>
        <p:nvSpPr>
          <p:cNvPr id="9" name="reflect2-body">
            <a:extLst xmlns:a="http://schemas.openxmlformats.org/drawingml/2006/main">
              <a:ext uri="{FF2B5EF4-FFF2-40B4-BE49-F238E27FC236}">
                <a16:creationId xmlns:a16="http://schemas.microsoft.com/office/drawing/2014/main" id="{A74106D0-ED8F-460C-95E9-7CD4EFAD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2781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Something you still need to understand</a:t>
            </a:r>
          </a:p>
        </p:txBody>
      </p:sp>
      <p:sp>
        <p:nvSpPr>
          <p:cNvPr id="10" name="reflect3">
            <a:extLst xmlns:a="http://schemas.openxmlformats.org/drawingml/2006/main">
              <a:ext uri="{FF2B5EF4-FFF2-40B4-BE49-F238E27FC236}">
                <a16:creationId xmlns:a16="http://schemas.microsoft.com/office/drawing/2014/main" id="{B74CD81D-A44A-4F6E-8219-0D954DB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1" name="reflect3-title">
            <a:extLst xmlns:a="http://schemas.openxmlformats.org/drawingml/2006/main">
              <a:ext uri="{FF2B5EF4-FFF2-40B4-BE49-F238E27FC236}">
                <a16:creationId xmlns:a16="http://schemas.microsoft.com/office/drawing/2014/main" id="{A72F6748-28E1-43FC-8142-1B054001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727E"/>
                </a:solidFill>
              </a:defRPr>
            </a:pPr>
            <a:r>
              <a:rPr sz="1500" b="1" i="0">
                <a:solidFill>
                  <a:srgbClr val="18727E"/>
                </a:solidFill>
              </a:rPr>
              <a:t>ONE DESIGN MOVE</a:t>
            </a:r>
          </a:p>
        </p:txBody>
      </p:sp>
      <p:sp>
        <p:nvSpPr>
          <p:cNvPr id="12" name="reflect3-body">
            <a:extLst xmlns:a="http://schemas.openxmlformats.org/drawingml/2006/main">
              <a:ext uri="{FF2B5EF4-FFF2-40B4-BE49-F238E27FC236}">
                <a16:creationId xmlns:a16="http://schemas.microsoft.com/office/drawing/2014/main" id="{6F75449B-983E-4CA5-B545-20837D44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781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B36"/>
                </a:solidFill>
              </a:defRPr>
            </a:pPr>
            <a:r>
              <a:rPr sz="1275" b="0" i="0">
                <a:solidFill>
                  <a:srgbClr val="202B36"/>
                </a:solidFill>
              </a:rPr>
              <a:t>An action you will take differently</a:t>
            </a:r>
          </a:p>
        </p:txBody>
      </p:sp>
      <p:sp>
        <p:nvSpPr>
          <p:cNvPr id="13" name="submit">
            <a:extLst xmlns:a="http://schemas.openxmlformats.org/drawingml/2006/main">
              <a:ext uri="{FF2B5EF4-FFF2-40B4-BE49-F238E27FC236}">
                <a16:creationId xmlns:a16="http://schemas.microsoft.com/office/drawing/2014/main" id="{CFCB586D-C21D-411B-9F47-35343D5A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659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D4A72C"/>
                </a:solidFill>
              </a:defRPr>
            </a:pPr>
            <a:r>
              <a:rPr sz="1725" b="1" i="0">
                <a:solidFill>
                  <a:srgbClr val="D4A72C"/>
                </a:solidFill>
              </a:rPr>
              <a:t>Submit individually before leaving the session.</a:t>
            </a:r>
          </a:p>
        </p:txBody>
      </p:sp>
      <p:sp>
        <p:nvSpPr>
          <p:cNvPr id="14" name="n">
            <a:extLst xmlns:a="http://schemas.openxmlformats.org/drawingml/2006/main">
              <a:ext uri="{FF2B5EF4-FFF2-40B4-BE49-F238E27FC236}">
                <a16:creationId xmlns:a16="http://schemas.microsoft.com/office/drawing/2014/main" id="{AF50E84C-3ED6-4DBA-A790-0312153B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944325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E643A75-6C39-45C0-AA6A-E0DC9BF5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1feaffe874152">
            <a:extLst>
              <a:ext uri="{96DAC541-7B7A-43D3-8B79-37D633B846F1}">
                <asvg:svgBlip xmlns:asvg="http://schemas.microsoft.com/office/drawing/2016/SVG/main" r:embed="Rf58c83dbce9f45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103E2CC-C184-45E1-BF75-DCA54B9A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7FEB54-8A42-4FB9-91D7-DB792BE2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Next: language ability, constructs, and the social dimensions of assessment.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66477AE-3888-4849-BF28-12014823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E408A53-7C10-4634-BA31-5F324704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</a:t>
            </a:r>
          </a:p>
        </p:txBody>
      </p:sp>
      <p:sp>
        <p:nvSpPr>
          <p:cNvPr id="7" name="footer-class">
            <a:extLst xmlns:a="http://schemas.openxmlformats.org/drawingml/2006/main">
              <a:ext uri="{FF2B5EF4-FFF2-40B4-BE49-F238E27FC236}">
                <a16:creationId xmlns:a16="http://schemas.microsoft.com/office/drawing/2014/main" id="{C60CE66A-BC54-4DA7-966C-C0EE4AD3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1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08718BCB-2D1E-4BCC-AD8D-4CF6B8BC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next">
            <a:extLst xmlns:a="http://schemas.openxmlformats.org/drawingml/2006/main">
              <a:ext uri="{FF2B5EF4-FFF2-40B4-BE49-F238E27FC236}">
                <a16:creationId xmlns:a16="http://schemas.microsoft.com/office/drawing/2014/main" id="{14500151-5480-4197-99C8-BEB6A668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ead">
            <a:extLst xmlns:a="http://schemas.openxmlformats.org/drawingml/2006/main">
              <a:ext uri="{FF2B5EF4-FFF2-40B4-BE49-F238E27FC236}">
                <a16:creationId xmlns:a16="http://schemas.microsoft.com/office/drawing/2014/main" id="{63AD355A-8772-4EA2-BFE9-986A964E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READ</a:t>
            </a:r>
          </a:p>
        </p:txBody>
      </p:sp>
      <p:sp>
        <p:nvSpPr>
          <p:cNvPr id="11" name="readb">
            <a:extLst xmlns:a="http://schemas.openxmlformats.org/drawingml/2006/main">
              <a:ext uri="{FF2B5EF4-FFF2-40B4-BE49-F238E27FC236}">
                <a16:creationId xmlns:a16="http://schemas.microsoft.com/office/drawing/2014/main" id="{A1B3802C-1AB8-44C7-ACD7-F954F57E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Phakiti &amp; Leung (2024), Section 3, pp. 10–23</a:t>
            </a:r>
          </a:p>
        </p:txBody>
      </p:sp>
      <p:sp>
        <p:nvSpPr>
          <p:cNvPr id="12" name="bring">
            <a:extLst xmlns:a="http://schemas.openxmlformats.org/drawingml/2006/main">
              <a:ext uri="{FF2B5EF4-FFF2-40B4-BE49-F238E27FC236}">
                <a16:creationId xmlns:a16="http://schemas.microsoft.com/office/drawing/2014/main" id="{5FBE7F87-2FA4-42FF-BEE3-90F73C0B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BRING</a:t>
            </a:r>
          </a:p>
        </p:txBody>
      </p:sp>
      <p:sp>
        <p:nvSpPr>
          <p:cNvPr id="13" name="bringb">
            <a:extLst xmlns:a="http://schemas.openxmlformats.org/drawingml/2006/main">
              <a:ext uri="{FF2B5EF4-FFF2-40B4-BE49-F238E27FC236}">
                <a16:creationId xmlns:a16="http://schemas.microsoft.com/office/drawing/2014/main" id="{7B9EA276-FED3-48E6-891A-CB0B9ACD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One speaking or writing assessment from your professional context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269D5ED-8DE0-4F41-9103-39160BF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estion2">
            <a:extLst xmlns:a="http://schemas.openxmlformats.org/drawingml/2006/main">
              <a:ext uri="{FF2B5EF4-FFF2-40B4-BE49-F238E27FC236}">
                <a16:creationId xmlns:a16="http://schemas.microsoft.com/office/drawing/2014/main" id="{360BA44C-900A-4DC1-A305-2CEB905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Be ready to answer: What exactly does this assessment claim to measure?</a:t>
            </a:r>
          </a:p>
        </p:txBody>
      </p:sp>
      <p:sp>
        <p:nvSpPr>
          <p:cNvPr id="16" name="close">
            <a:extLst xmlns:a="http://schemas.openxmlformats.org/drawingml/2006/main">
              <a:ext uri="{FF2B5EF4-FFF2-40B4-BE49-F238E27FC236}">
                <a16:creationId xmlns:a16="http://schemas.microsoft.com/office/drawing/2014/main" id="{2A02B65B-51F8-4CC2-9572-436C1B35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95950"/>
            <a:ext cx="796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8727E"/>
                </a:solidFill>
              </a:defRPr>
            </a:pPr>
            <a:r>
              <a:rPr sz="1725" b="1" i="0">
                <a:solidFill>
                  <a:srgbClr val="18727E"/>
                </a:solidFill>
              </a:rPr>
              <a:t>Assessment design begins by asking better questions.</a:t>
            </a:r>
          </a:p>
        </p:txBody>
      </p:sp>
    </p:spTree>
    <p:extLst>
      <p:ext uri="{BB962C8B-B14F-4D97-AF65-F5344CB8AC3E}">
        <p14:creationId xmlns:p14="http://schemas.microsoft.com/office/powerpoint/2010/main" val="1674175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2026-07-13T10:44:22.7450000Z</dcterms:created>
  <dcterms:modified xsi:type="dcterms:W3CDTF">2026-07-13T10:44:22.7450000Z</dcterms:modified>
</coreProperties>
</file>