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b5f9ef8a84c8a" /><Relationship Type="http://schemas.openxmlformats.org/officeDocument/2006/relationships/extended-properties" Target="/docProps/app.xml" Id="R979c03494a214380" /><Relationship Type="http://schemas.openxmlformats.org/officeDocument/2006/relationships/officeDocument" Target="/ppt/presentation.xml" Id="R9a61ec28ed5645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9a557ab8740c6"/>
  </p:sldMasterIdLst>
  <p:notesMasterIdLst>
    <p:notesMasterId xmlns:r="http://schemas.openxmlformats.org/officeDocument/2006/relationships" r:id="R36bf4f1b84fe4dcd"/>
  </p:notesMasterIdLst>
  <p:sldIdLst>
    <p:sldId xmlns:r="http://schemas.openxmlformats.org/officeDocument/2006/relationships" id="256" r:id="R325a82b381014988"/>
    <p:sldId xmlns:r="http://schemas.openxmlformats.org/officeDocument/2006/relationships" id="257" r:id="R0fad4304e8534529"/>
    <p:sldId xmlns:r="http://schemas.openxmlformats.org/officeDocument/2006/relationships" id="258" r:id="R4f1bb00899fe47f0"/>
    <p:sldId xmlns:r="http://schemas.openxmlformats.org/officeDocument/2006/relationships" id="259" r:id="R8cdaaa23c9c0415e"/>
    <p:sldId xmlns:r="http://schemas.openxmlformats.org/officeDocument/2006/relationships" id="260" r:id="R3dee3949efd24d98"/>
    <p:sldId xmlns:r="http://schemas.openxmlformats.org/officeDocument/2006/relationships" id="261" r:id="R596c6027208b47cd"/>
    <p:sldId xmlns:r="http://schemas.openxmlformats.org/officeDocument/2006/relationships" id="262" r:id="R87866ce160f84c48"/>
    <p:sldId xmlns:r="http://schemas.openxmlformats.org/officeDocument/2006/relationships" id="263" r:id="Rb5f48367aa6b47f0"/>
    <p:sldId xmlns:r="http://schemas.openxmlformats.org/officeDocument/2006/relationships" id="264" r:id="R1b174ee862dc45b0"/>
    <p:sldId xmlns:r="http://schemas.openxmlformats.org/officeDocument/2006/relationships" id="265" r:id="R54b23cd393d74253"/>
    <p:sldId xmlns:r="http://schemas.openxmlformats.org/officeDocument/2006/relationships" id="266" r:id="R31d47664d02d4c39"/>
    <p:sldId xmlns:r="http://schemas.openxmlformats.org/officeDocument/2006/relationships" id="267" r:id="Reda1d594f7684c30"/>
    <p:sldId xmlns:r="http://schemas.openxmlformats.org/officeDocument/2006/relationships" id="268" r:id="Rc37d360456364669"/>
    <p:sldId xmlns:r="http://schemas.openxmlformats.org/officeDocument/2006/relationships" id="269" r:id="Re68d923bf7784d3e"/>
    <p:sldId xmlns:r="http://schemas.openxmlformats.org/officeDocument/2006/relationships" id="270" r:id="Rca2e8a3ab03a4c68"/>
    <p:sldId xmlns:r="http://schemas.openxmlformats.org/officeDocument/2006/relationships" id="271" r:id="R3903114dfc3a4973"/>
    <p:sldId xmlns:r="http://schemas.openxmlformats.org/officeDocument/2006/relationships" id="272" r:id="R6b273c758ea243e8"/>
    <p:sldId xmlns:r="http://schemas.openxmlformats.org/officeDocument/2006/relationships" id="273" r:id="Ra7e6b8b3562c4c71"/>
    <p:sldId xmlns:r="http://schemas.openxmlformats.org/officeDocument/2006/relationships" id="274" r:id="R6303eac1eae64013"/>
    <p:sldId xmlns:r="http://schemas.openxmlformats.org/officeDocument/2006/relationships" id="275" r:id="R05edf2545d2548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516a6b4a44747" /><Relationship Type="http://schemas.openxmlformats.org/officeDocument/2006/relationships/slideMaster" Target="/ppt/slideMasters/slideMaster1.xml" Id="Rd159a557ab8740c6" /><Relationship Type="http://schemas.openxmlformats.org/officeDocument/2006/relationships/notesMaster" Target="/ppt/notesMasters/notesMaster1.xml" Id="R36bf4f1b84fe4dcd" /><Relationship Type="http://schemas.openxmlformats.org/officeDocument/2006/relationships/presProps" Target="/ppt/presProps.xml" Id="R6dcd9b367cbc48ec" /><Relationship Type="http://schemas.openxmlformats.org/officeDocument/2006/relationships/tableStyles" Target="/ppt/tableStyles.xml" Id="R6e714540e58f4e2a" /><Relationship Type="http://schemas.openxmlformats.org/officeDocument/2006/relationships/slide" Target="/ppt/slides/slide1.xml" Id="R325a82b381014988" /><Relationship Type="http://schemas.openxmlformats.org/officeDocument/2006/relationships/slide" Target="/ppt/slides/slide2.xml" Id="R0fad4304e8534529" /><Relationship Type="http://schemas.openxmlformats.org/officeDocument/2006/relationships/slide" Target="/ppt/slides/slide3.xml" Id="R4f1bb00899fe47f0" /><Relationship Type="http://schemas.openxmlformats.org/officeDocument/2006/relationships/slide" Target="/ppt/slides/slide4.xml" Id="R8cdaaa23c9c0415e" /><Relationship Type="http://schemas.openxmlformats.org/officeDocument/2006/relationships/slide" Target="/ppt/slides/slide5.xml" Id="R3dee3949efd24d98" /><Relationship Type="http://schemas.openxmlformats.org/officeDocument/2006/relationships/slide" Target="/ppt/slides/slide6.xml" Id="R596c6027208b47cd" /><Relationship Type="http://schemas.openxmlformats.org/officeDocument/2006/relationships/slide" Target="/ppt/slides/slide7.xml" Id="R87866ce160f84c48" /><Relationship Type="http://schemas.openxmlformats.org/officeDocument/2006/relationships/slide" Target="/ppt/slides/slide8.xml" Id="Rb5f48367aa6b47f0" /><Relationship Type="http://schemas.openxmlformats.org/officeDocument/2006/relationships/slide" Target="/ppt/slides/slide9.xml" Id="R1b174ee862dc45b0" /><Relationship Type="http://schemas.openxmlformats.org/officeDocument/2006/relationships/slide" Target="/ppt/slides/slide10.xml" Id="R54b23cd393d74253" /><Relationship Type="http://schemas.openxmlformats.org/officeDocument/2006/relationships/slide" Target="/ppt/slides/slide11.xml" Id="R31d47664d02d4c39" /><Relationship Type="http://schemas.openxmlformats.org/officeDocument/2006/relationships/slide" Target="/ppt/slides/slide12.xml" Id="Reda1d594f7684c30" /><Relationship Type="http://schemas.openxmlformats.org/officeDocument/2006/relationships/slide" Target="/ppt/slides/slide13.xml" Id="Rc37d360456364669" /><Relationship Type="http://schemas.openxmlformats.org/officeDocument/2006/relationships/slide" Target="/ppt/slides/slide14.xml" Id="Re68d923bf7784d3e" /><Relationship Type="http://schemas.openxmlformats.org/officeDocument/2006/relationships/slide" Target="/ppt/slides/slide15.xml" Id="Rca2e8a3ab03a4c68" /><Relationship Type="http://schemas.openxmlformats.org/officeDocument/2006/relationships/slide" Target="/ppt/slides/slide16.xml" Id="R3903114dfc3a4973" /><Relationship Type="http://schemas.openxmlformats.org/officeDocument/2006/relationships/slide" Target="/ppt/slides/slide17.xml" Id="R6b273c758ea243e8" /><Relationship Type="http://schemas.openxmlformats.org/officeDocument/2006/relationships/slide" Target="/ppt/slides/slide18.xml" Id="Ra7e6b8b3562c4c71" /><Relationship Type="http://schemas.openxmlformats.org/officeDocument/2006/relationships/slide" Target="/ppt/slides/slide19.xml" Id="R6303eac1eae64013" /><Relationship Type="http://schemas.openxmlformats.org/officeDocument/2006/relationships/slide" Target="/ppt/slides/slide20.xml" Id="R05edf2545d25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ff13d0a1da49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24c1d659264aaf" /><Relationship Type="http://schemas.openxmlformats.org/officeDocument/2006/relationships/notesMaster" Target="/ppt/notesMasters/notesMaster1.xml" Id="R900ef702b55546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9d03e5ac74f01" /><Relationship Type="http://schemas.openxmlformats.org/officeDocument/2006/relationships/notesMaster" Target="/ppt/notesMasters/notesMaster1.xml" Id="R6267568a94bb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62f055e0f84c9c" /><Relationship Type="http://schemas.openxmlformats.org/officeDocument/2006/relationships/notesMaster" Target="/ppt/notesMasters/notesMaster1.xml" Id="R6bcbe630c872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3818866ca948dd" /><Relationship Type="http://schemas.openxmlformats.org/officeDocument/2006/relationships/notesMaster" Target="/ppt/notesMasters/notesMaster1.xml" Id="Ra91ee34f516f4b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ef607b78e64950" /><Relationship Type="http://schemas.openxmlformats.org/officeDocument/2006/relationships/notesMaster" Target="/ppt/notesMasters/notesMaster1.xml" Id="R3bd2035a2825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f2572238be43cf" /><Relationship Type="http://schemas.openxmlformats.org/officeDocument/2006/relationships/notesMaster" Target="/ppt/notesMasters/notesMaster1.xml" Id="R46e0472b0def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1351f179344356" /><Relationship Type="http://schemas.openxmlformats.org/officeDocument/2006/relationships/notesMaster" Target="/ppt/notesMasters/notesMaster1.xml" Id="R5e13e504309749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774508c4784ad4" /><Relationship Type="http://schemas.openxmlformats.org/officeDocument/2006/relationships/notesMaster" Target="/ppt/notesMasters/notesMaster1.xml" Id="Rfd1bec2defd045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28cc7eaac647c1" /><Relationship Type="http://schemas.openxmlformats.org/officeDocument/2006/relationships/notesMaster" Target="/ppt/notesMasters/notesMaster1.xml" Id="Rbe0771e8333a4b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a94b71be84462b" /><Relationship Type="http://schemas.openxmlformats.org/officeDocument/2006/relationships/notesMaster" Target="/ppt/notesMasters/notesMaster1.xml" Id="Rc5c4cae23b1d45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fcb5f6adbe4487" /><Relationship Type="http://schemas.openxmlformats.org/officeDocument/2006/relationships/notesMaster" Target="/ppt/notesMasters/notesMaster1.xml" Id="Ra417e9fca1e443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617a37c6bb42a6" /><Relationship Type="http://schemas.openxmlformats.org/officeDocument/2006/relationships/notesMaster" Target="/ppt/notesMasters/notesMaster1.xml" Id="Raac4c639e66a44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4f07a5c834100" /><Relationship Type="http://schemas.openxmlformats.org/officeDocument/2006/relationships/notesMaster" Target="/ppt/notesMasters/notesMaster1.xml" Id="R8ad0c451c1bf47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91dba1af134795" /><Relationship Type="http://schemas.openxmlformats.org/officeDocument/2006/relationships/notesMaster" Target="/ppt/notesMasters/notesMaster1.xml" Id="Rc59f761dba3740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c08279e51447ae" /><Relationship Type="http://schemas.openxmlformats.org/officeDocument/2006/relationships/notesMaster" Target="/ppt/notesMasters/notesMaster1.xml" Id="Rceeea86ebf7b44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0effd62e4b45ac" /><Relationship Type="http://schemas.openxmlformats.org/officeDocument/2006/relationships/notesMaster" Target="/ppt/notesMasters/notesMaster1.xml" Id="R356a37e3fcc441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123774a9e94498" /><Relationship Type="http://schemas.openxmlformats.org/officeDocument/2006/relationships/notesMaster" Target="/ppt/notesMasters/notesMaster1.xml" Id="R831467d6f5ae4f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e437ef0d8643fb" /><Relationship Type="http://schemas.openxmlformats.org/officeDocument/2006/relationships/notesMaster" Target="/ppt/notesMasters/notesMaster1.xml" Id="R743ffbf0adcd4b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57153c32ff420c" /><Relationship Type="http://schemas.openxmlformats.org/officeDocument/2006/relationships/notesMaster" Target="/ppt/notesMasters/notesMaster1.xml" Id="Rdf4dd6bf299c49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0088a661dc4b97" /><Relationship Type="http://schemas.openxmlformats.org/officeDocument/2006/relationships/notesMaster" Target="/ppt/notesMasters/notesMaster1.xml" Id="Rbc90e52fa00444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dd914ac91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61d56fbb784bf3" /><Relationship Type="http://schemas.openxmlformats.org/officeDocument/2006/relationships/slideLayout" Target="/ppt/slideLayouts/slideLayout1.xml" Id="Rb9e92afc82f24a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e92afc82f24a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20e7a58b492a" /><Relationship Type="http://schemas.openxmlformats.org/officeDocument/2006/relationships/notesSlide" Target="/ppt/notesSlides/notesSlide1.xml" Id="R0b122e73d1b64f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d876e1eee436b" /><Relationship Type="http://schemas.openxmlformats.org/officeDocument/2006/relationships/image" Target="/ppt/media/image.png" Id="Rb02f426bbc374bc0" /><Relationship Type="http://schemas.openxmlformats.org/officeDocument/2006/relationships/image" Target="/ppt/media/image.svg" Id="R0a0d9a800f0241aa" /><Relationship Type="http://schemas.openxmlformats.org/officeDocument/2006/relationships/notesSlide" Target="/ppt/notesSlides/notesSlide2.xml" Id="R020a53d4651b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a305f1a004160" /><Relationship Type="http://schemas.openxmlformats.org/officeDocument/2006/relationships/image" Target="/ppt/media/image2.png" Id="Ra0c7fc824b3e47a9" /><Relationship Type="http://schemas.openxmlformats.org/officeDocument/2006/relationships/image" Target="/ppt/media/image2.svg" Id="R1bf569185d154e81" /><Relationship Type="http://schemas.openxmlformats.org/officeDocument/2006/relationships/notesSlide" Target="/ppt/notesSlides/notesSlide3.xml" Id="Rb0fdce68f02c4c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5ed3ff02147e8" /><Relationship Type="http://schemas.openxmlformats.org/officeDocument/2006/relationships/image" Target="/ppt/media/image3.png" Id="R65aba375c7b64ab7" /><Relationship Type="http://schemas.openxmlformats.org/officeDocument/2006/relationships/image" Target="/ppt/media/image3.svg" Id="R144deeae34a549d1" /><Relationship Type="http://schemas.openxmlformats.org/officeDocument/2006/relationships/notesSlide" Target="/ppt/notesSlides/notesSlide4.xml" Id="R805f8c428c76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df68eaf52409f" /><Relationship Type="http://schemas.openxmlformats.org/officeDocument/2006/relationships/image" Target="/ppt/media/image4.png" Id="R6c4205f3dbb74c31" /><Relationship Type="http://schemas.openxmlformats.org/officeDocument/2006/relationships/image" Target="/ppt/media/image4.svg" Id="R728fc72c678e4cf1" /><Relationship Type="http://schemas.openxmlformats.org/officeDocument/2006/relationships/notesSlide" Target="/ppt/notesSlides/notesSlide5.xml" Id="R610d3179f8d946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0b0dde189497b" /><Relationship Type="http://schemas.openxmlformats.org/officeDocument/2006/relationships/image" Target="/ppt/media/image5.png" Id="Rf7b60cc03e24472c" /><Relationship Type="http://schemas.openxmlformats.org/officeDocument/2006/relationships/image" Target="/ppt/media/image5.svg" Id="Rd63bb218cc784755" /><Relationship Type="http://schemas.openxmlformats.org/officeDocument/2006/relationships/notesSlide" Target="/ppt/notesSlides/notesSlide6.xml" Id="R19223f7564a746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83dc558024fd3" /><Relationship Type="http://schemas.openxmlformats.org/officeDocument/2006/relationships/image" Target="/ppt/media/image6.png" Id="R42d149f6e5904a3e" /><Relationship Type="http://schemas.openxmlformats.org/officeDocument/2006/relationships/image" Target="/ppt/media/image6.svg" Id="Rece834ad9fdd41d1" /><Relationship Type="http://schemas.openxmlformats.org/officeDocument/2006/relationships/notesSlide" Target="/ppt/notesSlides/notesSlide7.xml" Id="R332b24b229774c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71f823c014768" /><Relationship Type="http://schemas.openxmlformats.org/officeDocument/2006/relationships/image" Target="/ppt/media/image7.png" Id="R6a0af5ce453446f6" /><Relationship Type="http://schemas.openxmlformats.org/officeDocument/2006/relationships/image" Target="/ppt/media/image7.svg" Id="R37cfcc4af1a6407d" /><Relationship Type="http://schemas.openxmlformats.org/officeDocument/2006/relationships/notesSlide" Target="/ppt/notesSlides/notesSlide8.xml" Id="R71aa159086b849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0dbacc135418d" /><Relationship Type="http://schemas.openxmlformats.org/officeDocument/2006/relationships/image" Target="/ppt/media/image8.png" Id="R0aa227b6ae2c43c6" /><Relationship Type="http://schemas.openxmlformats.org/officeDocument/2006/relationships/image" Target="/ppt/media/image8.svg" Id="R88c1c26f51304878" /><Relationship Type="http://schemas.openxmlformats.org/officeDocument/2006/relationships/notesSlide" Target="/ppt/notesSlides/notesSlide9.xml" Id="R7ec932f3957e48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b94b46b3241eb" /><Relationship Type="http://schemas.openxmlformats.org/officeDocument/2006/relationships/image" Target="/ppt/media/image9.png" Id="Ra9a1301227ec441f" /><Relationship Type="http://schemas.openxmlformats.org/officeDocument/2006/relationships/image" Target="/ppt/media/image9.svg" Id="R5876e82dd8f8475b" /><Relationship Type="http://schemas.openxmlformats.org/officeDocument/2006/relationships/notesSlide" Target="/ppt/notesSlides/notesSlide10.xml" Id="R05668e53013c48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c7a5266ad4d7f" /><Relationship Type="http://schemas.openxmlformats.org/officeDocument/2006/relationships/image" Target="/ppt/media/image10.png" Id="Re5e2abfe4af54016" /><Relationship Type="http://schemas.openxmlformats.org/officeDocument/2006/relationships/image" Target="/ppt/media/image10.svg" Id="R5af7dba054eb45f8" /><Relationship Type="http://schemas.openxmlformats.org/officeDocument/2006/relationships/notesSlide" Target="/ppt/notesSlides/notesSlide11.xml" Id="R00bf48af226447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fee1af3c84be1" /><Relationship Type="http://schemas.openxmlformats.org/officeDocument/2006/relationships/image" Target="/ppt/media/image11.png" Id="R0fb5d09b5113470a" /><Relationship Type="http://schemas.openxmlformats.org/officeDocument/2006/relationships/image" Target="/ppt/media/image11.svg" Id="Ra8d4067882a1471c" /><Relationship Type="http://schemas.openxmlformats.org/officeDocument/2006/relationships/notesSlide" Target="/ppt/notesSlides/notesSlide12.xml" Id="R46467d6e3ca34c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a5e8e853b4cfd" /><Relationship Type="http://schemas.openxmlformats.org/officeDocument/2006/relationships/image" Target="/ppt/media/image12.png" Id="R1918c7f3e6564953" /><Relationship Type="http://schemas.openxmlformats.org/officeDocument/2006/relationships/image" Target="/ppt/media/image12.svg" Id="Re5ddb65616d14557" /><Relationship Type="http://schemas.openxmlformats.org/officeDocument/2006/relationships/notesSlide" Target="/ppt/notesSlides/notesSlide13.xml" Id="Rcca623afd2b64f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fc916e7ad4981" /><Relationship Type="http://schemas.openxmlformats.org/officeDocument/2006/relationships/image" Target="/ppt/media/image13.png" Id="R93afc7f44645465e" /><Relationship Type="http://schemas.openxmlformats.org/officeDocument/2006/relationships/image" Target="/ppt/media/image13.svg" Id="Rd4c167151ddd4462" /><Relationship Type="http://schemas.openxmlformats.org/officeDocument/2006/relationships/notesSlide" Target="/ppt/notesSlides/notesSlide14.xml" Id="R5461a7e6f8e644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3ad7c050457c" /><Relationship Type="http://schemas.openxmlformats.org/officeDocument/2006/relationships/image" Target="/ppt/media/image14.png" Id="Rfdb4ec7c522243b6" /><Relationship Type="http://schemas.openxmlformats.org/officeDocument/2006/relationships/image" Target="/ppt/media/image14.svg" Id="R91bcb8e5eaa34385" /><Relationship Type="http://schemas.openxmlformats.org/officeDocument/2006/relationships/notesSlide" Target="/ppt/notesSlides/notesSlide15.xml" Id="R1a22c37a15a94b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1f9506d7c4dee" /><Relationship Type="http://schemas.openxmlformats.org/officeDocument/2006/relationships/image" Target="/ppt/media/image15.png" Id="R2a45dafc607a449c" /><Relationship Type="http://schemas.openxmlformats.org/officeDocument/2006/relationships/image" Target="/ppt/media/image15.svg" Id="Rb1f4921d35134abc" /><Relationship Type="http://schemas.openxmlformats.org/officeDocument/2006/relationships/notesSlide" Target="/ppt/notesSlides/notesSlide16.xml" Id="Rc8298da7396346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41b542cd34cbf" /><Relationship Type="http://schemas.openxmlformats.org/officeDocument/2006/relationships/image" Target="/ppt/media/image16.png" Id="Ra3223a8e25554598" /><Relationship Type="http://schemas.openxmlformats.org/officeDocument/2006/relationships/image" Target="/ppt/media/image16.svg" Id="Rc9611d3605de4c5a" /><Relationship Type="http://schemas.openxmlformats.org/officeDocument/2006/relationships/notesSlide" Target="/ppt/notesSlides/notesSlide17.xml" Id="Ra8d2cfcad5794c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0c6e3a0084af4" /><Relationship Type="http://schemas.openxmlformats.org/officeDocument/2006/relationships/image" Target="/ppt/media/image17.png" Id="R7e68412249e7478a" /><Relationship Type="http://schemas.openxmlformats.org/officeDocument/2006/relationships/image" Target="/ppt/media/image17.svg" Id="Rc9149a40b8874fdd" /><Relationship Type="http://schemas.openxmlformats.org/officeDocument/2006/relationships/notesSlide" Target="/ppt/notesSlides/notesSlide18.xml" Id="R5762de821eef45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65c5304e4463c" /><Relationship Type="http://schemas.openxmlformats.org/officeDocument/2006/relationships/image" Target="/ppt/media/image18.png" Id="R16c02dff1e144999" /><Relationship Type="http://schemas.openxmlformats.org/officeDocument/2006/relationships/image" Target="/ppt/media/image18.svg" Id="Rc4dbaffd529544a5" /><Relationship Type="http://schemas.openxmlformats.org/officeDocument/2006/relationships/notesSlide" Target="/ppt/notesSlides/notesSlide19.xml" Id="Rdf378255372043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16d395874298" /><Relationship Type="http://schemas.openxmlformats.org/officeDocument/2006/relationships/image" Target="/ppt/media/image19.png" Id="Rf50b72e0963d4381" /><Relationship Type="http://schemas.openxmlformats.org/officeDocument/2006/relationships/image" Target="/ppt/media/image19.svg" Id="R57edc2725b714bea" /><Relationship Type="http://schemas.openxmlformats.org/officeDocument/2006/relationships/notesSlide" Target="/ppt/notesSlides/notesSlide20.xml" Id="R7334f412b2d0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76D00EC7-61D6-41E1-B85F-AA4B94C5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DFC71F06-4D76-48AA-8F99-967FF67B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8257BC3E-9231-46AB-9BA0-6FB118F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22CFE76-CBA8-4865-8E45-7CD16EB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7E4834D6-2492-480A-AA97-692DA394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2CA639-6073-42B3-8252-2649926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ENGINEER BETTER EVIDENCE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CONTROL ERROR • IMPROVE THE PROTOTYPE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E0684809-DAD9-41BB-88A7-E254795D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Technical quality protects the path from intended processing to defensible evidence.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14D2A9C2-2977-439D-8CAE-7DEADCC4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2EE8F844-C8B5-483D-853F-79F2856B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F4068A13-5321-456F-B58B-9A2E1A1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 5.3 &amp; 6.1.6, pp. 38–61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E77F5BA8-9A59-4E11-985D-1528235D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6283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AAC75AC-FA86-4BA9-9149-003C495A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f426bbc374bc0">
            <a:extLst>
              <a:ext uri="{96DAC541-7B7A-43D3-8B79-37D633B846F1}">
                <asvg:svgBlip xmlns:asvg="http://schemas.microsoft.com/office/drawing/2016/SVG/main" r:embed="R0a0d9a800f0241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14E47BC-C856-48DE-9053-2548170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02AEA7-55BD-4A26-B529-BA1F5195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Which Item Is Better—and What Does “Better” Mean?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4FFACEA-79F4-49A5-A7CF-67AF6706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C5C05C4-B223-4135-A88E-EAB277EC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pre-instruction diagnostic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E94FADD-7382-4738-AC35-9F98EEF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3706A4E-3AD8-48AE-A504-1162083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661C01D8-ED13-4016-B7FF-0B4E6CCD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B5656338-0D11-4473-B860-B837587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Capture the criteria students spontaneously use to judge item quality.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5FDD2CD0-37F8-479D-91E3-E330B3CC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3867FDED-D692-4339-BD94-9E98D44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61817EA-3B6F-4C86-86C0-B43EA2AB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ITEM A: flawed mechanics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A9874FA8-5CF2-4F8E-8C96-6F3B91B7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592454DE-2380-4BA7-AEF8-C9E82AF5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48C14A54-07E1-4930-8807-C6844B32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ITEM B: clean mechanics, weak alignment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00E084C5-B054-4778-BAFC-46EB3E3A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20B91073-A779-4D9F-9033-7CCBAADE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5A405D5D-FFB5-4670-9386-234C73DA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OPTION C: reject both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4E1F5D44-60FD-424E-B539-CC48B812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D6E5023C-9231-4A00-AE65-33DBC5C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D122EED4-7152-482A-83DF-D1D4E4A8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item is technically stronger?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item better represents the specification?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evidence would each response provide?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621F02DA-A78A-40B8-9992-BE7F5AB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7BC1E2A8-B9F7-4D70-BA10-98AADBC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S5 Technical Judgement v0.</a:t>
            </a:r>
          </a:p>
        </p:txBody>
      </p:sp>
    </p:spTree>
    <p:extLst>
      <p:ext uri="{BB962C8B-B14F-4D97-AF65-F5344CB8AC3E}">
        <p14:creationId xmlns:p14="http://schemas.microsoft.com/office/powerpoint/2010/main" val="1753086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40788A7-A1A1-441D-AFBC-630CF44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7fc824b3e47a9">
            <a:extLst>
              <a:ext uri="{96DAC541-7B7A-43D3-8B79-37D633B846F1}">
                <asvg:svgBlip xmlns:asvg="http://schemas.microsoft.com/office/drawing/2016/SVG/main" r:embed="R1bf569185d154e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E29058F-052A-45A1-AB00-3EC5E4D0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CLASSICAL TEST THEORY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A360F7-842E-4B04-B932-98EE8B67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Observed Scores Mix Construct Signal with Error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41484E0-8BB8-4AF8-8638-EC7683E9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EE76485-A0EF-42D9-ADA5-C99BC6B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5.3, pp. 38–39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3A907F1-0069-4F6A-9347-AC766D4E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7F0D0C7-5D31-4C40-AE16-53FE5317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6BEF9D80-092D-4197-9732-45905F1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0D9D8206-0B3C-4FC4-9DDA-9F1C2939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3AED2FD1-DD7B-44EF-AA6B-9BAC106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9009A79A-7623-46DC-AF3E-EAEE8EE6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X: observed score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25526D87-9851-4DF7-84E3-2797C312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6C017B1E-BDB8-49F8-AFF1-70D7C71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C21C5A2B-BBF6-4ACC-845C-6BC7921A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T: expected construct-related component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E15EF5D6-E8B4-46C8-B73C-656E2FF7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F1D4DA5C-9220-4F0E-85A1-6A190E6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DB0368A2-E44A-44E8-B83C-58E8CE79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E: error influence</a:t>
            </a:r>
          </a:p>
        </p:txBody>
      </p:sp>
      <p:sp>
        <p:nvSpPr>
          <p:cNvPr id="19" name="take">
            <a:extLst xmlns:a="http://schemas.openxmlformats.org/drawingml/2006/main">
              <a:ext uri="{FF2B5EF4-FFF2-40B4-BE49-F238E27FC236}">
                <a16:creationId xmlns:a16="http://schemas.microsoft.com/office/drawing/2014/main" id="{EC4CB34D-5959-449E-85E5-2402DAFB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Deepen understanding of the observed-score relationship and its design implications.</a:t>
            </a:r>
          </a:p>
        </p:txBody>
      </p:sp>
    </p:spTree>
    <p:extLst>
      <p:ext uri="{BB962C8B-B14F-4D97-AF65-F5344CB8AC3E}">
        <p14:creationId xmlns:p14="http://schemas.microsoft.com/office/powerpoint/2010/main" val="1885614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A807080-5850-425A-9522-AFEA6A40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ba375c7b64ab7">
            <a:extLst>
              <a:ext uri="{96DAC541-7B7A-43D3-8B79-37D633B846F1}">
                <asvg:svgBlip xmlns:asvg="http://schemas.microsoft.com/office/drawing/2016/SVG/main" r:embed="R144deeae34a549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B9417C7-73B6-4D3F-BA7F-3C40CEC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ERROR SOURCES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1F0DBB-9E22-4D7F-A682-6FB57642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Error Can Enter at Every Link in the Assessment Chain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D51F337-C30F-431D-B902-75EB3574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35A17FD-8852-434C-B15A-3DD03C0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5.3, pp. 38–41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7D5313F-C868-4985-9DD8-16C28B1E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2D40641-70B6-4DB7-9ED3-D5AD938E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9572EEE3-4E8F-4811-8A91-7F306805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E73FF636-D14C-4EC5-967E-2BA47440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F5890040-CCDF-4A04-B8CD-D242811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E89A27E4-BD00-4A38-9166-DED754E9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PERSON &amp; OCCASION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0C7956C7-F2ED-41B5-A8E7-06190EAB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E42BBA70-8DCD-40C9-9205-E2F9E16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6E1B4CE4-315C-493D-B0E8-6B59103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TASK &amp; SAMPLE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837FFDE-C193-46A3-94F5-86B34C51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B57BF0F7-14AB-49B9-91DA-61B70CAD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21BEBF1E-F920-4D74-8526-CD2A73FA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ADMINISTRATION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188F64F6-F554-4825-AF66-2CF0FB45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09DA64BB-D08D-41B0-ACC9-03E87EF1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99D0F7C3-4C2A-46CE-A841-FA4362C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SCORING &amp; USE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3E0ADE66-4F30-44EE-9FF8-40A503F3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Map error sources across person, task, occasion, administration, scoring, and use.</a:t>
            </a:r>
          </a:p>
        </p:txBody>
      </p:sp>
    </p:spTree>
    <p:extLst>
      <p:ext uri="{BB962C8B-B14F-4D97-AF65-F5344CB8AC3E}">
        <p14:creationId xmlns:p14="http://schemas.microsoft.com/office/powerpoint/2010/main" val="1184818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FFF4BBB-89A8-47C6-9A2A-2BBC89D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205f3dbb74c31">
            <a:extLst>
              <a:ext uri="{96DAC541-7B7A-43D3-8B79-37D633B846F1}">
                <asvg:svgBlip xmlns:asvg="http://schemas.microsoft.com/office/drawing/2016/SVG/main" r:embed="R728fc72c678e4c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A7CBFCA-78BB-4283-A3EF-EB0C994D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DEPENDABILITY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0CF965-49F3-4935-BB0F-3D2CDE89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Reliability Is About Dependability for a Defined Use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C1C8ECE-21AB-4876-B2E6-D75ABE0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A3E7DC9-53D2-48BE-B782-021DEFDE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5.3, pp. 38–41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9520254-83B6-46DD-AF59-CEA3E38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9634D5B-9933-41C3-95BF-56C3D22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4457D02C-C958-46E7-A994-8F1D1D22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2C5CA6D7-3F94-420D-877B-B3E11215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078205CD-A6DD-4346-B4C1-2A15B374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Comparable task samples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8E6B4BD9-AF9D-490E-8B29-A482047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D5B99940-A058-4A3F-9C59-DBC5B7E0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2908CB7B-5638-4C83-B719-30ADDAC8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Comparable occasions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C2A9C920-5E9D-40B3-93B1-D2585749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424403DD-C14A-461A-9531-0D3B481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3096A56E-5571-4330-B3A8-739711A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Comparable administration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56676D77-6659-4986-8D92-B3D23ACB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Connect error control to consistency across samples, occasions, conditions, and raters.</a:t>
            </a:r>
          </a:p>
        </p:txBody>
      </p:sp>
    </p:spTree>
    <p:extLst>
      <p:ext uri="{BB962C8B-B14F-4D97-AF65-F5344CB8AC3E}">
        <p14:creationId xmlns:p14="http://schemas.microsoft.com/office/powerpoint/2010/main" val="258524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EADBD04-2D51-4AA8-B17B-7CA7C6D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60cc03e24472c">
            <a:extLst>
              <a:ext uri="{96DAC541-7B7A-43D3-8B79-37D633B846F1}">
                <asvg:svgBlip xmlns:asvg="http://schemas.microsoft.com/office/drawing/2016/SVG/main" r:embed="Rd63bb218cc7847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E9EBB32-D8BB-4752-A6EA-3F832E75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RESPONSE PROCESS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702CC8-6991-4EC4-97E4-47340394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Response Process Is the Hidden Engine of an Item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7829E77-DC82-4DB7-BB64-2D803C0C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0A9A5BF-61C5-4AC9-936D-F782FD8C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Sections 5.2.3 and 6.1.6, pp. 37–38, 45–61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AEFD2EA-0ABE-41B0-87C6-7325240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BAFA3D2-F454-4DE2-9CA1-87B3343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A4B9B6E8-66C5-4DCD-AFCE-393D2E0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6CE3DBBF-98E5-45C8-815C-335360EF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Analyse what learners actually think and do when responding to an item or task.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8C605CB6-9344-489A-8C2D-C1C0308B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460DBB63-3A5B-4DA5-8CC7-E0EE6CBE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9DFFC16D-FBAE-4520-A3D6-AF7718D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INTENDED process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F1044426-A87A-4AB5-8579-C3EAEF2A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625454A3-7F9C-4AEC-95A0-003295A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FF669759-CF52-4A98-B03F-5A4A2306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PLAUSIBLE shortcuts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D671029-6B14-417D-AC9C-66ECBCF9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AF022918-32F1-4597-ACEA-E12C44E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06063A42-0A0F-4D0E-9F3A-E6147669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OBSERVED strategy evidence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B3925AB5-6077-45C0-9ABC-C0C984F3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D8F45DBD-F756-49B4-A442-9740D482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E2A840A3-7778-48D2-85A5-DB2F0DD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DESIGN response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016CAFAE-E757-434A-93A8-32B6B528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DECB3D0E-BDB3-4AA6-9D57-76C1417A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311E05FD-6D22-48CE-826C-DBA9C1F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How could a learner answer correctly for the wrong reason?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question would reveal their response process?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47F3E9BA-55DF-4D06-94B9-2308C137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068A4A6-FAF4-4E5C-AF0C-B582ACE1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Response-process prediction for the rough prototype.</a:t>
            </a:r>
          </a:p>
        </p:txBody>
      </p:sp>
    </p:spTree>
    <p:extLst>
      <p:ext uri="{BB962C8B-B14F-4D97-AF65-F5344CB8AC3E}">
        <p14:creationId xmlns:p14="http://schemas.microsoft.com/office/powerpoint/2010/main" val="711907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B9B8A1A-B049-46B1-9FDF-5E888D79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149f6e5904a3e">
            <a:extLst>
              <a:ext uri="{96DAC541-7B7A-43D3-8B79-37D633B846F1}">
                <asvg:svgBlip xmlns:asvg="http://schemas.microsoft.com/office/drawing/2016/SVG/main" r:embed="Rece834ad9fdd41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18AB045-4BFA-478B-9CBC-90AF323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SELECTED RESPONSE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DCB285-FD80-4752-8B18-0EFFDC0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A Multiple-Choice Item Is a Small Evidence System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1EF5867-EB3B-4B4E-9F23-2210B9B4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B57C834-B4F8-41AB-8E0D-AFA1A5BB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6.1.6, pp. 45–52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21A721D-7BFB-4211-923A-47D12BE5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5CF8BD3-0A97-470E-A00A-4F824D3E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6C372E38-4E69-45E9-A64E-5C216EA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24CDA41-465D-45E2-A032-41D2105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Teach principled stem, key, distractor, and option design.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FB4D9512-E239-44CB-A23B-D692F8D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D5A5BA5E-3FF4-4E3E-8684-0C4556A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594B4138-5DA0-446F-B4D4-BE4EB5C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STEM: one clear problem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E28B2F3E-4DBD-402B-8270-7AF01CB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848FAFD2-2BDD-4D72-B084-F9575D16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56A75C2-928A-4147-A79E-A63E5107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KEY: uniquely defensible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501421E5-3123-4ABF-8212-B293C205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B1B4CD3-E54B-4A3F-97B7-F7FE4330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30C65BA6-299F-4552-8079-FD62E732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DISTRACTORS: plausible wrong reasoning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20FADED0-BF67-4562-BC4E-BCFD0E17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71DFA156-7B25-4FE7-A5D3-9AF3717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25179995-6981-4D19-ACC4-65FABBA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OPTIONS: parallel and unclued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DD265D15-3D5D-4222-BDD7-D0DF1BC5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55DBDED3-8260-491E-B0A6-38EFC6B4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8F789D4E-3743-443D-BC88-9F320714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misconception does each distractor represent?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Could two options be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Does the item test reading or test-wiseness?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B8E3E1C6-635C-4A21-99BA-500DED0D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B4F9C84C-7C30-490A-9ACB-CDBE366C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Annotated MC item with distractor rationales.</a:t>
            </a:r>
          </a:p>
        </p:txBody>
      </p:sp>
    </p:spTree>
    <p:extLst>
      <p:ext uri="{BB962C8B-B14F-4D97-AF65-F5344CB8AC3E}">
        <p14:creationId xmlns:p14="http://schemas.microsoft.com/office/powerpoint/2010/main" val="1921486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C6253E4-36C4-4AD0-84AA-C1A1F93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af5ce453446f6">
            <a:extLst>
              <a:ext uri="{96DAC541-7B7A-43D3-8B79-37D633B846F1}">
                <asvg:svgBlip xmlns:asvg="http://schemas.microsoft.com/office/drawing/2016/SVG/main" r:embed="R37cfcc4af1a640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D6D41A6-9675-422A-9322-9BC8394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SELECTED TECHNIQUES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107BCF-A071-4686-B3AD-93B51B9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Matching and True–False Trade Breadth for Vulnerability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0A1CA2B-6095-449C-9311-E1CF3D91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C7BD6D5-E8BC-47A4-8262-EB0AF2D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6.1.6, pp. 45–52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02885BF-519C-44E3-9BF5-A723B73A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48416F9-61BE-40A3-B18E-C9E4E10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68B7D2A7-F687-42E8-AD91-CB3E87E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D7E761CF-08F5-41BC-9DCC-B563AF5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593A7A64-D4FD-4993-AF13-ED611AA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TRUE–FALSE: efficient, high guessing risk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0FAF8E0D-9999-4967-8C8D-04A9988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MATCHING: homogeneous associations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109C23A7-BDE0-4A44-A6D2-20A4A6F2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605B8F90-F273-4FE8-BF6D-FB1B5158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9187E714-8447-4B47-A5E5-C82C600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8992159B-B693-42BF-80ED-98AC2E2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JUSTIFICATION: richer evidence, added demand</a:t>
            </a:r>
          </a:p>
        </p:txBody>
      </p:sp>
    </p:spTree>
    <p:extLst>
      <p:ext uri="{BB962C8B-B14F-4D97-AF65-F5344CB8AC3E}">
        <p14:creationId xmlns:p14="http://schemas.microsoft.com/office/powerpoint/2010/main" val="9102921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6E731C0-0D98-45EA-8278-61F265A5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227b6ae2c43c6">
            <a:extLst>
              <a:ext uri="{96DAC541-7B7A-43D3-8B79-37D633B846F1}">
                <asvg:svgBlip xmlns:asvg="http://schemas.microsoft.com/office/drawing/2016/SVG/main" r:embed="R88c1c26f513048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6A66DDA-190E-4DBB-8FA8-BADDF98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SHORT CONSTRUCTED RESPONSE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406F95-A5D4-48BD-AD16-121E8EC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Short Constructed Responses Need Explicit Acceptable-Answer Space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E19CD31-8161-4C88-B34B-D1308F5C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F934FF1-14BD-425E-AA00-7AA86E02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6.1.6, pp. 52–55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FB8F869-200F-4644-B9EC-3F3B83D1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9AE7F62-8CF2-45CA-AE35-4AD27182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C13F955F-2630-4681-9915-A52A81E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B36B5513-C9BA-4218-A8FA-5EBC5D38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568466F8-0132-4D67-ACCB-5A9C716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88A56AC6-8A34-46EF-A801-AC0B174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Prompt the intended information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5291A18A-1CA4-46FE-8892-DD1DD764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0F5CF84D-48E7-4F44-A362-2CC07818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AE951E1F-910B-4DE3-924C-DF7D1C06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Bound the response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AF2BCE2A-ED6B-43A5-9E56-B0F46A64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BC5FCF06-EA1D-4CEE-A14C-46D65B2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413C25E0-FFF0-40B0-9B8C-282EBEA3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List acceptable variants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22D333B3-4CC1-4ED5-BFE8-A6B72DE2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F250371D-3345-48E9-A44F-EF31D64B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9FC4AF72-BD18-4250-9867-E406955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Define partial credit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74AAFC40-E8E1-4A24-B709-B1E3B6C2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Design short-answer, gap-fill, cloze, and information-transfer tasks with bounded scoring rules.</a:t>
            </a:r>
          </a:p>
        </p:txBody>
      </p:sp>
    </p:spTree>
    <p:extLst>
      <p:ext uri="{BB962C8B-B14F-4D97-AF65-F5344CB8AC3E}">
        <p14:creationId xmlns:p14="http://schemas.microsoft.com/office/powerpoint/2010/main" val="1029910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44D30AD-83E4-44C7-BA59-03B0DE27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1301227ec441f">
            <a:extLst>
              <a:ext uri="{96DAC541-7B7A-43D3-8B79-37D633B846F1}">
                <asvg:svgBlip xmlns:asvg="http://schemas.microsoft.com/office/drawing/2016/SVG/main" r:embed="R5876e82dd8f847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61A1C18-B3BB-4C73-B210-94E3B6D2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EXTENDED CONSTRUCTED RESPONSE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65D6AD-EFA1-4531-BDCC-36FF97F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Extended Responses Need Purpose, Audience, Evidence, and Boundaries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52661B3-ADC9-4A59-AACC-78EC188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8B2D593-5F83-45B8-8404-74E1966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6.1.6, pp. 55–61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88C6E18-D63A-4A12-AC91-3E895D36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E3F58B0-19BD-46F5-A21D-3A580AD3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124BAFC9-A55A-4BCB-983A-77CC3DFF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F180D5D6-3AEA-46DA-B90D-BE43E8AC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82BF3C40-3ACA-477C-9B43-FC6D7D17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CONTEXT &amp; ROLE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31E2FB26-19B3-4449-8080-D411176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1FDDDBE6-B015-414A-965F-561E4DAB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5F473933-41C9-4BA2-B321-3DAA4D8B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PURPOSE &amp; AUDIENCE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6B4F2BA6-5E5D-4C22-80E4-BCCD4BC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5DAB9734-AD57-4ADD-9CB3-F72CC37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1B91E903-7150-4C43-B00E-C5A4BE2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INPUT &amp; RESPONSE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23BACF0D-D3F5-4748-9151-EF654360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Improve essay, interview, oral presentation, description, and integrated-performance prompts.</a:t>
            </a:r>
          </a:p>
        </p:txBody>
      </p:sp>
    </p:spTree>
    <p:extLst>
      <p:ext uri="{BB962C8B-B14F-4D97-AF65-F5344CB8AC3E}">
        <p14:creationId xmlns:p14="http://schemas.microsoft.com/office/powerpoint/2010/main" val="281120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0788F8C-B85C-4B27-946D-23027A4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2abfe4af54016">
            <a:extLst>
              <a:ext uri="{96DAC541-7B7A-43D3-8B79-37D633B846F1}">
                <asvg:svgBlip xmlns:asvg="http://schemas.microsoft.com/office/drawing/2016/SVG/main" r:embed="R5af7dba054eb45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4F3207B-497E-4BED-9D64-343DA07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TECHNICAL AUDIT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B68004-9A13-4C5D-8D8D-3E8261EA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Technical Quality Has Four Layers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C06D707-0285-410A-8C16-4420B98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9926B10-AA01-4071-995E-3346FA7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Synthesis of Phakiti &amp; Leung (2024), Sections 5.3 and 6.1.6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3A4BA6C-D6B6-4064-8F1D-017AF08B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5021816-8904-44B0-B90A-C53E5AA1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52F023B6-519E-425A-99F2-096DDC0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BB3088A9-E758-409A-9029-1311844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5E842350-3268-4410-BF04-FD7130D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ALIGNMENT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DB4D0A50-43F5-43D5-AF97-8D67EB8D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RESPONSE PROCESS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E0A9AC6E-6F4C-4E89-B707-8C6AB383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6C10A16C-323B-4683-855F-136DE17F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4D128941-66DA-4A12-9463-BF100D4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629E2355-6780-43E3-937F-EF5F1FC0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MECHANICS</a:t>
            </a:r>
          </a:p>
        </p:txBody>
      </p:sp>
    </p:spTree>
    <p:extLst>
      <p:ext uri="{BB962C8B-B14F-4D97-AF65-F5344CB8AC3E}">
        <p14:creationId xmlns:p14="http://schemas.microsoft.com/office/powerpoint/2010/main" val="1590592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8BAD3EC-ECD9-491F-9D38-CD172C7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5d09b5113470a">
            <a:extLst>
              <a:ext uri="{96DAC541-7B7A-43D3-8B79-37D633B846F1}">
                <asvg:svgBlip xmlns:asvg="http://schemas.microsoft.com/office/drawing/2016/SVG/main" r:embed="Ra8d4067882a147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D26AE49-A23B-4B15-A7A1-12FFA7A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CASE ANALYSIS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90BD26-96F1-444A-8F19-CAA9946D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Clean-Looking Items Can Still Produce Contaminated Scores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198EBDF-48C1-41C5-8D05-F70CB02C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9613B4E-0CD2-4696-8F1E-17157FC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case extending Sections 5.3 and 6.1.6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098E6CC-6E9D-468F-9202-0517F9C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465DF8B-7C7C-4507-90EB-87215E48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A7512635-F3AE-4217-92F7-8E27591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237CCF48-FEA8-4289-8204-03F006E3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Diagnose error and misleading score interpretation in a polished achievement test.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600C2EA0-4A6C-434B-9348-25E980AD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C8934226-0D67-4F2B-97E0-99B85EF2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CFB70596-292A-4D9A-85F6-6360589D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SOURCE of error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83F7CAA0-FA64-4D4D-92BE-ABC4A8EF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FF4E8AB6-7AAE-49D0-A58F-C71E32D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F66F3830-CE6D-4C14-BC96-BE6BF52A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PATH to score distortion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2CA597D-F153-4CE6-9E74-F07239F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93124618-DFA4-4E6C-AA8A-ADF9C137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E43773AF-E16F-42C4-9D3B-3F286550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AFFECTED interpretation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3AF2677E-CB1B-4A37-8668-1B3D8997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289BB2BD-0271-497D-97A7-C7CBED10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1CB1D746-9C1B-47D1-B682-6C3A0AA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CONTROL / redesign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89B1017D-72FF-47CE-8150-ADC89FC0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AC65D13C-9F80-4072-A528-46A66ADC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8CBF50E8-3200-44D4-A218-82C34D5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Which problem threatens the inference most?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Which issue could inflate rather than depress scores?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What evidence would confirm the diagnosis?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33120FC-0945-49A0-AF78-442480C6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ED133B5B-9B1F-482C-B5A3-5E80D88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Group error-pathway analysis.</a:t>
            </a:r>
          </a:p>
        </p:txBody>
      </p:sp>
    </p:spTree>
    <p:extLst>
      <p:ext uri="{BB962C8B-B14F-4D97-AF65-F5344CB8AC3E}">
        <p14:creationId xmlns:p14="http://schemas.microsoft.com/office/powerpoint/2010/main" val="2146766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22DE87B-5736-4AE4-9D74-AF9C40C2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8c7f3e6564953">
            <a:extLst>
              <a:ext uri="{96DAC541-7B7A-43D3-8B79-37D633B846F1}">
                <asvg:svgBlip xmlns:asvg="http://schemas.microsoft.com/office/drawing/2016/SVG/main" r:embed="Re5ddb65616d1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A25D439-F2DC-460E-8B59-F29991D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ERROR-CONTROL MAP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CE8280-0ED8-4E2B-969A-3DAAE1B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Build an Error-Control Map for Prototype 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CD74160-633C-45EC-8F26-5589FF2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4BF1F6B-4CBF-426B-90A1-B3B5E57D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task grounded in Section 5.3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9F9EDBC-06AE-42F6-B26A-BBFBB125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18DC945-02CB-494F-A1C5-E8F42E9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6D67490-07F8-4859-86B4-A3F2D72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4E32A8B9-EC5F-4D02-BAE1-6F491D1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Predict, prioritise, and control plausible error sources in the team prototype.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CCA42108-D552-4CD9-8F14-1BE43877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A4B2B84A-9030-473F-839D-4B01C706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2C82107-EA4A-40F0-B823-2960197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SOURCE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C2578D3-E0B0-433D-9231-F6E3E68E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7088645B-7DB9-4A23-A587-0046C249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C6A91B2F-D8A2-42C3-9143-FD19AFB4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DISTORTION PATHWAY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2C145D12-EFBA-4BA4-85D9-43C2E5D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7C731380-65A7-4FEA-8A5C-98B81BC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92225036-B1C2-4B3F-93A0-175F272E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RISK PRIORITY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DE896079-C49B-4158-B829-B2AA62F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363B30E-E926-4F75-9C77-9EF433E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D695913A-D087-487F-81CF-89381514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CONTROL &amp; RESIDUAL RISK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EEE04A08-6E63-49BE-B320-7AFA7E9B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53E9038E-4E31-4F7E-AE1B-4C62CE2C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64D542CA-E9A6-4AA7-AB32-27ED8816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error is both likely and consequential?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will you know the control worked?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risk must be accepted?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3A558696-867C-4C25-AF1C-E350DE79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51308209-1103-4D33-B28A-5C10114B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Error-Control Map v1.</a:t>
            </a:r>
          </a:p>
        </p:txBody>
      </p:sp>
    </p:spTree>
    <p:extLst>
      <p:ext uri="{BB962C8B-B14F-4D97-AF65-F5344CB8AC3E}">
        <p14:creationId xmlns:p14="http://schemas.microsoft.com/office/powerpoint/2010/main" val="502196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C774C0C-BE1D-4006-B56B-AAC7D1FA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fc7f44645465e">
            <a:extLst>
              <a:ext uri="{96DAC541-7B7A-43D3-8B79-37D633B846F1}">
                <asvg:svgBlip xmlns:asvg="http://schemas.microsoft.com/office/drawing/2016/SVG/main" r:embed="Rd4c167151ddd44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045FF0E-8A7B-4F29-8E25-7BBC16B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PROTOTYPE AUDIT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AAA156-DFD9-4646-94CF-9726B0BC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Audit Prototype 1 Against Its Specification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F2E8A25-73AC-4BAC-851A-2550ED01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672762C-4C33-44CA-8046-B3BB81D8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technical-review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EB0F640-B1E8-45B8-B569-87B1438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D533FAA-BD91-4214-B23A-3A02C3F3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8026901-2DA8-4187-99A4-13DEADE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D7FA0FF-C268-4CBF-B7DE-DA655C92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Conduct a systematic item-by-item or task-feature audit.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566F3B5-6CA6-4ECE-AB7B-D4F815DA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279A1684-FFC4-4947-980D-58F296A3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9B308624-248A-484F-924E-3C1F097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TRACE to specification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B9A14430-3EB7-451C-A565-69927D62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2800D83D-3648-4FFC-8F01-51F74F40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CA0C3FF1-F206-4684-BA15-BE16FCE2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PREDICT response process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F73A477C-7BC0-40FB-BB9E-8EACBD11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2DE3BC57-46A8-44EA-BCA9-A7CCB93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8BC66679-9B25-4CA4-BADF-EC2EAB9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CHECK mechanics and scoring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9C8B9F31-AF6F-4035-AA53-4EFB544C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7B0E44AD-45C5-4429-A0E4-3F21FEC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432E8694-15C5-4E7A-9D25-7E04D3B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DECIDE retain / revise / replace / remove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96DFB91-A7E5-4EE3-B0D2-C01A603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C8AEF4B-8677-4A98-9090-40C3ED2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E988F254-DD12-4DFC-8766-B7502C87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item has no evidence claim?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construct component is oversampled?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revision has the highest leverage?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9BA4094-D270-440C-A059-990A5254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F919394A-2244-4338-AC9A-CFEB668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Technical Audit Sheet.</a:t>
            </a:r>
          </a:p>
        </p:txBody>
      </p:sp>
    </p:spTree>
    <p:extLst>
      <p:ext uri="{BB962C8B-B14F-4D97-AF65-F5344CB8AC3E}">
        <p14:creationId xmlns:p14="http://schemas.microsoft.com/office/powerpoint/2010/main" val="437829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407042C-8A33-4A01-A702-D7CB86D4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4ec7c522243b6">
            <a:extLst>
              <a:ext uri="{96DAC541-7B7A-43D3-8B79-37D633B846F1}">
                <asvg:svgBlip xmlns:asvg="http://schemas.microsoft.com/office/drawing/2016/SVG/main" r:embed="R91bcb8e5eaa343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01BA956-D430-41BF-B965-254A75B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MICRO-PILOT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720D9A-08E2-4FC7-B476-FA1B9FD6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Micro-Pilot the Response Process, Not the Score Distribution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5D84710-CAAF-43AB-8B81-B457473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079E89E-BECA-43C7-89C5-C266691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micro-pilot protocol; informed by Sections 5.3 and 6.1.6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CDBDAE1-F7E2-4439-8984-7AA9C04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C37353D-983C-4323-8318-6789AED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A0185CCA-8C0A-4622-B54D-4EE346E5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AC43070-FE46-4222-95BA-A5D81E6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B40CE936-3934-4ED8-AB06-525CC3A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1754C0AB-AD19-4753-95B2-C7C038CB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COMPLETE without coaching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AA34417A-7140-43AD-A367-92A949E4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F5556257-1EF6-4AAC-AF5F-F76FBDEE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E58E2295-B4BA-497A-B600-794D1E3C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OBSERVE strategy and incidents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23611A56-82D3-4DED-AF99-EA145025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15C9792F-B01C-4E92-B08F-5824B8AA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C216E877-1629-4367-A4E0-91C02B3F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PROBE interpretation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CE268B57-EF9B-4412-8BE8-6316340C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CD9D783F-A3D9-4235-AD83-92D398D4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17F97A7D-80CF-477A-A676-A5B450F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RECORD unexpected responses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F62566D0-C243-4668-B046-485E331E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Gather rapid learner-like evidence about interpretation, strategy, timing, and unexpected responses.</a:t>
            </a:r>
          </a:p>
        </p:txBody>
      </p:sp>
    </p:spTree>
    <p:extLst>
      <p:ext uri="{BB962C8B-B14F-4D97-AF65-F5344CB8AC3E}">
        <p14:creationId xmlns:p14="http://schemas.microsoft.com/office/powerpoint/2010/main" val="2315561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55CA603-6B5A-494A-8BA9-89DF3D0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5dafc607a449c">
            <a:extLst>
              <a:ext uri="{96DAC541-7B7A-43D3-8B79-37D633B846F1}">
                <asvg:svgBlip xmlns:asvg="http://schemas.microsoft.com/office/drawing/2016/SVG/main" r:embed="Rb1f4921d35134a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86A9961-DC90-40AF-A482-CC50AD56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EVIDENCE-BASED REVISION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8E2502-395B-4A85-A6DB-A2372D05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Turn Pilot Evidence into a Revision Matrix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8E6AD93-AC12-4714-99FD-471E61F8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439065B-635E-4450-83E0-7E01E5F4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evidence-to-redesign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FAFEE4F-2D6E-44E5-9410-55706EC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4DE2FA6-0E01-4481-AEE1-096443D6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273AF6F0-4770-4632-850D-7215E5B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63F96DC8-DC12-4AB6-963E-7F979784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33FFF072-B7C3-4E31-A222-EF056969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DC2139C1-78FE-4E30-A43C-528C624F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FINDING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3B512E54-106B-4926-9D73-ACB517F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6B839AF3-3F3B-4054-A286-818708F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377D0BA1-D0E1-413C-B63F-93BB9386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THREATENED CLAIM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403A8CE-9A11-45E6-BCA4-DD09E9F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2F092237-1D8C-45D2-B931-BC998D9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5F000379-8CC1-46C7-BE05-CA993947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REVISION DECISION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4F87BFB7-0241-4FD2-BE06-1107F01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93DAEEE6-6B3C-42E2-A612-C631410C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F1CA2178-18DF-467F-BEA4-536E464C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EXPECTED IMPROVEMENT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924458A9-40C9-4BA2-9C39-5899B321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Document how each audit or pilot finding changes—or does not change—the prototype.</a:t>
            </a:r>
          </a:p>
        </p:txBody>
      </p:sp>
    </p:spTree>
    <p:extLst>
      <p:ext uri="{BB962C8B-B14F-4D97-AF65-F5344CB8AC3E}">
        <p14:creationId xmlns:p14="http://schemas.microsoft.com/office/powerpoint/2010/main" val="518013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853B163-358B-4B3E-BAE5-73844A26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23a8e25554598">
            <a:extLst>
              <a:ext uri="{96DAC541-7B7A-43D3-8B79-37D633B846F1}">
                <asvg:svgBlip xmlns:asvg="http://schemas.microsoft.com/office/drawing/2016/SVG/main" r:embed="Rc9611d3605de4c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9F787F3-BD70-4765-A0F6-6975D649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PROTOTYPE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2583ED-1F66-46B8-923A-73DEBE0D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Build Prototype 2—and Preserve the Design History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CC231E9-31A2-4CDE-BAD6-F961716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02C39772-86CA-49A5-924D-B60DCEC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iterative-prototyping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54109D8-62C5-4693-BCE4-2BBE06E1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A3FBA70-D3FC-4EB6-8EE0-78496B5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52E3CF75-E3B5-40AC-B804-CF116A7D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81BF4AAB-7B2F-46B7-8415-737E7612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Produce a technically improved prototype with versioned evidence and rationale.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2359DB43-AB76-4D26-B6FB-61DA0A71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89254242-0512-4CE7-824F-5A3F939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07678C6-2424-4FDC-9699-DC599844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REVISE high-priority risks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F78FEC7D-7AAB-4614-A9EF-1B836F0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ABA1FA90-D37B-4FEE-8BE3-4628EF2B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2ABC227A-D72C-4F2B-9D41-0CE884D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ALIGN every element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1F68DD61-6898-4234-B9D3-5D93AFE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B3ADBD3-A81E-4749-AB50-416BE177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ABA1BDDD-9F5B-4F0A-9DD8-C81EC697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UPDATE scoring materials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0412D550-2528-4BC1-9C0F-46F7345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5ACC66DC-0C50-44CD-9CA9-D1134869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4C61B618-5BAC-4EC7-9212-15D50141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LOG every consequential change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F37CA94C-EADD-4AEB-B384-5E8F9C39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3CA8904-B819-4FC2-B04C-349B2BA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E2EF3DFD-C5FC-49C1-99D8-55AAB8E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Which change most improves the inference?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Which issue remains unresolved?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Did any repair create a new risk?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9B52EC64-E7FE-4A5F-8F9F-D2D5FFF1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5EDCC9EB-8AD3-44E8-8415-88E568A7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Prototype 2 plus Design History Log.</a:t>
            </a:r>
          </a:p>
        </p:txBody>
      </p:sp>
    </p:spTree>
    <p:extLst>
      <p:ext uri="{BB962C8B-B14F-4D97-AF65-F5344CB8AC3E}">
        <p14:creationId xmlns:p14="http://schemas.microsoft.com/office/powerpoint/2010/main" val="3060885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E2B4D43-FBE9-46B5-9B11-4C8BF020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8412249e7478a">
            <a:extLst>
              <a:ext uri="{96DAC541-7B7A-43D3-8B79-37D633B846F1}">
                <asvg:svgBlip xmlns:asvg="http://schemas.microsoft.com/office/drawing/2016/SVG/main" r:embed="Rc9149a40b8874f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B04E4E2-BD88-4FF8-92D5-9AF35F2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694FD8-74AF-4980-9547-EE4576D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Mid-Course Individual Design Task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0A3CB7C-EFA4-4281-AB57-0993955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5C2BD59-2740-4B55-BFFB-393F3E31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mid-point ADL performance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57F5861-1E16-4C85-A915-D604BBD9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3B68417-FDEC-42E6-A4ED-C467AD29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37496CBC-0985-4EB3-A907-72BDC5F8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6E32B1E5-E1BE-40FC-94A2-24DEF734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Assess independent transfer of construct–evidence–technique–error reasoning.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DE929899-05DB-4C99-AAF7-FD5C917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AD071662-BE2F-46B7-8AD7-C0F2F565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6C5F2BC-32B4-4C72-A33D-6A4F154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DEFINE construct and use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65FF5BC3-748F-4EEC-A936-C3B34956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75534F36-DFF4-47D8-BDA5-648176F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282745A0-7B8B-4A54-B3AE-4E0A2C08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DIAGNOSE response and error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04EBD492-ECC6-49FA-BFBC-96558E18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8D736D4-9DE5-4CB7-92AF-E3D5FB26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399D1DB9-CDC7-4E4E-BC0E-DCBC7621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REDESIGN one feature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5005A4E7-B7C5-4C14-B2F1-D5D1398D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6BEA0773-AAFF-4E91-B99F-3E446F2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D8BC4471-86BA-4578-84A4-138416CC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JUSTIFY and bound the claim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7E3297D2-36D8-40D5-B587-C18C88CB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0970582F-7C69-4D37-A7F0-84B944D9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49659446-EC18-47FA-8867-3A8EF739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is the highest-risk broken link?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does your revision change the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remains uncertain?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2A763211-A553-410B-B54D-F67F93E8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7EC87689-7810-47FA-99BD-98FD4709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Mid-Course ADL Design Task.</a:t>
            </a:r>
          </a:p>
        </p:txBody>
      </p:sp>
    </p:spTree>
    <p:extLst>
      <p:ext uri="{BB962C8B-B14F-4D97-AF65-F5344CB8AC3E}">
        <p14:creationId xmlns:p14="http://schemas.microsoft.com/office/powerpoint/2010/main" val="6712326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8CA2D64-DAE1-4C77-999B-AEEBE94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02dff1e144999">
            <a:extLst>
              <a:ext uri="{96DAC541-7B7A-43D3-8B79-37D633B846F1}">
                <asvg:svgBlip xmlns:asvg="http://schemas.microsoft.com/office/drawing/2016/SVG/main" r:embed="Rc4dbaffd529544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A8E35CB-9BA0-4DE4-9B4E-1432229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SESSION SYNTHESIS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FAFE40-75F5-4EBA-B68D-76350B1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Technical Quality Means a Defensible Evidence Path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881C880-72AC-4C4E-8C51-20586F1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01084EC5-46F3-4DDB-8BAE-2515FE6C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Session 5 synthesis and v0 revisit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3C94971-00E5-4394-B948-8F1557B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A89C81C-1FC8-4EFE-8ECC-9CE5D622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E83806AD-84AF-46E1-9D60-022FFC63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08F7143D-C361-4184-BCAC-DDC659DF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20071274-BF0E-45DE-9E2E-5786D433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ALIGN with specification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583096A0-4186-48C5-8DF4-3702237C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ADECED5B-6950-4BEB-AC7C-20C6D23F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ED50ECF3-525B-4E51-A9DB-0F13E09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ELICIT intended processing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E4A42842-4FD5-4F6F-AFD3-6138E12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A33C3312-48BF-4BB5-8FD2-8F7ADD9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BA5581C-3634-4F6A-B233-C76D4C6B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CONTROL avoidable error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62FF76D5-7BA2-4AD2-96B0-0B80AD70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Consolidate the session and make change in technical judgement visible.</a:t>
            </a:r>
          </a:p>
        </p:txBody>
      </p:sp>
    </p:spTree>
    <p:extLst>
      <p:ext uri="{BB962C8B-B14F-4D97-AF65-F5344CB8AC3E}">
        <p14:creationId xmlns:p14="http://schemas.microsoft.com/office/powerpoint/2010/main" val="1111589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CFBEDA3-E2FB-4EF4-8F71-87115868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b72e0963d4381">
            <a:extLst>
              <a:ext uri="{96DAC541-7B7A-43D3-8B79-37D633B846F1}">
                <asvg:svgBlip xmlns:asvg="http://schemas.microsoft.com/office/drawing/2016/SVG/main" r:embed="R57edc2725b714b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F732117-3A43-472B-9CB9-DCC765C0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FC3A9F-D6FA-4E59-AD36-4999433B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Next: Design a Non-Test Assessment for the Same Construct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D4DEB42-2044-4808-816F-92C8FEBC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79B5825-D8E5-491D-9D79-8433DCD6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Prepare Phakiti &amp; Leung (2024), Section 6.2, pp. 61–62 onward; Section 8.1.2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E5795F8-14D7-4699-B9E7-425E3195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5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3F52D57-FA93-4838-B1A6-E0D3476A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D97B4B39-C3D9-4162-A07D-201CB42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4C9E7E47-CB4F-4A2B-8DF0-4B5A0E8A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1F05B8FD-D8FE-47D0-9BC6-83857B9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READ: non-test assessment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D1A2D727-64ED-491D-B7D4-0FA48142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96853927-00A5-427B-A753-D302876A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8C3D5A6-0AFF-45EB-ADA4-57D4932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BRING: Prototype 2 evidence trail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E1D539B0-3F04-4CFD-8889-F71DCC7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26AF283E-2422-4B00-B2CB-EE9C1660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1793272-8E73-448A-99C3-6EDE11B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SKETCH: one non-test alternative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1230ED03-A4BC-4C3B-8BF1-F108528D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Prepare comparison of test and non-test assessment solutions and formative learner involvement.</a:t>
            </a:r>
          </a:p>
        </p:txBody>
      </p:sp>
    </p:spTree>
    <p:extLst>
      <p:ext uri="{BB962C8B-B14F-4D97-AF65-F5344CB8AC3E}">
        <p14:creationId xmlns:p14="http://schemas.microsoft.com/office/powerpoint/2010/main" val="260345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2026-07-13T15:17:07.4110000Z</dcterms:created>
  <dcterms:modified xsi:type="dcterms:W3CDTF">2026-07-13T15:17:07.4110000Z</dcterms:modified>
</coreProperties>
</file>