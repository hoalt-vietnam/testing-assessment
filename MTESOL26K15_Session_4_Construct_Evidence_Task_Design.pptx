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596eca4991447c" /><Relationship Type="http://schemas.openxmlformats.org/officeDocument/2006/relationships/extended-properties" Target="/docProps/app.xml" Id="Re3ccda88b4ab403c" /><Relationship Type="http://schemas.openxmlformats.org/officeDocument/2006/relationships/officeDocument" Target="/ppt/presentation.xml" Id="Rc5e510b700634f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acb9d09e5845c1"/>
  </p:sldMasterIdLst>
  <p:notesMasterIdLst>
    <p:notesMasterId xmlns:r="http://schemas.openxmlformats.org/officeDocument/2006/relationships" r:id="R6e6ec9104b0348a5"/>
  </p:notesMasterIdLst>
  <p:sldIdLst>
    <p:sldId xmlns:r="http://schemas.openxmlformats.org/officeDocument/2006/relationships" id="256" r:id="Rbbbfb1043cdb4a29"/>
    <p:sldId xmlns:r="http://schemas.openxmlformats.org/officeDocument/2006/relationships" id="257" r:id="R36e6b8a77927429e"/>
    <p:sldId xmlns:r="http://schemas.openxmlformats.org/officeDocument/2006/relationships" id="258" r:id="Rc3a6dfa061984338"/>
    <p:sldId xmlns:r="http://schemas.openxmlformats.org/officeDocument/2006/relationships" id="259" r:id="R516098ec59d54263"/>
    <p:sldId xmlns:r="http://schemas.openxmlformats.org/officeDocument/2006/relationships" id="260" r:id="R93f361573772466b"/>
    <p:sldId xmlns:r="http://schemas.openxmlformats.org/officeDocument/2006/relationships" id="261" r:id="Ra9ea32c5fe2a4442"/>
    <p:sldId xmlns:r="http://schemas.openxmlformats.org/officeDocument/2006/relationships" id="262" r:id="Rcdebb4e29e4642ea"/>
    <p:sldId xmlns:r="http://schemas.openxmlformats.org/officeDocument/2006/relationships" id="263" r:id="Rb11a3a771eef4d02"/>
    <p:sldId xmlns:r="http://schemas.openxmlformats.org/officeDocument/2006/relationships" id="264" r:id="R72971b80cfe7435f"/>
    <p:sldId xmlns:r="http://schemas.openxmlformats.org/officeDocument/2006/relationships" id="265" r:id="Rdff4173c7a0c4ff5"/>
    <p:sldId xmlns:r="http://schemas.openxmlformats.org/officeDocument/2006/relationships" id="266" r:id="Rd87ea75086ac4e77"/>
    <p:sldId xmlns:r="http://schemas.openxmlformats.org/officeDocument/2006/relationships" id="267" r:id="R41c037e455ec4bee"/>
    <p:sldId xmlns:r="http://schemas.openxmlformats.org/officeDocument/2006/relationships" id="268" r:id="R337feb7e084f45b7"/>
    <p:sldId xmlns:r="http://schemas.openxmlformats.org/officeDocument/2006/relationships" id="269" r:id="R7b2ee1ed16244d1d"/>
    <p:sldId xmlns:r="http://schemas.openxmlformats.org/officeDocument/2006/relationships" id="270" r:id="R4c6c0191243044b2"/>
    <p:sldId xmlns:r="http://schemas.openxmlformats.org/officeDocument/2006/relationships" id="271" r:id="R26315ca4e01b44ea"/>
    <p:sldId xmlns:r="http://schemas.openxmlformats.org/officeDocument/2006/relationships" id="272" r:id="R6d7acb1ecf5840e3"/>
    <p:sldId xmlns:r="http://schemas.openxmlformats.org/officeDocument/2006/relationships" id="273" r:id="R55ec4feefe3349f2"/>
    <p:sldId xmlns:r="http://schemas.openxmlformats.org/officeDocument/2006/relationships" id="274" r:id="Rf6085106d47e4576"/>
    <p:sldId xmlns:r="http://schemas.openxmlformats.org/officeDocument/2006/relationships" id="275" r:id="R73db940d6457445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bd9dc066544d6a" /><Relationship Type="http://schemas.openxmlformats.org/officeDocument/2006/relationships/slideMaster" Target="/ppt/slideMasters/slideMaster1.xml" Id="R22acb9d09e5845c1" /><Relationship Type="http://schemas.openxmlformats.org/officeDocument/2006/relationships/notesMaster" Target="/ppt/notesMasters/notesMaster1.xml" Id="R6e6ec9104b0348a5" /><Relationship Type="http://schemas.openxmlformats.org/officeDocument/2006/relationships/presProps" Target="/ppt/presProps.xml" Id="Rad1fcdd34537431c" /><Relationship Type="http://schemas.openxmlformats.org/officeDocument/2006/relationships/tableStyles" Target="/ppt/tableStyles.xml" Id="Rcd3bcbb0b6684e95" /><Relationship Type="http://schemas.openxmlformats.org/officeDocument/2006/relationships/slide" Target="/ppt/slides/slide1.xml" Id="Rbbbfb1043cdb4a29" /><Relationship Type="http://schemas.openxmlformats.org/officeDocument/2006/relationships/slide" Target="/ppt/slides/slide2.xml" Id="R36e6b8a77927429e" /><Relationship Type="http://schemas.openxmlformats.org/officeDocument/2006/relationships/slide" Target="/ppt/slides/slide3.xml" Id="Rc3a6dfa061984338" /><Relationship Type="http://schemas.openxmlformats.org/officeDocument/2006/relationships/slide" Target="/ppt/slides/slide4.xml" Id="R516098ec59d54263" /><Relationship Type="http://schemas.openxmlformats.org/officeDocument/2006/relationships/slide" Target="/ppt/slides/slide5.xml" Id="R93f361573772466b" /><Relationship Type="http://schemas.openxmlformats.org/officeDocument/2006/relationships/slide" Target="/ppt/slides/slide6.xml" Id="Ra9ea32c5fe2a4442" /><Relationship Type="http://schemas.openxmlformats.org/officeDocument/2006/relationships/slide" Target="/ppt/slides/slide7.xml" Id="Rcdebb4e29e4642ea" /><Relationship Type="http://schemas.openxmlformats.org/officeDocument/2006/relationships/slide" Target="/ppt/slides/slide8.xml" Id="Rb11a3a771eef4d02" /><Relationship Type="http://schemas.openxmlformats.org/officeDocument/2006/relationships/slide" Target="/ppt/slides/slide9.xml" Id="R72971b80cfe7435f" /><Relationship Type="http://schemas.openxmlformats.org/officeDocument/2006/relationships/slide" Target="/ppt/slides/slide10.xml" Id="Rdff4173c7a0c4ff5" /><Relationship Type="http://schemas.openxmlformats.org/officeDocument/2006/relationships/slide" Target="/ppt/slides/slide11.xml" Id="Rd87ea75086ac4e77" /><Relationship Type="http://schemas.openxmlformats.org/officeDocument/2006/relationships/slide" Target="/ppt/slides/slide12.xml" Id="R41c037e455ec4bee" /><Relationship Type="http://schemas.openxmlformats.org/officeDocument/2006/relationships/slide" Target="/ppt/slides/slide13.xml" Id="R337feb7e084f45b7" /><Relationship Type="http://schemas.openxmlformats.org/officeDocument/2006/relationships/slide" Target="/ppt/slides/slide14.xml" Id="R7b2ee1ed16244d1d" /><Relationship Type="http://schemas.openxmlformats.org/officeDocument/2006/relationships/slide" Target="/ppt/slides/slide15.xml" Id="R4c6c0191243044b2" /><Relationship Type="http://schemas.openxmlformats.org/officeDocument/2006/relationships/slide" Target="/ppt/slides/slide16.xml" Id="R26315ca4e01b44ea" /><Relationship Type="http://schemas.openxmlformats.org/officeDocument/2006/relationships/slide" Target="/ppt/slides/slide17.xml" Id="R6d7acb1ecf5840e3" /><Relationship Type="http://schemas.openxmlformats.org/officeDocument/2006/relationships/slide" Target="/ppt/slides/slide18.xml" Id="R55ec4feefe3349f2" /><Relationship Type="http://schemas.openxmlformats.org/officeDocument/2006/relationships/slide" Target="/ppt/slides/slide19.xml" Id="Rf6085106d47e4576" /><Relationship Type="http://schemas.openxmlformats.org/officeDocument/2006/relationships/slide" Target="/ppt/slides/slide20.xml" Id="R73db940d645744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ee9079f1914e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7cdaded3d64021" /><Relationship Type="http://schemas.openxmlformats.org/officeDocument/2006/relationships/notesMaster" Target="/ppt/notesMasters/notesMaster1.xml" Id="R8f41ac5281604a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63adf579164ab8" /><Relationship Type="http://schemas.openxmlformats.org/officeDocument/2006/relationships/notesMaster" Target="/ppt/notesMasters/notesMaster1.xml" Id="Rf69f60816f3240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724660ce2348e6" /><Relationship Type="http://schemas.openxmlformats.org/officeDocument/2006/relationships/notesMaster" Target="/ppt/notesMasters/notesMaster1.xml" Id="Rfff560a62af24a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a5505f627342bf" /><Relationship Type="http://schemas.openxmlformats.org/officeDocument/2006/relationships/notesMaster" Target="/ppt/notesMasters/notesMaster1.xml" Id="R634f10176f2a4d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9c6da5bc9742e0" /><Relationship Type="http://schemas.openxmlformats.org/officeDocument/2006/relationships/notesMaster" Target="/ppt/notesMasters/notesMaster1.xml" Id="Re5694072d35b46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9530904bbd4408" /><Relationship Type="http://schemas.openxmlformats.org/officeDocument/2006/relationships/notesMaster" Target="/ppt/notesMasters/notesMaster1.xml" Id="Rc7c4db06b2184f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a05a5471914118" /><Relationship Type="http://schemas.openxmlformats.org/officeDocument/2006/relationships/notesMaster" Target="/ppt/notesMasters/notesMaster1.xml" Id="R29631e90cf144f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0bc0250a574dc3" /><Relationship Type="http://schemas.openxmlformats.org/officeDocument/2006/relationships/notesMaster" Target="/ppt/notesMasters/notesMaster1.xml" Id="R1650ffb909ce4c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47a62137e042ed" /><Relationship Type="http://schemas.openxmlformats.org/officeDocument/2006/relationships/notesMaster" Target="/ppt/notesMasters/notesMaster1.xml" Id="R173c7fcf60fd44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41c98e979f49e9" /><Relationship Type="http://schemas.openxmlformats.org/officeDocument/2006/relationships/notesMaster" Target="/ppt/notesMasters/notesMaster1.xml" Id="R408593b41b5f43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73ce55281d4bc8" /><Relationship Type="http://schemas.openxmlformats.org/officeDocument/2006/relationships/notesMaster" Target="/ppt/notesMasters/notesMaster1.xml" Id="R475ae9f9886944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27a9433eca4889" /><Relationship Type="http://schemas.openxmlformats.org/officeDocument/2006/relationships/notesMaster" Target="/ppt/notesMasters/notesMaster1.xml" Id="R107924cdebad4c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3dd8717a8a44e3" /><Relationship Type="http://schemas.openxmlformats.org/officeDocument/2006/relationships/notesMaster" Target="/ppt/notesMasters/notesMaster1.xml" Id="Rc5b0dd77705847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6619a3b0744584" /><Relationship Type="http://schemas.openxmlformats.org/officeDocument/2006/relationships/notesMaster" Target="/ppt/notesMasters/notesMaster1.xml" Id="R901561fd4c794d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139cdea29a4d0b" /><Relationship Type="http://schemas.openxmlformats.org/officeDocument/2006/relationships/notesMaster" Target="/ppt/notesMasters/notesMaster1.xml" Id="R1444f8e074cb471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a8fe82ca4543ec" /><Relationship Type="http://schemas.openxmlformats.org/officeDocument/2006/relationships/notesMaster" Target="/ppt/notesMasters/notesMaster1.xml" Id="R0f1c49b9751b4b7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ba6933f1c894cd3" /><Relationship Type="http://schemas.openxmlformats.org/officeDocument/2006/relationships/notesMaster" Target="/ppt/notesMasters/notesMaster1.xml" Id="R166193e4f946436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4e7b58b8b041db" /><Relationship Type="http://schemas.openxmlformats.org/officeDocument/2006/relationships/notesMaster" Target="/ppt/notesMasters/notesMaster1.xml" Id="Rea3a1e30174542c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cda8c4a37f5422c" /><Relationship Type="http://schemas.openxmlformats.org/officeDocument/2006/relationships/notesMaster" Target="/ppt/notesMasters/notesMaster1.xml" Id="R13e12f6c1ac146e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3322be715df4900" /><Relationship Type="http://schemas.openxmlformats.org/officeDocument/2006/relationships/notesMaster" Target="/ppt/notesMasters/notesMaster1.xml" Id="R3057f5bf49674e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5c2712be5c4f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b52383274e4914" /><Relationship Type="http://schemas.openxmlformats.org/officeDocument/2006/relationships/slideLayout" Target="/ppt/slideLayouts/slideLayout1.xml" Id="R6da630151da64f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a630151da64f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c56e74a304ca0" /><Relationship Type="http://schemas.openxmlformats.org/officeDocument/2006/relationships/notesSlide" Target="/ppt/notesSlides/notesSlide1.xml" Id="Rf4df310e633d47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2172c7c184490" /><Relationship Type="http://schemas.openxmlformats.org/officeDocument/2006/relationships/image" Target="/ppt/media/image.png" Id="Rae288814677c48fe" /><Relationship Type="http://schemas.openxmlformats.org/officeDocument/2006/relationships/image" Target="/ppt/media/image.svg" Id="Rcdc76891016f41ed" /><Relationship Type="http://schemas.openxmlformats.org/officeDocument/2006/relationships/notesSlide" Target="/ppt/notesSlides/notesSlide2.xml" Id="Rc5e29754686243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171ea5a4d42b3" /><Relationship Type="http://schemas.openxmlformats.org/officeDocument/2006/relationships/image" Target="/ppt/media/image2.png" Id="Rceeb1c3549c944be" /><Relationship Type="http://schemas.openxmlformats.org/officeDocument/2006/relationships/image" Target="/ppt/media/image2.svg" Id="R1d10a445be9b4ba9" /><Relationship Type="http://schemas.openxmlformats.org/officeDocument/2006/relationships/notesSlide" Target="/ppt/notesSlides/notesSlide3.xml" Id="Rc53098552c0b40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647f312a1436a" /><Relationship Type="http://schemas.openxmlformats.org/officeDocument/2006/relationships/image" Target="/ppt/media/image3.png" Id="R515795a7d8e94cb2" /><Relationship Type="http://schemas.openxmlformats.org/officeDocument/2006/relationships/image" Target="/ppt/media/image3.svg" Id="Rb69b752d1c314dc5" /><Relationship Type="http://schemas.openxmlformats.org/officeDocument/2006/relationships/notesSlide" Target="/ppt/notesSlides/notesSlide4.xml" Id="R7ab4159234494b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fe629e88f47ba" /><Relationship Type="http://schemas.openxmlformats.org/officeDocument/2006/relationships/image" Target="/ppt/media/image4.png" Id="R515652c36f384fdb" /><Relationship Type="http://schemas.openxmlformats.org/officeDocument/2006/relationships/image" Target="/ppt/media/image4.svg" Id="R8d8b5666fb3041a0" /><Relationship Type="http://schemas.openxmlformats.org/officeDocument/2006/relationships/notesSlide" Target="/ppt/notesSlides/notesSlide5.xml" Id="Rdae48e272c114a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f242a985f4146" /><Relationship Type="http://schemas.openxmlformats.org/officeDocument/2006/relationships/image" Target="/ppt/media/image5.png" Id="R927bfc07637d4ae2" /><Relationship Type="http://schemas.openxmlformats.org/officeDocument/2006/relationships/image" Target="/ppt/media/image5.svg" Id="R5f336b8bf0ab4ada" /><Relationship Type="http://schemas.openxmlformats.org/officeDocument/2006/relationships/notesSlide" Target="/ppt/notesSlides/notesSlide6.xml" Id="Rf8703fada18c49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9afd042504248" /><Relationship Type="http://schemas.openxmlformats.org/officeDocument/2006/relationships/image" Target="/ppt/media/image6.png" Id="Rb3c7af92504c466f" /><Relationship Type="http://schemas.openxmlformats.org/officeDocument/2006/relationships/image" Target="/ppt/media/image6.svg" Id="Rb7466c4cd26e46d9" /><Relationship Type="http://schemas.openxmlformats.org/officeDocument/2006/relationships/notesSlide" Target="/ppt/notesSlides/notesSlide7.xml" Id="Ra94e63f402ff46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3039466e44396" /><Relationship Type="http://schemas.openxmlformats.org/officeDocument/2006/relationships/image" Target="/ppt/media/image7.png" Id="R3c7eac52a0f74c72" /><Relationship Type="http://schemas.openxmlformats.org/officeDocument/2006/relationships/image" Target="/ppt/media/image7.svg" Id="Rf6373f3d48964afc" /><Relationship Type="http://schemas.openxmlformats.org/officeDocument/2006/relationships/notesSlide" Target="/ppt/notesSlides/notesSlide8.xml" Id="R604beddf4dad46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c3391448749e3" /><Relationship Type="http://schemas.openxmlformats.org/officeDocument/2006/relationships/image" Target="/ppt/media/image8.png" Id="R4d2abe88383d4487" /><Relationship Type="http://schemas.openxmlformats.org/officeDocument/2006/relationships/image" Target="/ppt/media/image8.svg" Id="Rb52fc6068de64ce9" /><Relationship Type="http://schemas.openxmlformats.org/officeDocument/2006/relationships/notesSlide" Target="/ppt/notesSlides/notesSlide9.xml" Id="R4ce33ecb6be148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4373e69904374" /><Relationship Type="http://schemas.openxmlformats.org/officeDocument/2006/relationships/image" Target="/ppt/media/image9.png" Id="R347c426177304587" /><Relationship Type="http://schemas.openxmlformats.org/officeDocument/2006/relationships/image" Target="/ppt/media/image9.svg" Id="R0b4371347ca9416b" /><Relationship Type="http://schemas.openxmlformats.org/officeDocument/2006/relationships/notesSlide" Target="/ppt/notesSlides/notesSlide10.xml" Id="R1c483adab60648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fb1b2eb4047ce" /><Relationship Type="http://schemas.openxmlformats.org/officeDocument/2006/relationships/image" Target="/ppt/media/image10.png" Id="R6ab0888f024c4484" /><Relationship Type="http://schemas.openxmlformats.org/officeDocument/2006/relationships/image" Target="/ppt/media/image10.svg" Id="Rcb0b9c9fc4304f91" /><Relationship Type="http://schemas.openxmlformats.org/officeDocument/2006/relationships/notesSlide" Target="/ppt/notesSlides/notesSlide11.xml" Id="R23b1d4ea689a4a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e53b52c704cb7" /><Relationship Type="http://schemas.openxmlformats.org/officeDocument/2006/relationships/image" Target="/ppt/media/image11.png" Id="R340d657f9738413e" /><Relationship Type="http://schemas.openxmlformats.org/officeDocument/2006/relationships/image" Target="/ppt/media/image11.svg" Id="R96b51436682a4c95" /><Relationship Type="http://schemas.openxmlformats.org/officeDocument/2006/relationships/notesSlide" Target="/ppt/notesSlides/notesSlide12.xml" Id="Re4cbf066366843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e58e53d654447" /><Relationship Type="http://schemas.openxmlformats.org/officeDocument/2006/relationships/image" Target="/ppt/media/image12.png" Id="R608a4171fad44ccd" /><Relationship Type="http://schemas.openxmlformats.org/officeDocument/2006/relationships/image" Target="/ppt/media/image12.svg" Id="Rc5db72c62f334311" /><Relationship Type="http://schemas.openxmlformats.org/officeDocument/2006/relationships/notesSlide" Target="/ppt/notesSlides/notesSlide13.xml" Id="Ref4fc71fbfb642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8c6640b2c435c" /><Relationship Type="http://schemas.openxmlformats.org/officeDocument/2006/relationships/image" Target="/ppt/media/image13.png" Id="R5e64d68eda2c424b" /><Relationship Type="http://schemas.openxmlformats.org/officeDocument/2006/relationships/image" Target="/ppt/media/image13.svg" Id="Re4fc9b6359654814" /><Relationship Type="http://schemas.openxmlformats.org/officeDocument/2006/relationships/notesSlide" Target="/ppt/notesSlides/notesSlide14.xml" Id="Rbde32f62516e42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384d5e5954b32" /><Relationship Type="http://schemas.openxmlformats.org/officeDocument/2006/relationships/image" Target="/ppt/media/image14.png" Id="R49dccce24172437d" /><Relationship Type="http://schemas.openxmlformats.org/officeDocument/2006/relationships/image" Target="/ppt/media/image14.svg" Id="Re2e25cf8e5544557" /><Relationship Type="http://schemas.openxmlformats.org/officeDocument/2006/relationships/notesSlide" Target="/ppt/notesSlides/notesSlide15.xml" Id="R60b8984c2f6846d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643da0e9f4a7a" /><Relationship Type="http://schemas.openxmlformats.org/officeDocument/2006/relationships/image" Target="/ppt/media/image15.png" Id="R711edb26c7944c55" /><Relationship Type="http://schemas.openxmlformats.org/officeDocument/2006/relationships/image" Target="/ppt/media/image15.svg" Id="Rc99c837416c24097" /><Relationship Type="http://schemas.openxmlformats.org/officeDocument/2006/relationships/notesSlide" Target="/ppt/notesSlides/notesSlide16.xml" Id="R723afc0e728b4a7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7efac92c841f9" /><Relationship Type="http://schemas.openxmlformats.org/officeDocument/2006/relationships/image" Target="/ppt/media/image16.png" Id="R0f73aff7a13f404c" /><Relationship Type="http://schemas.openxmlformats.org/officeDocument/2006/relationships/image" Target="/ppt/media/image16.svg" Id="R60c42832b36c444f" /><Relationship Type="http://schemas.openxmlformats.org/officeDocument/2006/relationships/notesSlide" Target="/ppt/notesSlides/notesSlide17.xml" Id="R66ca2b58cb19423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e4193798d47d5" /><Relationship Type="http://schemas.openxmlformats.org/officeDocument/2006/relationships/image" Target="/ppt/media/image17.png" Id="R3d83aba46afe421e" /><Relationship Type="http://schemas.openxmlformats.org/officeDocument/2006/relationships/image" Target="/ppt/media/image17.svg" Id="Rde8823f025684b7f" /><Relationship Type="http://schemas.openxmlformats.org/officeDocument/2006/relationships/notesSlide" Target="/ppt/notesSlides/notesSlide18.xml" Id="Rad600031585243e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cb831d8984df0" /><Relationship Type="http://schemas.openxmlformats.org/officeDocument/2006/relationships/image" Target="/ppt/media/image18.png" Id="R73570adc636a477d" /><Relationship Type="http://schemas.openxmlformats.org/officeDocument/2006/relationships/image" Target="/ppt/media/image18.svg" Id="Re044c685744a4e86" /><Relationship Type="http://schemas.openxmlformats.org/officeDocument/2006/relationships/notesSlide" Target="/ppt/notesSlides/notesSlide19.xml" Id="R83737c3493b642f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cd38d731e4ee5" /><Relationship Type="http://schemas.openxmlformats.org/officeDocument/2006/relationships/image" Target="/ppt/media/image19.png" Id="R376f2f18830f49ce" /><Relationship Type="http://schemas.openxmlformats.org/officeDocument/2006/relationships/image" Target="/ppt/media/image19.svg" Id="R054b64d067654b66" /><Relationship Type="http://schemas.openxmlformats.org/officeDocument/2006/relationships/notesSlide" Target="/ppt/notesSlides/notesSlide20.xml" Id="R2b4c477cffb74e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ld-rail">
            <a:extLst xmlns:a="http://schemas.openxmlformats.org/drawingml/2006/main">
              <a:ext uri="{FF2B5EF4-FFF2-40B4-BE49-F238E27FC236}">
                <a16:creationId xmlns:a16="http://schemas.microsoft.com/office/drawing/2014/main" id="{6A651A6D-DAAC-421E-82FC-61D5001E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institution">
            <a:extLst xmlns:a="http://schemas.openxmlformats.org/drawingml/2006/main">
              <a:ext uri="{FF2B5EF4-FFF2-40B4-BE49-F238E27FC236}">
                <a16:creationId xmlns:a16="http://schemas.microsoft.com/office/drawing/2014/main" id="{203EEDB9-FFAE-4085-AF3F-1C1C9514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BA RIA - VUNG TAU UNIVERSITY</a:t>
            </a:r>
          </a:p>
        </p:txBody>
      </p:sp>
      <p:sp>
        <p:nvSpPr>
          <p:cNvPr id="3" name="class">
            <a:extLst xmlns:a="http://schemas.openxmlformats.org/drawingml/2006/main">
              <a:ext uri="{FF2B5EF4-FFF2-40B4-BE49-F238E27FC236}">
                <a16:creationId xmlns:a16="http://schemas.microsoft.com/office/drawing/2014/main" id="{E9F24057-D5AC-4338-ACE3-B6381AF4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TESOL PROGRAMME  •  CLASS MTESOL26K15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F9E68080-FFCB-4F0B-AB85-2AE2F6C2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ssion">
            <a:extLst xmlns:a="http://schemas.openxmlformats.org/drawingml/2006/main">
              <a:ext uri="{FF2B5EF4-FFF2-40B4-BE49-F238E27FC236}">
                <a16:creationId xmlns:a16="http://schemas.microsoft.com/office/drawing/2014/main" id="{55E05D07-F462-43AB-99D4-2323FADA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4A72C"/>
                </a:solidFill>
              </a:defRPr>
            </a:pPr>
            <a:r>
              <a:rPr sz="1500" b="1" i="0">
                <a:solidFill>
                  <a:srgbClr val="D4A72C"/>
                </a:solidFill>
              </a:rPr>
              <a:t>SESSION 4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57ECD11-45E1-4874-949D-EB2B1033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810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CONSTRUCT → EVIDENCE → TASK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DESIGN BACKWARD FROM THE CLAIM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6044B767-5C15-4950-8606-CC17CA4C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D4A72C"/>
                </a:solidFill>
              </a:defRPr>
            </a:pPr>
            <a:r>
              <a:rPr sz="1875" b="0" i="1">
                <a:solidFill>
                  <a:srgbClr val="D4A72C"/>
                </a:solidFill>
              </a:rPr>
              <a:t>A task is valuable only when it elicits the evidence an intended decision requires.</a:t>
            </a:r>
          </a:p>
        </p:txBody>
      </p:sp>
      <p:sp>
        <p:nvSpPr>
          <p:cNvPr id="8" name="meta">
            <a:extLst xmlns:a="http://schemas.openxmlformats.org/drawingml/2006/main">
              <a:ext uri="{FF2B5EF4-FFF2-40B4-BE49-F238E27FC236}">
                <a16:creationId xmlns:a16="http://schemas.microsoft.com/office/drawing/2014/main" id="{810790DF-DD01-4487-8113-64962C55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9" name="instructor">
            <a:extLst xmlns:a="http://schemas.openxmlformats.org/drawingml/2006/main">
              <a:ext uri="{FF2B5EF4-FFF2-40B4-BE49-F238E27FC236}">
                <a16:creationId xmlns:a16="http://schemas.microsoft.com/office/drawing/2014/main" id="{E02F25B0-C781-42D2-B902-3236B7A4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Le Thanh Hoa, PhD  |  Course Instructor</a:t>
            </a:r>
          </a:p>
        </p:txBody>
      </p:sp>
      <p:sp>
        <p:nvSpPr>
          <p:cNvPr id="10" name="reading">
            <a:extLst xmlns:a="http://schemas.openxmlformats.org/drawingml/2006/main">
              <a:ext uri="{FF2B5EF4-FFF2-40B4-BE49-F238E27FC236}">
                <a16:creationId xmlns:a16="http://schemas.microsoft.com/office/drawing/2014/main" id="{4356EB57-1F6C-4E7A-B677-9C6D0309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9E2F3"/>
                </a:solidFill>
              </a:defRPr>
            </a:pPr>
            <a:r>
              <a:rPr sz="1200" b="0" i="0">
                <a:solidFill>
                  <a:srgbClr val="D9E2F3"/>
                </a:solidFill>
              </a:rPr>
              <a:t>Core reading: Phakiti &amp; Leung (2024), Sections 5–6, pp. 33–62</a:t>
            </a:r>
          </a:p>
        </p:txBody>
      </p:sp>
      <p:sp>
        <p:nvSpPr>
          <p:cNvPr id="11" name="n">
            <a:extLst xmlns:a="http://schemas.openxmlformats.org/drawingml/2006/main">
              <a:ext uri="{FF2B5EF4-FFF2-40B4-BE49-F238E27FC236}">
                <a16:creationId xmlns:a16="http://schemas.microsoft.com/office/drawing/2014/main" id="{CE5C25B1-FF81-4858-9EA6-46C49662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4A72C"/>
                </a:solidFill>
              </a:defRPr>
            </a:pPr>
            <a:r>
              <a:rPr sz="825" b="1" i="0">
                <a:solidFill>
                  <a:srgbClr val="D4A72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878823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DBE50C1B-656D-49DC-93C4-889F5043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88814677c48fe">
            <a:extLst>
              <a:ext uri="{96DAC541-7B7A-43D3-8B79-37D633B846F1}">
                <asvg:svgBlip xmlns:asvg="http://schemas.microsoft.com/office/drawing/2016/SVG/main" r:embed="Rcdc76891016f41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6D406313-71EB-4DB7-8581-F6B01AB5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BEFORE INSTRUCTION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FE3150-F424-4F04-B633-B39ACCDB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Choose a Task—or Ask for Evidence First?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2EE8FCDC-AE85-43C6-9F57-89BA34A5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E045D7DC-07BF-475E-8AC8-282B7C09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Pre-instruction diagnostic activity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73DADBB2-91BA-47CD-8402-BE9D780F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4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38B78B7F-C447-4C40-B360-EB5C90D9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195033EC-E3D1-4463-9FC6-5FABDC45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B3A4D0F3-E802-49B2-8B17-80C7E2DE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Capture students’ spontaneous approach to selecting an assessment task.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602320AA-14E1-464F-9CB7-73E5E138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7D7AB063-8F7F-455C-8BF0-A5A34269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4D66FD8A-361F-45A5-A51D-4E13CD47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MC comprehension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A91D6C44-1E24-4590-9F8E-B570B67E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AA044761-CD95-4531-A809-43B560F0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F25401AF-8D23-403B-924C-DFC7F4F4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Source-based recommendation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FEB6C318-6D19-45BF-9855-B521548E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B93390D4-5F17-4E2F-9494-24F2D342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D03627CD-ACEC-4347-B005-DF55ABE3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General opinion essay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781A4E51-C06E-4554-AAA4-6FEF3EEA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3E27362D-66AA-462D-8293-9BB7BEA9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38DF8B74-0E3E-4F2F-974B-4004E203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Oral summary of one source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724C3B7F-97AE-477F-88C7-27C73907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E98AC2C4-5AF7-445A-8382-0BABD1B1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197CD938-01E3-4337-AB89-F0B189E9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option would you choose?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What evidence would it produce?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What important evidence would remain missing?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95C1A25F-4B5C-4540-BCBD-D935C992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B274478E-A566-4F6E-AB93-498F65F4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Individual S4 Task Choice Snapshot v0.</a:t>
            </a:r>
          </a:p>
        </p:txBody>
      </p:sp>
    </p:spTree>
    <p:extLst>
      <p:ext uri="{BB962C8B-B14F-4D97-AF65-F5344CB8AC3E}">
        <p14:creationId xmlns:p14="http://schemas.microsoft.com/office/powerpoint/2010/main" val="12141695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A6F4C522-0583-438E-98B0-CC76AE11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b1c3549c944be">
            <a:extLst>
              <a:ext uri="{96DAC541-7B7A-43D3-8B79-37D633B846F1}">
                <asvg:svgBlip xmlns:asvg="http://schemas.microsoft.com/office/drawing/2016/SVG/main" r:embed="R1d10a445be9b4b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7F9C0206-1358-49F0-B1EA-249EA574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CONSTRUCT TO EVIDENCE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DDE231-589C-4BF4-BC76-DC959574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A Construct Becomes Useful When It Guides Observation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3CA4738E-040F-4154-8F7F-E6BC7BC9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94C12CAC-8DCD-4EE2-BED0-11D0E518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5.1, pp. 33–34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F1FBD714-4C52-431A-BBFD-EA3C6DEA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4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1B854BF1-1658-4683-B9A8-112041A8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B11AE64D-1CC0-46C8-87A8-E5A82AD5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87C268BD-894B-46F2-97A3-88497372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E7EA24FB-E9AA-4EEA-96DD-67398849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26FBFD9A-EEE4-45F2-B037-EE161098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Construct is abstract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4FF56A93-7992-4E69-92A4-B7136BB8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A8542F75-8B03-4705-A502-5E8580CC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A9EDE252-8E58-4F32-956E-24003DA4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Performance is observable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ACCBABDF-5EF5-4FAC-A4FA-5C9E84E8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9E27D4E1-C790-4FE6-8822-3D80E219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16FB3E31-CE3B-4BE1-90AC-EC64E4AB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Features become evidence through interpretation</a:t>
            </a:r>
          </a:p>
        </p:txBody>
      </p:sp>
      <p:sp>
        <p:nvSpPr>
          <p:cNvPr id="19" name="take">
            <a:extLst xmlns:a="http://schemas.openxmlformats.org/drawingml/2006/main">
              <a:ext uri="{FF2B5EF4-FFF2-40B4-BE49-F238E27FC236}">
                <a16:creationId xmlns:a16="http://schemas.microsoft.com/office/drawing/2014/main" id="{1F0F1308-6939-4DCB-8234-803136B0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Reinforce the inferential relationship between an abstract construct and observable performance.</a:t>
            </a:r>
          </a:p>
        </p:txBody>
      </p:sp>
    </p:spTree>
    <p:extLst>
      <p:ext uri="{BB962C8B-B14F-4D97-AF65-F5344CB8AC3E}">
        <p14:creationId xmlns:p14="http://schemas.microsoft.com/office/powerpoint/2010/main" val="12526941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3A7AF15E-DDE1-4363-A9F1-EF932E0E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795a7d8e94cb2">
            <a:extLst>
              <a:ext uri="{96DAC541-7B7A-43D3-8B79-37D633B846F1}">
                <asvg:svgBlip xmlns:asvg="http://schemas.microsoft.com/office/drawing/2016/SVG/main" r:embed="Rb69b752d1c314d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31F85C2A-23BE-4965-8942-24C8BA76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ELICITATION APPROACHES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8A80A3-8EBE-40F2-9FF4-6D984EFA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Directness Controls the Strength and Scope of Inference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454D61B5-35AB-4333-A4E3-D330F2A4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BFB3F8FB-A10E-4F4C-A0B7-9DA6E343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Sections 5.2–5.2.1, pp. 34–36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C2EC59E5-6237-4A11-8496-2727194B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4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8D678484-8ABB-4174-9451-20A02324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04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B94F28CC-4D6A-46B1-80E7-929CF563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4731CC37-A821-45E6-9E22-7DEEA986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79169AB5-883B-43F6-A3DA-309ECD24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C4EAAA10-B8AF-42E8-B44F-36262CD6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DIRECT: perform the focal use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353B0E09-916D-4A9E-83CA-6AC4E35B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18268B4B-2F3F-4CFB-8137-AF9DD367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6DA4DFA0-54A5-40C0-93F8-451350A7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SEMI-DIRECT: perform through mediated prompts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408CFF6C-294C-4070-A74C-D8C4ACB7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E8E65B70-210F-40C8-999B-540FA6FF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9A031E5D-E68C-4A43-80AA-5D9489CB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INDIRECT: demonstrate related knowledge or subskills</a:t>
            </a:r>
          </a:p>
        </p:txBody>
      </p:sp>
      <p:sp>
        <p:nvSpPr>
          <p:cNvPr id="19" name="take">
            <a:extLst xmlns:a="http://schemas.openxmlformats.org/drawingml/2006/main">
              <a:ext uri="{FF2B5EF4-FFF2-40B4-BE49-F238E27FC236}">
                <a16:creationId xmlns:a16="http://schemas.microsoft.com/office/drawing/2014/main" id="{6F358811-1640-4BA4-96FA-CEA63CFB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Differentiate direct, semi-direct, and indirect elicitation and relate each to defensible claims.</a:t>
            </a:r>
          </a:p>
        </p:txBody>
      </p:sp>
    </p:spTree>
    <p:extLst>
      <p:ext uri="{BB962C8B-B14F-4D97-AF65-F5344CB8AC3E}">
        <p14:creationId xmlns:p14="http://schemas.microsoft.com/office/powerpoint/2010/main" val="202069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CA8F8CCC-9290-45C0-AAF0-DDACF1B2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652c36f384fdb">
            <a:extLst>
              <a:ext uri="{96DAC541-7B7A-43D3-8B79-37D633B846F1}">
                <asvg:svgBlip xmlns:asvg="http://schemas.microsoft.com/office/drawing/2016/SVG/main" r:embed="R8d8b5666fb3041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7AB92585-FAAC-4822-A766-EF372A00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INTEGRATED ASSESSMENT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F471A6-A648-4984-8D56-B09D6928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Integrated Tasks Increase Richness—and Attribution Demands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DD45C924-BF47-433E-AE0D-F1BECA6A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2624B782-69A7-4786-A76D-B2F493BD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5.2.2, pp. 35–37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C568339B-9F61-4F7F-BDEB-0445A32E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4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7C6D6F2C-4820-4A6B-AD82-16BA2FF8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05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83FFF4A2-EEC7-4317-AFB9-7B2CE5F2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E50B9788-0D47-4097-8A38-B7EEEF52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AD04DB8D-3E3A-4C23-B101-7F23489F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Richer target-language use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6519E11E-6097-495F-B197-C3F5FDEA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56A73172-7967-435E-8797-DBC138AA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F8C70CB4-FAB2-46B4-9B6B-88BB22A1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Multiple processes contribute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A6159513-98B5-4DF9-82D5-4D7629F4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3F46175D-0130-429E-AB88-DFE8705E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2138C248-A38F-458A-94D1-739BEF84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Scoring must reflect the intended claim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43AC5E82-D4EA-4FE2-BEC0-C675A08B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Distinguish integrative and integrated performance and identify implications for evidence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1509286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6BAF7AAE-0FE7-43EA-A36F-2CDCEB7A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bfc07637d4ae2">
            <a:extLst>
              <a:ext uri="{96DAC541-7B7A-43D3-8B79-37D633B846F1}">
                <asvg:svgBlip xmlns:asvg="http://schemas.microsoft.com/office/drawing/2016/SVG/main" r:embed="R5f336b8bf0ab4a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BB1F76BC-8018-4BC9-945E-CCC769FA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RESPONSE TECHNIQUES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C67C82-6349-4A99-B963-2752A2D2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Selected and Constructed Responses Reveal Different Evidence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25DCDC33-20C3-4F60-ADAA-BB2D2756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4196AB4D-1EC9-4AEA-8D5B-C6602617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5.2.3, pp. 37–38; Section 6.1.6, pp. 45–61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D8B495CC-5DB6-4837-AAAD-07CB9BED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4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664FB069-510C-49B2-9DA0-C21BFDCE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06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D41FDD21-E079-4E1E-B4B0-E6F19203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8221F376-5D5E-4348-B515-FA5D970D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Compare response techniques through evidence richness, control, efficiency, and scoring demands.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44E93E1A-EDA8-42CA-901A-205977B5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61A691B2-A791-4275-9DB8-F8C68841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95A279E1-4665-4C74-9188-7F44EB11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SELECT: controlled response and broad sampling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DD2AE5AE-5254-4B02-8567-DF299592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DD3C1EC5-5842-4805-9E98-1977CE4F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6BD17201-63EB-41E8-B4FA-6184FC6E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CONSTRUCT: generated performance and richer evidence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EF4F834D-2465-4B38-91DC-E0C9D742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D7788941-5175-4E6D-A1FB-BFE27D23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9D813402-4917-4DEF-B7C7-FD8303BB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MIX: complementary evidence when justified</a:t>
            </a:r>
          </a:p>
        </p:txBody>
      </p:sp>
      <p:sp>
        <p:nvSpPr>
          <p:cNvPr id="20" name="side">
            <a:extLst xmlns:a="http://schemas.openxmlformats.org/drawingml/2006/main">
              <a:ext uri="{FF2B5EF4-FFF2-40B4-BE49-F238E27FC236}">
                <a16:creationId xmlns:a16="http://schemas.microsoft.com/office/drawing/2014/main" id="{ACA844EC-B3C6-4C29-8BA6-B25F87C6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1" name="qh">
            <a:extLst xmlns:a="http://schemas.openxmlformats.org/drawingml/2006/main">
              <a:ext uri="{FF2B5EF4-FFF2-40B4-BE49-F238E27FC236}">
                <a16:creationId xmlns:a16="http://schemas.microsoft.com/office/drawing/2014/main" id="{8CCA472F-3E28-413D-B965-FC830D28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2" name="q">
            <a:extLst xmlns:a="http://schemas.openxmlformats.org/drawingml/2006/main">
              <a:ext uri="{FF2B5EF4-FFF2-40B4-BE49-F238E27FC236}">
                <a16:creationId xmlns:a16="http://schemas.microsoft.com/office/drawing/2014/main" id="{E38736FB-DD0D-4985-8904-766227DE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When is recognition sufficient evidence?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When does constructed response add irrelevant demand?</a:t>
            </a:r>
          </a:p>
        </p:txBody>
      </p:sp>
      <p:sp>
        <p:nvSpPr>
          <p:cNvPr id="23" name="deliverable">
            <a:extLst xmlns:a="http://schemas.openxmlformats.org/drawingml/2006/main">
              <a:ext uri="{FF2B5EF4-FFF2-40B4-BE49-F238E27FC236}">
                <a16:creationId xmlns:a16="http://schemas.microsoft.com/office/drawing/2014/main" id="{E3D021A8-64AA-473C-8F83-12AAAC8D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4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CA08A86C-7AE8-454B-B96D-5550C48D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Before/after technique comparison.</a:t>
            </a:r>
          </a:p>
        </p:txBody>
      </p:sp>
    </p:spTree>
    <p:extLst>
      <p:ext uri="{BB962C8B-B14F-4D97-AF65-F5344CB8AC3E}">
        <p14:creationId xmlns:p14="http://schemas.microsoft.com/office/powerpoint/2010/main" val="17928993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4D957B78-D269-4097-A752-A7201837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7af92504c466f">
            <a:extLst>
              <a:ext uri="{96DAC541-7B7A-43D3-8B79-37D633B846F1}">
                <asvg:svgBlip xmlns:asvg="http://schemas.microsoft.com/office/drawing/2016/SVG/main" r:embed="Rb7466c4cd26e46d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8542E69A-8C48-4A00-91AD-79D1590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CLASSICAL TEST THEORY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A58885-0A0D-4CF8-88D0-9161E617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Observed Performance Contains Signal and Error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3AAA839-AE6E-437E-94DA-95E2144C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660C52E3-7707-43F5-B674-4DEADAB5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5.3, pp. 38–41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97E2C4D5-17E1-4449-B5AA-02443813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4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0CA0ED41-B58D-48D6-B042-6629EB18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07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774E4F6D-641C-4B58-8597-3C6440CD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EBB2824E-7A9B-40E0-9096-69B88A7F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Introduce the core CTT relationship and translate error into practical design questions.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766C3666-1967-46EF-AE3E-9674255F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468AD66F-D157-4C51-BB3A-437768FE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6A13A06E-8C54-44B9-B70F-B3BD186A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OBSERVED SCORE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C3E56675-F216-4110-975B-59427DA9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D8E29102-0EB8-40E1-893B-54A7719C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E7A07946-0C3E-4E77-B3D8-9C3B9906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TRUE-SCORE COMPONENT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C30947FD-C8FD-4034-B703-4312E6EE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345F45EE-89EA-4DC9-819A-31A3B156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7AE75947-D89A-4CD8-BABA-89B0D622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ERROR COMPONENT</a:t>
            </a:r>
          </a:p>
        </p:txBody>
      </p:sp>
      <p:sp>
        <p:nvSpPr>
          <p:cNvPr id="20" name="side">
            <a:extLst xmlns:a="http://schemas.openxmlformats.org/drawingml/2006/main">
              <a:ext uri="{FF2B5EF4-FFF2-40B4-BE49-F238E27FC236}">
                <a16:creationId xmlns:a16="http://schemas.microsoft.com/office/drawing/2014/main" id="{C2AEDDAD-1539-4322-ACC9-8BEB3E8B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1" name="qh">
            <a:extLst xmlns:a="http://schemas.openxmlformats.org/drawingml/2006/main">
              <a:ext uri="{FF2B5EF4-FFF2-40B4-BE49-F238E27FC236}">
                <a16:creationId xmlns:a16="http://schemas.microsoft.com/office/drawing/2014/main" id="{2A5EA878-58B6-49F6-ACEF-C78E230C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2" name="q">
            <a:extLst xmlns:a="http://schemas.openxmlformats.org/drawingml/2006/main">
              <a:ext uri="{FF2B5EF4-FFF2-40B4-BE49-F238E27FC236}">
                <a16:creationId xmlns:a16="http://schemas.microsoft.com/office/drawing/2014/main" id="{03BB2FC9-C1CA-428B-89C3-061E238B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sources of error are most plausible in your project?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Can a highly consistent test still support an invalid inference?</a:t>
            </a:r>
          </a:p>
        </p:txBody>
      </p:sp>
      <p:sp>
        <p:nvSpPr>
          <p:cNvPr id="23" name="deliverable">
            <a:extLst xmlns:a="http://schemas.openxmlformats.org/drawingml/2006/main">
              <a:ext uri="{FF2B5EF4-FFF2-40B4-BE49-F238E27FC236}">
                <a16:creationId xmlns:a16="http://schemas.microsoft.com/office/drawing/2014/main" id="{B313BC50-41DF-4560-98CF-B4191D6E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4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88B6C549-5A37-4599-BF07-A1A762A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Team error-source inventory.</a:t>
            </a:r>
          </a:p>
        </p:txBody>
      </p:sp>
    </p:spTree>
    <p:extLst>
      <p:ext uri="{BB962C8B-B14F-4D97-AF65-F5344CB8AC3E}">
        <p14:creationId xmlns:p14="http://schemas.microsoft.com/office/powerpoint/2010/main" val="2018094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5EC95D3-E3A5-4449-98F2-B442A0DF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eac52a0f74c72">
            <a:extLst>
              <a:ext uri="{96DAC541-7B7A-43D3-8B79-37D633B846F1}">
                <asvg:svgBlip xmlns:asvg="http://schemas.microsoft.com/office/drawing/2016/SVG/main" r:embed="Rf6373f3d48964a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37D20607-C308-45F2-8BAD-A022E022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EVIDENCE CLAIMS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119C95-5A00-44B7-943F-9F2E78AB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Write an Evidence Claim Before Writing the Task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25B7C93D-DD94-4910-839E-D000FA1E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8F0A84A1-7B7A-4272-AF4E-F1B1359C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Evidence-centred studio synthesis of Phakiti &amp; Leung (2024), Sections 5.1–5.3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A92545E4-305D-4B70-9C69-104BA179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4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21D34854-D921-4FC6-BF40-AE8B935E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08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E0E85020-17FD-4D4C-B3F4-E1761410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B1C324ED-2D8D-4991-B23A-5240AAB0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1" name="lh">
            <a:extLst xmlns:a="http://schemas.openxmlformats.org/drawingml/2006/main">
              <a:ext uri="{FF2B5EF4-FFF2-40B4-BE49-F238E27FC236}">
                <a16:creationId xmlns:a16="http://schemas.microsoft.com/office/drawing/2014/main" id="{3981CBF3-895B-4221-AEAB-99D03129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CLAIM: intended inference</a:t>
            </a:r>
          </a:p>
        </p:txBody>
      </p:sp>
      <p:sp>
        <p:nvSpPr>
          <p:cNvPr id="12" name="rh">
            <a:extLst xmlns:a="http://schemas.openxmlformats.org/drawingml/2006/main">
              <a:ext uri="{FF2B5EF4-FFF2-40B4-BE49-F238E27FC236}">
                <a16:creationId xmlns:a16="http://schemas.microsoft.com/office/drawing/2014/main" id="{1824A6CB-E0C0-47A0-9993-12C62E8A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65D"/>
                </a:solidFill>
              </a:defRPr>
            </a:pPr>
            <a:r>
              <a:rPr sz="1875" b="1" i="0">
                <a:solidFill>
                  <a:srgbClr val="17365D"/>
                </a:solidFill>
              </a:rPr>
              <a:t>EVIDENCE: observable features and patterns</a:t>
            </a:r>
          </a:p>
        </p:txBody>
      </p:sp>
      <p:sp>
        <p:nvSpPr>
          <p:cNvPr id="13" name="bridge">
            <a:extLst xmlns:a="http://schemas.openxmlformats.org/drawingml/2006/main">
              <a:ext uri="{FF2B5EF4-FFF2-40B4-BE49-F238E27FC236}">
                <a16:creationId xmlns:a16="http://schemas.microsoft.com/office/drawing/2014/main" id="{BBCEA18B-05E4-413B-ACA8-736D4B7F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d">
            <a:extLst xmlns:a="http://schemas.openxmlformats.org/drawingml/2006/main">
              <a:ext uri="{FF2B5EF4-FFF2-40B4-BE49-F238E27FC236}">
                <a16:creationId xmlns:a16="http://schemas.microsoft.com/office/drawing/2014/main" id="{ABE92026-3D84-41D4-B13B-CF0456C3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5" name="mid-t">
            <a:extLst xmlns:a="http://schemas.openxmlformats.org/drawingml/2006/main">
              <a:ext uri="{FF2B5EF4-FFF2-40B4-BE49-F238E27FC236}">
                <a16:creationId xmlns:a16="http://schemas.microsoft.com/office/drawing/2014/main" id="{0E77A8ED-E4B6-452A-BD6C-ACE83D6E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↔</a:t>
            </a:r>
          </a:p>
        </p:txBody>
      </p:sp>
      <p:sp>
        <p:nvSpPr>
          <p:cNvPr id="16" name="third">
            <a:extLst xmlns:a="http://schemas.openxmlformats.org/drawingml/2006/main">
              <a:ext uri="{FF2B5EF4-FFF2-40B4-BE49-F238E27FC236}">
                <a16:creationId xmlns:a16="http://schemas.microsoft.com/office/drawing/2014/main" id="{EF2CD000-1577-44F0-943B-9C83E8E5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769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727E"/>
                </a:solidFill>
              </a:defRPr>
            </a:pPr>
            <a:r>
              <a:rPr sz="1650" b="1" i="0">
                <a:solidFill>
                  <a:srgbClr val="18727E"/>
                </a:solidFill>
              </a:rPr>
              <a:t>TASK: conditions that elicit them</a:t>
            </a:r>
          </a:p>
        </p:txBody>
      </p:sp>
    </p:spTree>
    <p:extLst>
      <p:ext uri="{BB962C8B-B14F-4D97-AF65-F5344CB8AC3E}">
        <p14:creationId xmlns:p14="http://schemas.microsoft.com/office/powerpoint/2010/main" val="17968740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AB809752-20DA-43E6-902D-7B3B5C97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abe88383d4487">
            <a:extLst>
              <a:ext uri="{96DAC541-7B7A-43D3-8B79-37D633B846F1}">
                <asvg:svgBlip xmlns:asvg="http://schemas.microsoft.com/office/drawing/2016/SVG/main" r:embed="Rb52fc6068de64c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AF6C9451-3891-4CA4-8306-6284613F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CASE ANALYSIS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325613-FB94-4F28-9429-CEA262FE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A Familiar Format Can Hide a Weak Evidence Argument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78B3ACC-D840-4DF3-B598-1BCF410C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4DBCA89B-D577-4971-961F-C34EE352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case applying Sections 5.1–5.3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660B75F5-417A-44ED-B8B5-E080D01F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4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BF570C0B-1DCC-4057-A412-1218CEB3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09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9F122BAD-06A3-4913-8D36-312E1AD5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AC90BBA1-70D0-4D5A-BB55-525CCE75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4FD5AC56-C0D5-4B33-A9C6-6C6ECC09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64ACBF8A-5433-469C-BFAB-711824A4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Intended claim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84411274-35F4-4CE6-8FDA-AC801B1D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144F8DEF-AAE6-41DC-8121-52B19DDD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A04DEE99-C5F9-4955-9B9C-B100D46E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Actual response process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D2AB9549-5621-4146-B14E-FD867369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528B644E-98C3-431D-8B90-D2C84BFF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8B189B0A-3C2E-49D7-A927-39DBBA17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Evidence present / absent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D48D1A96-9565-4A48-B752-D35E4415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56A8E7E4-3784-4C2A-B94A-0512483A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9B3F8F97-614A-4F3D-AE9A-DC392E2A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Decision risk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CA9BC0ED-A57B-4E5A-83D5-311D6D22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Diagnose misalignment and unsupported inference in a realistic assessment case.</a:t>
            </a:r>
          </a:p>
        </p:txBody>
      </p:sp>
    </p:spTree>
    <p:extLst>
      <p:ext uri="{BB962C8B-B14F-4D97-AF65-F5344CB8AC3E}">
        <p14:creationId xmlns:p14="http://schemas.microsoft.com/office/powerpoint/2010/main" val="9493626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6B6B2AB3-A75A-4EEB-9E49-62EADD70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c426177304587">
            <a:extLst>
              <a:ext uri="{96DAC541-7B7A-43D3-8B79-37D633B846F1}">
                <asvg:svgBlip xmlns:asvg="http://schemas.microsoft.com/office/drawing/2016/SVG/main" r:embed="R0b4371347ca941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4C63CEF8-5279-4B4B-8642-C169AE3B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DEVELOPMENT CYCLE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F838D2-8E13-4764-8BAC-52FE8CDB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Test Development Is Iterative, Not a One-Off Writing Event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FD6D2DE2-4247-4941-8B45-FB09E6F7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A0ABD1B0-BCC4-46C9-BA36-719CA6D1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6.1 and Figure 7, pp. 41–45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46542BB5-8685-4896-85AC-A3BC1097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4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029FF03E-498C-4279-BC1A-2ABCA79B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10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02E7D97C-DA8C-4A4E-AA67-D006EA96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0CA9591A-70F4-4422-A090-58F0F5E9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EFB76205-A75D-4F68-A15F-05960A51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E6D0EAC0-5572-40BB-A0D4-D78FF53B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3B406BE9-6A2D-4336-8D83-395656F5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E59289CA-659C-45AC-AEBA-1DC723E3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DEVELOP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1634493B-9FEF-4AAD-9779-B5E65717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4A8811FB-8B99-4F1D-927C-D5BDE839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EBB96239-2A8B-4D33-A750-1D3CC08E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ADMINISTER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BA4FE948-D458-476C-8106-A41B3E1E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Present plan–develop–administer–score–use as an iterative assessment lifecycle.</a:t>
            </a:r>
          </a:p>
        </p:txBody>
      </p:sp>
    </p:spTree>
    <p:extLst>
      <p:ext uri="{BB962C8B-B14F-4D97-AF65-F5344CB8AC3E}">
        <p14:creationId xmlns:p14="http://schemas.microsoft.com/office/powerpoint/2010/main" val="1708993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050C96F7-FC36-43E5-8B6E-71C1AA1E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0888f024c4484">
            <a:extLst>
              <a:ext uri="{96DAC541-7B7A-43D3-8B79-37D633B846F1}">
                <asvg:svgBlip xmlns:asvg="http://schemas.microsoft.com/office/drawing/2016/SVG/main" r:embed="Rcb0b9c9fc4304f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3FDEFD01-4095-4B8C-8393-1E1BF4FB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ASSESSMENT SPECIFICATIONS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FFD7FD-3F26-4B81-962A-DEB9F2A6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Specifications Make the Design Argument Visible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338483F4-220E-4A5F-9AAF-049FA901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D20B842C-BA68-4154-92C3-31F9950D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Sections 6.1.1–6.1.2, pp. 41–43; Appendix, pp. 84–86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4DEC8BB4-BF50-4F79-9C10-836235E1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4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E8855A13-9D3D-4B3D-9C1E-DEF0D037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11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F4FF8A77-4517-49EC-BF4C-C2175276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6A4861DD-FB7C-4343-96A2-2A4ED957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1" name="lh">
            <a:extLst xmlns:a="http://schemas.openxmlformats.org/drawingml/2006/main">
              <a:ext uri="{FF2B5EF4-FFF2-40B4-BE49-F238E27FC236}">
                <a16:creationId xmlns:a16="http://schemas.microsoft.com/office/drawing/2014/main" id="{A03D38A3-0D44-427D-BA35-817A4654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Design rationale</a:t>
            </a:r>
          </a:p>
        </p:txBody>
      </p:sp>
      <p:sp>
        <p:nvSpPr>
          <p:cNvPr id="12" name="rh">
            <a:extLst xmlns:a="http://schemas.openxmlformats.org/drawingml/2006/main">
              <a:ext uri="{FF2B5EF4-FFF2-40B4-BE49-F238E27FC236}">
                <a16:creationId xmlns:a16="http://schemas.microsoft.com/office/drawing/2014/main" id="{0E4D8338-B888-457E-A07A-B16C5EB6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65D"/>
                </a:solidFill>
              </a:defRPr>
            </a:pPr>
            <a:r>
              <a:rPr sz="1875" b="1" i="0">
                <a:solidFill>
                  <a:srgbClr val="17365D"/>
                </a:solidFill>
              </a:rPr>
              <a:t>Task and evidence architecture</a:t>
            </a:r>
          </a:p>
        </p:txBody>
      </p:sp>
      <p:sp>
        <p:nvSpPr>
          <p:cNvPr id="13" name="bridge">
            <a:extLst xmlns:a="http://schemas.openxmlformats.org/drawingml/2006/main">
              <a:ext uri="{FF2B5EF4-FFF2-40B4-BE49-F238E27FC236}">
                <a16:creationId xmlns:a16="http://schemas.microsoft.com/office/drawing/2014/main" id="{978F5BD1-E3BB-4ABE-9D7D-1F2B6BAE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d">
            <a:extLst xmlns:a="http://schemas.openxmlformats.org/drawingml/2006/main">
              <a:ext uri="{FF2B5EF4-FFF2-40B4-BE49-F238E27FC236}">
                <a16:creationId xmlns:a16="http://schemas.microsoft.com/office/drawing/2014/main" id="{FAFBBC9C-430D-4F2D-A486-597B0F0E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5" name="mid-t">
            <a:extLst xmlns:a="http://schemas.openxmlformats.org/drawingml/2006/main">
              <a:ext uri="{FF2B5EF4-FFF2-40B4-BE49-F238E27FC236}">
                <a16:creationId xmlns:a16="http://schemas.microsoft.com/office/drawing/2014/main" id="{BF17E469-8DB5-48C8-9B48-40EBE94F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↔</a:t>
            </a:r>
          </a:p>
        </p:txBody>
      </p:sp>
      <p:sp>
        <p:nvSpPr>
          <p:cNvPr id="16" name="third">
            <a:extLst xmlns:a="http://schemas.openxmlformats.org/drawingml/2006/main">
              <a:ext uri="{FF2B5EF4-FFF2-40B4-BE49-F238E27FC236}">
                <a16:creationId xmlns:a16="http://schemas.microsoft.com/office/drawing/2014/main" id="{29197652-BF44-4902-9C5A-7A918D37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769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727E"/>
                </a:solidFill>
              </a:defRPr>
            </a:pPr>
            <a:r>
              <a:rPr sz="1650" b="1" i="0">
                <a:solidFill>
                  <a:srgbClr val="18727E"/>
                </a:solidFill>
              </a:rPr>
              <a:t>Scoring and decision rules</a:t>
            </a:r>
          </a:p>
        </p:txBody>
      </p:sp>
    </p:spTree>
    <p:extLst>
      <p:ext uri="{BB962C8B-B14F-4D97-AF65-F5344CB8AC3E}">
        <p14:creationId xmlns:p14="http://schemas.microsoft.com/office/powerpoint/2010/main" val="19650233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4E3B24CB-2386-41DB-BB16-6CA0CA95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d657f9738413e">
            <a:extLst>
              <a:ext uri="{96DAC541-7B7A-43D3-8B79-37D633B846F1}">
                <asvg:svgBlip xmlns:asvg="http://schemas.microsoft.com/office/drawing/2016/SVG/main" r:embed="R96b51436682a4c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43071D1F-E55A-49A4-A65A-B739B907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A72C"/>
                </a:solidFill>
              </a:defRPr>
            </a:pPr>
            <a:r>
              <a:rPr sz="1050" b="1" i="0">
                <a:solidFill>
                  <a:srgbClr val="D4A72C"/>
                </a:solidFill>
              </a:rPr>
              <a:t>SCORING DESIGN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2EEEB9-573D-46E1-B0A7-EA673130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Scoring Method Must Follow the Evidence, Not Convenience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F7251EF2-BF6A-4B4D-A939-E1F4A999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B4EAF5BD-CF01-47B4-B7CF-91AD7DA8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6.1.4, pp. 44–45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C0ED893D-4661-4BD1-BF57-B77E4949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4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6016124B-3CAC-49B6-B354-0580084E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12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8EFA02F0-AF07-4343-919F-D2873AC0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1E033392-497B-4C2F-9712-198E23BE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Relate objective, semi-objective, and subjective scoring to response variability and judgement.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7B95A9F7-21BC-4EF1-9F6D-DB301676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83AD0ADC-3F39-4258-A196-053E19E5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B855ED30-3886-473E-8C2C-2014A2EC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OBJECTIVE: predetermined key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F64E6388-39B6-4073-91EA-2504ECA8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06CE901F-6CF1-439F-946C-9D149070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E2DD996F-175E-4B2D-852E-8F918DC1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SEMI-OBJECTIVE: bounded acceptable responses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D2D2A29D-5D4C-4FE4-8138-DBF06470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8F3801CD-9607-4C98-8A4E-8F4375EB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23E4315B-984E-4A2E-991E-25966C01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SUBJECTIVE: criteria-guided quality judgement</a:t>
            </a:r>
          </a:p>
        </p:txBody>
      </p:sp>
      <p:sp>
        <p:nvSpPr>
          <p:cNvPr id="20" name="side">
            <a:extLst xmlns:a="http://schemas.openxmlformats.org/drawingml/2006/main">
              <a:ext uri="{FF2B5EF4-FFF2-40B4-BE49-F238E27FC236}">
                <a16:creationId xmlns:a16="http://schemas.microsoft.com/office/drawing/2014/main" id="{70148BD7-F724-44B0-96D8-FFD260B6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1" name="qh">
            <a:extLst xmlns:a="http://schemas.openxmlformats.org/drawingml/2006/main">
              <a:ext uri="{FF2B5EF4-FFF2-40B4-BE49-F238E27FC236}">
                <a16:creationId xmlns:a16="http://schemas.microsoft.com/office/drawing/2014/main" id="{12E62AFD-378B-4109-A86C-786B6FEB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DISCUSS / DESIGN</a:t>
            </a:r>
          </a:p>
        </p:txBody>
      </p:sp>
      <p:sp>
        <p:nvSpPr>
          <p:cNvPr id="22" name="q">
            <a:extLst xmlns:a="http://schemas.openxmlformats.org/drawingml/2006/main">
              <a:ext uri="{FF2B5EF4-FFF2-40B4-BE49-F238E27FC236}">
                <a16:creationId xmlns:a16="http://schemas.microsoft.com/office/drawing/2014/main" id="{E7BB117C-C07D-419B-A03C-450B53D8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1. Which evidence is lost when rich performance is reduced to right/wrong?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2. When should alternative answers be accepted?</a:t>
            </a:r>
          </a:p>
        </p:txBody>
      </p:sp>
      <p:sp>
        <p:nvSpPr>
          <p:cNvPr id="23" name="deliverable">
            <a:extLst xmlns:a="http://schemas.openxmlformats.org/drawingml/2006/main">
              <a:ext uri="{FF2B5EF4-FFF2-40B4-BE49-F238E27FC236}">
                <a16:creationId xmlns:a16="http://schemas.microsoft.com/office/drawing/2014/main" id="{134AEB5F-1240-40CD-9BBD-EE6EA5BA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69C70C83-C236-425B-9AA8-BB380974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Scoring-method justification note.</a:t>
            </a:r>
          </a:p>
        </p:txBody>
      </p:sp>
    </p:spTree>
    <p:extLst>
      <p:ext uri="{BB962C8B-B14F-4D97-AF65-F5344CB8AC3E}">
        <p14:creationId xmlns:p14="http://schemas.microsoft.com/office/powerpoint/2010/main" val="865459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D679D79-8A4B-4EB8-B73A-44282D1B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a4171fad44ccd">
            <a:extLst>
              <a:ext uri="{96DAC541-7B7A-43D3-8B79-37D633B846F1}">
                <asvg:svgBlip xmlns:asvg="http://schemas.microsoft.com/office/drawing/2016/SVG/main" r:embed="Rc5db72c62f3343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08C0BBE9-222C-4C3F-8FA1-240AC673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ADMINISTRATION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A87751-EDD4-405F-AE66-C6184A60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Administration Conditions Are Part of the Evidence System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4709F001-9127-42FB-9633-BBC82AB8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F97B78DA-0577-47E7-A7FC-EF6DE145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6.1.3, pp. 43–44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28FFC6D7-6C56-49FE-9993-DE780AB3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4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EAF1FA64-378D-40DB-A79D-A1E15587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13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8FE26F32-205E-4897-9837-F63EE611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EE78E2F1-AEFD-460F-8F88-AF9FA9ED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Show how information, conditions, consistency, security, accessibility, and incident recording affect interpretation.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31997E47-19A2-428F-8D87-2A0EC850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3347C3A3-D906-4464-B0F0-F7AEEB6E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35D9E259-C1DC-4350-A69D-7C4FE6A8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ORIENT learners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FE6F4EC8-FD96-4EC2-8E20-CD16CE8D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D4538D97-A154-4BF5-AADF-B43955C7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98F98E04-E22E-462D-806E-BD7129E0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CONTROL relevant conditions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ECDE1136-A16B-4FC8-B9AD-57291FA3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255DB1FC-7005-4E24-A279-F7BAA823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BBD4E36C-8BC1-41B7-ADDE-852D9A80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PROVIDE access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5D3E321A-FFB7-4044-8488-E46D5FE4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F14056EE-7D59-424D-817F-AC531697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D4E5DCF3-26D6-4E60-BE6B-ED35125D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DOCUMENT deviations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23A8AA75-5581-4B2C-A818-1FA549C4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AA39805E-4D27-4E36-8EDD-281760A4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70B01BD1-FE29-432D-BBB9-BE567D81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conditions must be standardised?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Which accommodations preserve rather than alter the construct?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9FCF5D57-05BE-4467-9549-ECC6C8A2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8CB923E9-1E46-4B72-A273-6A2F70BE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Condition and accommodation decision record.</a:t>
            </a:r>
          </a:p>
        </p:txBody>
      </p:sp>
    </p:spTree>
    <p:extLst>
      <p:ext uri="{BB962C8B-B14F-4D97-AF65-F5344CB8AC3E}">
        <p14:creationId xmlns:p14="http://schemas.microsoft.com/office/powerpoint/2010/main" val="17033326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4B3C2B72-8415-46F7-8A9A-2D8AFAEC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4d68eda2c424b">
            <a:extLst>
              <a:ext uri="{96DAC541-7B7A-43D3-8B79-37D633B846F1}">
                <asvg:svgBlip xmlns:asvg="http://schemas.microsoft.com/office/drawing/2016/SVG/main" r:embed="Re4fc9b63596548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FB8FC0D4-8C43-45A2-836C-667B56BE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DESIGN STUDIO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EF9056-8421-4A00-A49A-2C701C4B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Build the Construct–Evidence Map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AEA95E82-F2D7-4A29-A20F-E6310205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9CB797A5-A4B5-4331-9B7E-58DF3C3A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Design studio task grounded in Phakiti &amp; Leung (2024), Sections 5.1–5.3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415DC15C-27EE-48B0-A634-A70E5905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4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A358E39B-6C49-4788-87C9-4C829D12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14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0543863D-E00A-42BC-8CD9-243975F0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77A22144-ACAC-4AF9-8E3D-F94A394E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Translate each focal construct component into observable evidence and identify alternative explanations.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47C3E2D7-CE12-43F3-BF28-B7E0CBFE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2D192013-8AA1-4DCE-8CB2-E207EB0E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7D06BF2A-DD7D-4B4E-BD41-12A8797E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Construct component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3D400CF4-AAB2-4909-BEDF-560E5D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C34E94B6-0F0E-43F4-9D2B-857C470F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5CB5D2FB-3B9E-4FF6-B009-64AA8E8F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Evidence claim and indicators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0D839C3C-D050-4C17-AA45-F39897C3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52E26E52-EBBF-4897-9DC0-B3E1EFE6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FA4FF630-3066-419E-9BD0-BB84F00C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Sampling and conditions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24FE70CA-298C-4CCA-B0F3-6B56E7DE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D448F27A-62E2-48EB-8656-608BC1B9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22BD64BC-B2A2-4DD4-9E5C-51BD8998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Alternative explanations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531051E8-6AD8-4B36-A119-647CA7E1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CCD55007-AF3A-4BA7-B29E-AE8433C0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BBE212BF-E15E-4B26-BE58-7F27CDBF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What would you need to observe more than once?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Which indicator could be misleading?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What evidence is missing entirely?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1C19516E-FED7-401B-8647-D3D06D9C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6D03B553-DD1F-4C2B-ACD2-86BBFE75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Team Construct–Evidence Map v1.</a:t>
            </a:r>
          </a:p>
        </p:txBody>
      </p:sp>
    </p:spTree>
    <p:extLst>
      <p:ext uri="{BB962C8B-B14F-4D97-AF65-F5344CB8AC3E}">
        <p14:creationId xmlns:p14="http://schemas.microsoft.com/office/powerpoint/2010/main" val="9692960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2E8C89E7-F090-45FE-988E-E3E0C0C0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ccce24172437d">
            <a:extLst>
              <a:ext uri="{96DAC541-7B7A-43D3-8B79-37D633B846F1}">
                <asvg:svgBlip xmlns:asvg="http://schemas.microsoft.com/office/drawing/2016/SVG/main" r:embed="Re2e25cf8e55445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7B260A84-8AE0-4CF6-9FAF-08A8A040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TASK ARCHITECTURE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161FC2-3483-4514-B0C3-BDE9563F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Design Task Features to Elicit the Required Evidence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B32E928-020E-42EC-96D1-FD17EC95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EE39B7A8-89AE-452E-AAF6-EEE5A693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Design studio task; Sections 5.2 and 6.1.2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9723A16F-F279-49E7-BFAD-97FF0C4D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4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45B093D8-F06C-4FB1-BFF1-B057CEA7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15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3AF1DB10-D0B2-4272-AF6C-E19BCAB4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9779CE02-6A77-4F3D-9305-B39682B3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FA23E5D6-0351-40B6-A902-1278F6FE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DBFE36B2-9EAB-4D6B-9FE1-243CC800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Stimulus and purpose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C6F0A098-0E8E-457F-BDAE-BCAC0CD0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192E4FF0-D7B4-4AA7-BD26-2BDFFF97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216AEDC4-3D01-4310-9D13-C792FF42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Response and interaction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18C9C35C-279F-41D0-BE86-BDBF707B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A8A39C24-5B7B-410E-8030-C567DDDE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5DC1E63D-DB66-4C8B-9239-D29F58B4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Conditions and resources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C4527F4B-3896-4DC6-9A43-B151F600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7E744DEA-7958-4AF7-AA7F-026446F0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4E93E4D9-6311-4E1B-9450-8E5AD284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Sampling and accessibility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09C08EA1-8DFC-41EE-B6F5-C1A877E8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Specify stimulus, response, interaction, conditions, and constraints as evidence-elicitation features.</a:t>
            </a:r>
          </a:p>
        </p:txBody>
      </p:sp>
    </p:spTree>
    <p:extLst>
      <p:ext uri="{BB962C8B-B14F-4D97-AF65-F5344CB8AC3E}">
        <p14:creationId xmlns:p14="http://schemas.microsoft.com/office/powerpoint/2010/main" val="12534275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FA4881FB-3875-4DD0-8322-BC0813C5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edb26c7944c55">
            <a:extLst>
              <a:ext uri="{96DAC541-7B7A-43D3-8B79-37D633B846F1}">
                <asvg:svgBlip xmlns:asvg="http://schemas.microsoft.com/office/drawing/2016/SVG/main" r:embed="Rc99c837416c240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CE0A2786-D377-4879-A80D-92FE00EF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STUDIO PROTOTYPE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CD7D3F-BF7B-4B85-BCD4-425CF3C5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Draft Assessment Specification v1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C43C0245-6A8B-44BA-B522-E4D5AF9D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4DB02191-DC2A-40BD-A53A-FA64B3A8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Design studio; Section 6.1.2, pp. 42–43; Appendix, pp. 84–86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42AF15D3-05A6-44B3-BF71-45D48BA3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4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903A34D6-B85E-4536-B31E-F3B592AE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16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7213E24E-15C5-4F1F-8023-7C943EB5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1BBD716A-AFF0-470E-B08C-E83B7157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BACD59EF-76DB-4446-A0A8-B68C39E3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AB80A685-0D28-4327-BD31-AD58BBCA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PURPOSE &amp; CONSTRUCT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3541FE10-F206-46B5-8864-C35A11CC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E6078BB9-CA6D-406D-ADB4-6F48461F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5E0F751C-3DE8-497A-B9C7-0521C8F5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EVIDENCE &amp; TASK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1687D617-BD76-4B9A-97E7-DBFAB15C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9A02AD30-9F87-4255-8AEB-DFB6212F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2F72F6DC-074E-4402-A07E-7C88B7CE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SCORING &amp; USE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E2C167B3-FF7B-42C8-BFB4-9E647BED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BAC35F19-BAEF-474B-B4ED-5E3DF1FE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D3035234-825A-416F-843E-6608CE8A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QUALITY CONTROLS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4838F9B7-2B57-41BF-A916-9C47D3D2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Integrate context, construct, evidence, task, scoring, administration, and use in one reviewable document.</a:t>
            </a:r>
          </a:p>
        </p:txBody>
      </p:sp>
    </p:spTree>
    <p:extLst>
      <p:ext uri="{BB962C8B-B14F-4D97-AF65-F5344CB8AC3E}">
        <p14:creationId xmlns:p14="http://schemas.microsoft.com/office/powerpoint/2010/main" val="8048523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9279B3CA-2DEC-474B-8EBE-87349C7D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3aff7a13f404c">
            <a:extLst>
              <a:ext uri="{96DAC541-7B7A-43D3-8B79-37D633B846F1}">
                <asvg:svgBlip xmlns:asvg="http://schemas.microsoft.com/office/drawing/2016/SVG/main" r:embed="R60c42832b36c44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D9051A04-A366-4A73-BA9D-883EAC61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A72C"/>
                </a:solidFill>
              </a:defRPr>
            </a:pPr>
            <a:r>
              <a:rPr sz="1050" b="1" i="0">
                <a:solidFill>
                  <a:srgbClr val="D4A72C"/>
                </a:solidFill>
              </a:rPr>
              <a:t>CRITICAL-FRIEND REVIEW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2D1CC4-47F6-4708-9D72-B4B62C18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Run a Claim–Evidence–Task Coherence Review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F281FDA2-F75F-4781-89DB-A781F705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588E1FC4-2A0D-4DF7-AE02-47922730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critical-friend protocol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8A3A0F33-6137-4DA4-B5B7-6A84CC2E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4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D4F6457C-AEE6-41F9-9C8F-5E958C14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17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B8096AD0-97D3-4D8F-BEE8-3E911BEB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D897E4E5-A493-48A4-9795-52EA0139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Test whether the specification creates a defensible chain from construct to decision.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8F8869AB-F1DC-4731-B803-A5096734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C2CBBF08-485D-45FA-9818-A094C145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8DC0A41C-A404-4D52-AE12-6178D102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TRACE one complete chain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883727D8-4E4F-4A52-AD9D-5F32545D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D59013F4-F2B2-42BD-B80F-1A19E98D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3D5E2299-8577-4D64-AE4F-D1A6A57D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TEST coverage and contamination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95550765-F9D1-4355-BDCB-EB7B3763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78ECFD39-6643-4D6E-B5F8-44CD8375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71D4DDD1-E7A3-4E1E-99F8-C1983B88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CHECK scoring and use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B9452376-7BCF-4B18-B387-3AAF91BF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FE7A084A-8DD5-4AFB-A0BF-D4F1B422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EECEFD2B-C2E5-45AE-8EEB-A8E8FFEE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PROPOSE a feasible alternative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160B0E6A-E1F6-4060-82F3-95AF38B8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EBF06B4F-3553-4BC5-839D-C17BC51A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31415AF7-5840-4C6E-B392-081DB984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1. Where does the argument jump?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2. What else could explain the performance?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3. Which design choice lacks a rationale?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9B46E5A9-8AD5-4B32-B10C-0E0ECB35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124B2D2D-16C9-413E-8263-8E050517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Critical-friend review plus decision trail.</a:t>
            </a:r>
          </a:p>
        </p:txBody>
      </p:sp>
    </p:spTree>
    <p:extLst>
      <p:ext uri="{BB962C8B-B14F-4D97-AF65-F5344CB8AC3E}">
        <p14:creationId xmlns:p14="http://schemas.microsoft.com/office/powerpoint/2010/main" val="607074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90894C3F-05F7-49DA-8366-BD348AED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3aba46afe421e">
            <a:extLst>
              <a:ext uri="{96DAC541-7B7A-43D3-8B79-37D633B846F1}">
                <asvg:svgBlip xmlns:asvg="http://schemas.microsoft.com/office/drawing/2016/SVG/main" r:embed="Rde8823f025684b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9BA8981F-D2BA-4E89-9D28-72A3F2ED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INDIVIDUAL EVIDENCE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6B56EC-CCDF-4B5A-8A4B-F8E233C6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Individual Design Rationale 3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6444C98-E23F-4EF7-9A36-FD06ED60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004FCBE7-CA40-41D7-AF45-C233EE73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learning and research task; Sections 5–6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E74D9D75-C5A1-4681-8015-7E128433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4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72610CDD-70B1-4691-8796-B7D18560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18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8E2EDE36-B370-4E1A-B82B-35A7894C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8D4532DC-8965-4D32-9DA2-38804555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Elicit individual reasoning about one consequential construct–evidence–task design choice.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ACB4B094-7198-493C-88C4-69FE89EA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7E54428A-1F2C-4D0C-8096-345D4FB7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656B3468-3B61-42B6-A259-DD78636F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Construct component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3D8F34C9-C80F-4735-B7A1-B58B682B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89348C28-1EB5-41A7-BA37-B8AA6211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77890101-7C54-48E5-8F54-0917ED3A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Evidence requirement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05672D3A-C617-41F6-85AA-4810D909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0DFA3111-3D33-4BC8-9668-7218F4E9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949DD36E-027F-4EEB-A750-897247C6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Task feature and response process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1CA08F8F-7AD6-4020-B49D-6E3289F4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0E32BE7E-0B68-40E7-B230-DAE347FF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11A6F1C7-6B48-43D3-AE85-F4F36143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Error control and scoring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13C9F60A-A0CE-4A99-BC74-E9166D0B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35E2D165-83B6-4AA3-AC7B-4DE7A083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F4A0A54D-A239-4B95-901A-81709B43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Why is this evidence necessary?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What alternative task did you reject?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What claim must remain limited?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6812526A-BB7D-456F-8C13-88C3DB34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C041FAF6-787C-46E4-ADFF-1EC4E2FB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Individual Design Rationale 3 linked to S4 v0.</a:t>
            </a:r>
          </a:p>
        </p:txBody>
      </p:sp>
    </p:spTree>
    <p:extLst>
      <p:ext uri="{BB962C8B-B14F-4D97-AF65-F5344CB8AC3E}">
        <p14:creationId xmlns:p14="http://schemas.microsoft.com/office/powerpoint/2010/main" val="20172625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BC5D6DCA-7965-4BD4-AFF8-BEFF7182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70adc636a477d">
            <a:extLst>
              <a:ext uri="{96DAC541-7B7A-43D3-8B79-37D633B846F1}">
                <asvg:svgBlip xmlns:asvg="http://schemas.microsoft.com/office/drawing/2016/SVG/main" r:embed="Re044c685744a4e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6FDF7F1E-B7BD-490A-92C3-C9DB3C70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SESSION SYNTHESIS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129D49-6EB9-474A-B9E9-45629DAA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Revisit the Task Choice: Has the Reasoning Changed?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49330E3-491D-425B-898C-25637346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67FECC54-1AFF-462A-831F-834038D2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Post-instruction comparison with Task Choice Snapshot v0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826CCCA4-1C41-4FAD-93E4-028FA9DB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4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63D884D2-E8BE-4B02-A5E9-10F5FE66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19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BC8251AD-76FE-4D08-86BB-E7B6FF77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DFD544BA-9254-4696-B2BF-EC00FF95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12E9315C-C73C-4C88-9959-6533FA15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CLAIM before format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20168C30-8AE1-4801-9A48-4B8AB400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DE646FC8-53C9-4895-B03C-6608497A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A1BC9218-0559-442D-B24E-48DC7AE4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EVIDENCE before item writing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66ACB58A-1BF7-4343-9919-D363E45C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982C4D42-0984-4ED4-88C2-D2552172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CF315D7E-68A7-453F-8563-0D52D508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TASK FEATURES with rationales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0458E3B0-074F-42B0-9302-7F42C2D9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Make development visible without reducing it to selection of one correct format.</a:t>
            </a:r>
          </a:p>
        </p:txBody>
      </p:sp>
    </p:spTree>
    <p:extLst>
      <p:ext uri="{BB962C8B-B14F-4D97-AF65-F5344CB8AC3E}">
        <p14:creationId xmlns:p14="http://schemas.microsoft.com/office/powerpoint/2010/main" val="4804474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0BB772E2-6608-490D-940C-CA6ECC75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f2f18830f49ce">
            <a:extLst>
              <a:ext uri="{96DAC541-7B7A-43D3-8B79-37D633B846F1}">
                <asvg:svgBlip xmlns:asvg="http://schemas.microsoft.com/office/drawing/2016/SVG/main" r:embed="R054b64d067654b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2CD85D61-3D21-49D0-8C04-03725128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PREPARE FOR SESSION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6BE4B5-0CAF-4E7B-8DF8-3917773C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Next: Build, Review, and Pilot Prototype 1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22CE81F-B1A1-4EE5-A60C-305E9954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E5BAD8A4-91B3-4941-A3C7-59663E33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Prepare Phakiti &amp; Leung (2024), Section 6.1.6, pp. 45–61; relevant Section 6.2, pp. 61–62+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8DA2AAE6-C0BB-4F4A-8253-5E2189F2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4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F86780B9-4000-48A0-AF3A-5528D117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20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6B11540A-E0EB-4E35-BF38-F5480A98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C6CF93FA-C573-482E-9B8F-C37D68C1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495FA639-50B9-489B-BD57-80C4E9AE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READ: response techniques, pp. 45–61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24FA98EF-0D08-42F9-A831-3531D883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576CA1EF-75BA-489E-9B9E-11A5D491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4B826037-A4D1-4D0E-A046-32E57B0B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BRING: Specification v1 + maps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E7BFCBA3-EABE-4CEA-BB1B-72B0451C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1653B3B6-9BE3-47E3-B5E3-BBA006ED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200859E7-446D-4B79-96FF-FE4E8334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CREATE: one rough task / item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8F20E77A-D748-4364-80A6-25C247A9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Prepare teams to convert specifications into selected, constructed, or non-test assessment prototypes.</a:t>
            </a:r>
          </a:p>
        </p:txBody>
      </p:sp>
    </p:spTree>
    <p:extLst>
      <p:ext uri="{BB962C8B-B14F-4D97-AF65-F5344CB8AC3E}">
        <p14:creationId xmlns:p14="http://schemas.microsoft.com/office/powerpoint/2010/main" val="720730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2026-07-13T11:51:23.7210000Z</dcterms:created>
  <dcterms:modified xsi:type="dcterms:W3CDTF">2026-07-13T11:51:23.7210000Z</dcterms:modified>
</coreProperties>
</file>