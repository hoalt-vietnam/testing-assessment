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54f16c5e94683" /><Relationship Type="http://schemas.openxmlformats.org/officeDocument/2006/relationships/extended-properties" Target="/docProps/app.xml" Id="Rc6cbf00229e14f20" /><Relationship Type="http://schemas.openxmlformats.org/officeDocument/2006/relationships/officeDocument" Target="/ppt/presentation.xml" Id="Raf82cb52a6304a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5cdc9709a4843"/>
  </p:sldMasterIdLst>
  <p:notesMasterIdLst>
    <p:notesMasterId xmlns:r="http://schemas.openxmlformats.org/officeDocument/2006/relationships" r:id="Rca65c896b6284fc9"/>
  </p:notesMasterIdLst>
  <p:sldIdLst>
    <p:sldId xmlns:r="http://schemas.openxmlformats.org/officeDocument/2006/relationships" id="256" r:id="R741df58ea40d49e2"/>
    <p:sldId xmlns:r="http://schemas.openxmlformats.org/officeDocument/2006/relationships" id="257" r:id="Rdd0f9e9c3ea14917"/>
    <p:sldId xmlns:r="http://schemas.openxmlformats.org/officeDocument/2006/relationships" id="258" r:id="R032f74fe97ce42e0"/>
    <p:sldId xmlns:r="http://schemas.openxmlformats.org/officeDocument/2006/relationships" id="259" r:id="R095e17529c9a40f9"/>
    <p:sldId xmlns:r="http://schemas.openxmlformats.org/officeDocument/2006/relationships" id="260" r:id="Rf956acea8ed248b3"/>
    <p:sldId xmlns:r="http://schemas.openxmlformats.org/officeDocument/2006/relationships" id="261" r:id="R0554a063913e47ad"/>
    <p:sldId xmlns:r="http://schemas.openxmlformats.org/officeDocument/2006/relationships" id="262" r:id="R64515c7e91d44eac"/>
    <p:sldId xmlns:r="http://schemas.openxmlformats.org/officeDocument/2006/relationships" id="263" r:id="Rddc71b310d1c487e"/>
    <p:sldId xmlns:r="http://schemas.openxmlformats.org/officeDocument/2006/relationships" id="264" r:id="Rf0e6d3eb0f284cf4"/>
    <p:sldId xmlns:r="http://schemas.openxmlformats.org/officeDocument/2006/relationships" id="265" r:id="Rd5517ad0741a4cb8"/>
    <p:sldId xmlns:r="http://schemas.openxmlformats.org/officeDocument/2006/relationships" id="266" r:id="Rf72b0490e5044952"/>
    <p:sldId xmlns:r="http://schemas.openxmlformats.org/officeDocument/2006/relationships" id="267" r:id="R733d71d84a1e4ab9"/>
    <p:sldId xmlns:r="http://schemas.openxmlformats.org/officeDocument/2006/relationships" id="268" r:id="R55c7614d79d2450d"/>
    <p:sldId xmlns:r="http://schemas.openxmlformats.org/officeDocument/2006/relationships" id="269" r:id="R752475dd4c0a451e"/>
    <p:sldId xmlns:r="http://schemas.openxmlformats.org/officeDocument/2006/relationships" id="270" r:id="R89767f1dca754aa9"/>
    <p:sldId xmlns:r="http://schemas.openxmlformats.org/officeDocument/2006/relationships" id="271" r:id="R5993fa826c48491c"/>
    <p:sldId xmlns:r="http://schemas.openxmlformats.org/officeDocument/2006/relationships" id="272" r:id="R6a4d3ac9da7646f3"/>
    <p:sldId xmlns:r="http://schemas.openxmlformats.org/officeDocument/2006/relationships" id="273" r:id="Rec0506d8c50e4d76"/>
    <p:sldId xmlns:r="http://schemas.openxmlformats.org/officeDocument/2006/relationships" id="274" r:id="R8108bde7819b472e"/>
    <p:sldId xmlns:r="http://schemas.openxmlformats.org/officeDocument/2006/relationships" id="275" r:id="R07068528dd124f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e26de0ad1c4508" /><Relationship Type="http://schemas.openxmlformats.org/officeDocument/2006/relationships/slideMaster" Target="/ppt/slideMasters/slideMaster1.xml" Id="R49e5cdc9709a4843" /><Relationship Type="http://schemas.openxmlformats.org/officeDocument/2006/relationships/notesMaster" Target="/ppt/notesMasters/notesMaster1.xml" Id="Rca65c896b6284fc9" /><Relationship Type="http://schemas.openxmlformats.org/officeDocument/2006/relationships/presProps" Target="/ppt/presProps.xml" Id="Rad623c825c364924" /><Relationship Type="http://schemas.openxmlformats.org/officeDocument/2006/relationships/tableStyles" Target="/ppt/tableStyles.xml" Id="R2d57dd9483f84c3a" /><Relationship Type="http://schemas.openxmlformats.org/officeDocument/2006/relationships/slide" Target="/ppt/slides/slide1.xml" Id="R741df58ea40d49e2" /><Relationship Type="http://schemas.openxmlformats.org/officeDocument/2006/relationships/slide" Target="/ppt/slides/slide2.xml" Id="Rdd0f9e9c3ea14917" /><Relationship Type="http://schemas.openxmlformats.org/officeDocument/2006/relationships/slide" Target="/ppt/slides/slide3.xml" Id="R032f74fe97ce42e0" /><Relationship Type="http://schemas.openxmlformats.org/officeDocument/2006/relationships/slide" Target="/ppt/slides/slide4.xml" Id="R095e17529c9a40f9" /><Relationship Type="http://schemas.openxmlformats.org/officeDocument/2006/relationships/slide" Target="/ppt/slides/slide5.xml" Id="Rf956acea8ed248b3" /><Relationship Type="http://schemas.openxmlformats.org/officeDocument/2006/relationships/slide" Target="/ppt/slides/slide6.xml" Id="R0554a063913e47ad" /><Relationship Type="http://schemas.openxmlformats.org/officeDocument/2006/relationships/slide" Target="/ppt/slides/slide7.xml" Id="R64515c7e91d44eac" /><Relationship Type="http://schemas.openxmlformats.org/officeDocument/2006/relationships/slide" Target="/ppt/slides/slide8.xml" Id="Rddc71b310d1c487e" /><Relationship Type="http://schemas.openxmlformats.org/officeDocument/2006/relationships/slide" Target="/ppt/slides/slide9.xml" Id="Rf0e6d3eb0f284cf4" /><Relationship Type="http://schemas.openxmlformats.org/officeDocument/2006/relationships/slide" Target="/ppt/slides/slide10.xml" Id="Rd5517ad0741a4cb8" /><Relationship Type="http://schemas.openxmlformats.org/officeDocument/2006/relationships/slide" Target="/ppt/slides/slide11.xml" Id="Rf72b0490e5044952" /><Relationship Type="http://schemas.openxmlformats.org/officeDocument/2006/relationships/slide" Target="/ppt/slides/slide12.xml" Id="R733d71d84a1e4ab9" /><Relationship Type="http://schemas.openxmlformats.org/officeDocument/2006/relationships/slide" Target="/ppt/slides/slide13.xml" Id="R55c7614d79d2450d" /><Relationship Type="http://schemas.openxmlformats.org/officeDocument/2006/relationships/slide" Target="/ppt/slides/slide14.xml" Id="R752475dd4c0a451e" /><Relationship Type="http://schemas.openxmlformats.org/officeDocument/2006/relationships/slide" Target="/ppt/slides/slide15.xml" Id="R89767f1dca754aa9" /><Relationship Type="http://schemas.openxmlformats.org/officeDocument/2006/relationships/slide" Target="/ppt/slides/slide16.xml" Id="R5993fa826c48491c" /><Relationship Type="http://schemas.openxmlformats.org/officeDocument/2006/relationships/slide" Target="/ppt/slides/slide17.xml" Id="R6a4d3ac9da7646f3" /><Relationship Type="http://schemas.openxmlformats.org/officeDocument/2006/relationships/slide" Target="/ppt/slides/slide18.xml" Id="Rec0506d8c50e4d76" /><Relationship Type="http://schemas.openxmlformats.org/officeDocument/2006/relationships/slide" Target="/ppt/slides/slide19.xml" Id="R8108bde7819b472e" /><Relationship Type="http://schemas.openxmlformats.org/officeDocument/2006/relationships/slide" Target="/ppt/slides/slide20.xml" Id="R07068528dd124f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451f509549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b2a587b5184747" /><Relationship Type="http://schemas.openxmlformats.org/officeDocument/2006/relationships/notesMaster" Target="/ppt/notesMasters/notesMaster1.xml" Id="Rd7e8ead6d0d243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5cb9bae42b4ab0" /><Relationship Type="http://schemas.openxmlformats.org/officeDocument/2006/relationships/notesMaster" Target="/ppt/notesMasters/notesMaster1.xml" Id="R942b4a78a8f349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1a65942c74614" /><Relationship Type="http://schemas.openxmlformats.org/officeDocument/2006/relationships/notesMaster" Target="/ppt/notesMasters/notesMaster1.xml" Id="Rabc95d65c17646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72f68aa9084461" /><Relationship Type="http://schemas.openxmlformats.org/officeDocument/2006/relationships/notesMaster" Target="/ppt/notesMasters/notesMaster1.xml" Id="R97d19c80d40947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89ae3667cd499a" /><Relationship Type="http://schemas.openxmlformats.org/officeDocument/2006/relationships/notesMaster" Target="/ppt/notesMasters/notesMaster1.xml" Id="Rcfde53d1bad3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79425001f34461" /><Relationship Type="http://schemas.openxmlformats.org/officeDocument/2006/relationships/notesMaster" Target="/ppt/notesMasters/notesMaster1.xml" Id="Rb44a126380cd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0e5c12b1054de6" /><Relationship Type="http://schemas.openxmlformats.org/officeDocument/2006/relationships/notesMaster" Target="/ppt/notesMasters/notesMaster1.xml" Id="Rbb43825ffb1d40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d431ae303d40b0" /><Relationship Type="http://schemas.openxmlformats.org/officeDocument/2006/relationships/notesMaster" Target="/ppt/notesMasters/notesMaster1.xml" Id="R12e948971c904c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e05fc287414f20" /><Relationship Type="http://schemas.openxmlformats.org/officeDocument/2006/relationships/notesMaster" Target="/ppt/notesMasters/notesMaster1.xml" Id="Rd6118d0545524e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9bf2e325b944e2" /><Relationship Type="http://schemas.openxmlformats.org/officeDocument/2006/relationships/notesMaster" Target="/ppt/notesMasters/notesMaster1.xml" Id="R9d45a8117d914e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21316e9dc14b02" /><Relationship Type="http://schemas.openxmlformats.org/officeDocument/2006/relationships/notesMaster" Target="/ppt/notesMasters/notesMaster1.xml" Id="R5f10c475bca745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d63d73bcfd4dcc" /><Relationship Type="http://schemas.openxmlformats.org/officeDocument/2006/relationships/notesMaster" Target="/ppt/notesMasters/notesMaster1.xml" Id="R2b636915c80e47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1d6051c8734953" /><Relationship Type="http://schemas.openxmlformats.org/officeDocument/2006/relationships/notesMaster" Target="/ppt/notesMasters/notesMaster1.xml" Id="Rc2041044931046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71682e6c5f4880" /><Relationship Type="http://schemas.openxmlformats.org/officeDocument/2006/relationships/notesMaster" Target="/ppt/notesMasters/notesMaster1.xml" Id="R99feaa67249a4f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a22bfc01ce430c" /><Relationship Type="http://schemas.openxmlformats.org/officeDocument/2006/relationships/notesMaster" Target="/ppt/notesMasters/notesMaster1.xml" Id="Rfd74fa55cedf4a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58ebd506674466" /><Relationship Type="http://schemas.openxmlformats.org/officeDocument/2006/relationships/notesMaster" Target="/ppt/notesMasters/notesMaster1.xml" Id="R07ad9b3df8a843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433de3c68748fe" /><Relationship Type="http://schemas.openxmlformats.org/officeDocument/2006/relationships/notesMaster" Target="/ppt/notesMasters/notesMaster1.xml" Id="R257deefb2cd148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5c8de2bee834c02" /><Relationship Type="http://schemas.openxmlformats.org/officeDocument/2006/relationships/notesMaster" Target="/ppt/notesMasters/notesMaster1.xml" Id="Rdbc259a0d28449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0ecb6c9edc4235" /><Relationship Type="http://schemas.openxmlformats.org/officeDocument/2006/relationships/notesMaster" Target="/ppt/notesMasters/notesMaster1.xml" Id="R6ac0b56a76444a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0b4f0b8d57d4b9b" /><Relationship Type="http://schemas.openxmlformats.org/officeDocument/2006/relationships/notesMaster" Target="/ppt/notesMasters/notesMaster1.xml" Id="Ra042f9d7470246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82cd6400248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4b79c2bf164075" /><Relationship Type="http://schemas.openxmlformats.org/officeDocument/2006/relationships/slideLayout" Target="/ppt/slideLayouts/slideLayout1.xml" Id="R5ac919cd7a5d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919cd7a5d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742bcc298497d" /><Relationship Type="http://schemas.openxmlformats.org/officeDocument/2006/relationships/notesSlide" Target="/ppt/notesSlides/notesSlide1.xml" Id="Rc275dc9dcb324f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816b727244687" /><Relationship Type="http://schemas.openxmlformats.org/officeDocument/2006/relationships/image" Target="/ppt/media/image.png" Id="R72774faed4274eba" /><Relationship Type="http://schemas.openxmlformats.org/officeDocument/2006/relationships/image" Target="/ppt/media/image.svg" Id="R08f6379353b141ca" /><Relationship Type="http://schemas.openxmlformats.org/officeDocument/2006/relationships/notesSlide" Target="/ppt/notesSlides/notesSlide2.xml" Id="Rb2711a95fb5b46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f416a8d4144dd" /><Relationship Type="http://schemas.openxmlformats.org/officeDocument/2006/relationships/image" Target="/ppt/media/image2.png" Id="R605c740a8ea74125" /><Relationship Type="http://schemas.openxmlformats.org/officeDocument/2006/relationships/image" Target="/ppt/media/image2.svg" Id="R6f86d40c83fe4971" /><Relationship Type="http://schemas.openxmlformats.org/officeDocument/2006/relationships/notesSlide" Target="/ppt/notesSlides/notesSlide3.xml" Id="R55cf4c519eb6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3104c48746ba" /><Relationship Type="http://schemas.openxmlformats.org/officeDocument/2006/relationships/image" Target="/ppt/media/image3.png" Id="R5b657a022ac84b26" /><Relationship Type="http://schemas.openxmlformats.org/officeDocument/2006/relationships/image" Target="/ppt/media/image3.svg" Id="R249b860ea617413d" /><Relationship Type="http://schemas.openxmlformats.org/officeDocument/2006/relationships/notesSlide" Target="/ppt/notesSlides/notesSlide4.xml" Id="Re2453fee21e941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21374121a4099" /><Relationship Type="http://schemas.openxmlformats.org/officeDocument/2006/relationships/image" Target="/ppt/media/image4.png" Id="Rd2ebc270c8094dc7" /><Relationship Type="http://schemas.openxmlformats.org/officeDocument/2006/relationships/image" Target="/ppt/media/image4.svg" Id="R0325cf90886b4149" /><Relationship Type="http://schemas.openxmlformats.org/officeDocument/2006/relationships/notesSlide" Target="/ppt/notesSlides/notesSlide5.xml" Id="Rdac3bb5ab50146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aa168aeb7438c" /><Relationship Type="http://schemas.openxmlformats.org/officeDocument/2006/relationships/image" Target="/ppt/media/image5.png" Id="R20298d20906b47c5" /><Relationship Type="http://schemas.openxmlformats.org/officeDocument/2006/relationships/image" Target="/ppt/media/image5.svg" Id="R4b18eefe6d374ce7" /><Relationship Type="http://schemas.openxmlformats.org/officeDocument/2006/relationships/notesSlide" Target="/ppt/notesSlides/notesSlide6.xml" Id="Rc219b19b793e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1db03da6147c5" /><Relationship Type="http://schemas.openxmlformats.org/officeDocument/2006/relationships/image" Target="/ppt/media/image6.png" Id="R86170dd6fc8e472c" /><Relationship Type="http://schemas.openxmlformats.org/officeDocument/2006/relationships/image" Target="/ppt/media/image6.svg" Id="R23f3a9042dd5418b" /><Relationship Type="http://schemas.openxmlformats.org/officeDocument/2006/relationships/notesSlide" Target="/ppt/notesSlides/notesSlide7.xml" Id="R26c288366f364c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643f129f84cc9" /><Relationship Type="http://schemas.openxmlformats.org/officeDocument/2006/relationships/image" Target="/ppt/media/image7.png" Id="Rd966e9679b2348a9" /><Relationship Type="http://schemas.openxmlformats.org/officeDocument/2006/relationships/image" Target="/ppt/media/image7.svg" Id="R81e37bb64da945b0" /><Relationship Type="http://schemas.openxmlformats.org/officeDocument/2006/relationships/notesSlide" Target="/ppt/notesSlides/notesSlide8.xml" Id="Rfff2d7819b5a4a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8becbb413444e" /><Relationship Type="http://schemas.openxmlformats.org/officeDocument/2006/relationships/image" Target="/ppt/media/image8.png" Id="R53f7f82cc62a454e" /><Relationship Type="http://schemas.openxmlformats.org/officeDocument/2006/relationships/image" Target="/ppt/media/image8.svg" Id="R48ba3201f2854da0" /><Relationship Type="http://schemas.openxmlformats.org/officeDocument/2006/relationships/notesSlide" Target="/ppt/notesSlides/notesSlide9.xml" Id="R9ad3528f308d4f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93f6d4309446a" /><Relationship Type="http://schemas.openxmlformats.org/officeDocument/2006/relationships/image" Target="/ppt/media/image9.png" Id="R29edd3892e0e4bcb" /><Relationship Type="http://schemas.openxmlformats.org/officeDocument/2006/relationships/image" Target="/ppt/media/image9.svg" Id="R98002a86fb3c4082" /><Relationship Type="http://schemas.openxmlformats.org/officeDocument/2006/relationships/notesSlide" Target="/ppt/notesSlides/notesSlide10.xml" Id="R4c940c41416145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6a2781ff84ced" /><Relationship Type="http://schemas.openxmlformats.org/officeDocument/2006/relationships/image" Target="/ppt/media/image10.png" Id="R71d56d3e07384f69" /><Relationship Type="http://schemas.openxmlformats.org/officeDocument/2006/relationships/image" Target="/ppt/media/image10.svg" Id="R77efdc6f655f44a8" /><Relationship Type="http://schemas.openxmlformats.org/officeDocument/2006/relationships/notesSlide" Target="/ppt/notesSlides/notesSlide11.xml" Id="Rbd24110fe63d41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3f3de17874677" /><Relationship Type="http://schemas.openxmlformats.org/officeDocument/2006/relationships/image" Target="/ppt/media/image11.png" Id="R9666ab9387f9411f" /><Relationship Type="http://schemas.openxmlformats.org/officeDocument/2006/relationships/image" Target="/ppt/media/image11.svg" Id="R237f033a8d384e08" /><Relationship Type="http://schemas.openxmlformats.org/officeDocument/2006/relationships/notesSlide" Target="/ppt/notesSlides/notesSlide12.xml" Id="R73476e51ac0443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5242f20394e31" /><Relationship Type="http://schemas.openxmlformats.org/officeDocument/2006/relationships/image" Target="/ppt/media/image12.png" Id="Rbd100849eca84c89" /><Relationship Type="http://schemas.openxmlformats.org/officeDocument/2006/relationships/image" Target="/ppt/media/image12.svg" Id="R202f5ab537364dce" /><Relationship Type="http://schemas.openxmlformats.org/officeDocument/2006/relationships/notesSlide" Target="/ppt/notesSlides/notesSlide13.xml" Id="R2c39da612f5040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470f2c53a4e35" /><Relationship Type="http://schemas.openxmlformats.org/officeDocument/2006/relationships/image" Target="/ppt/media/image13.png" Id="R30670dc577ac4866" /><Relationship Type="http://schemas.openxmlformats.org/officeDocument/2006/relationships/image" Target="/ppt/media/image13.svg" Id="R3d539ce6e16e46fa" /><Relationship Type="http://schemas.openxmlformats.org/officeDocument/2006/relationships/notesSlide" Target="/ppt/notesSlides/notesSlide14.xml" Id="R9dc04fe499ef41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94c4a9e90403b" /><Relationship Type="http://schemas.openxmlformats.org/officeDocument/2006/relationships/image" Target="/ppt/media/image14.png" Id="R6fdcf37e1ea546ba" /><Relationship Type="http://schemas.openxmlformats.org/officeDocument/2006/relationships/image" Target="/ppt/media/image14.svg" Id="R7c9d8772b5bf46a3" /><Relationship Type="http://schemas.openxmlformats.org/officeDocument/2006/relationships/notesSlide" Target="/ppt/notesSlides/notesSlide15.xml" Id="R1759f4d9ef8e43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1585333e44c37" /><Relationship Type="http://schemas.openxmlformats.org/officeDocument/2006/relationships/image" Target="/ppt/media/image15.png" Id="R702a23dd9b7f4af4" /><Relationship Type="http://schemas.openxmlformats.org/officeDocument/2006/relationships/image" Target="/ppt/media/image15.svg" Id="R0e176d49bf83400f" /><Relationship Type="http://schemas.openxmlformats.org/officeDocument/2006/relationships/notesSlide" Target="/ppt/notesSlides/notesSlide16.xml" Id="R0002595b1f6946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050f443cc4f60" /><Relationship Type="http://schemas.openxmlformats.org/officeDocument/2006/relationships/image" Target="/ppt/media/image16.png" Id="R736e4297c3fd4190" /><Relationship Type="http://schemas.openxmlformats.org/officeDocument/2006/relationships/image" Target="/ppt/media/image16.svg" Id="Re01c923df2ce4203" /><Relationship Type="http://schemas.openxmlformats.org/officeDocument/2006/relationships/notesSlide" Target="/ppt/notesSlides/notesSlide17.xml" Id="R5eb9ff0247dd42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c7bdd41b2403b" /><Relationship Type="http://schemas.openxmlformats.org/officeDocument/2006/relationships/image" Target="/ppt/media/image17.png" Id="Rafac2f6a6c0543d6" /><Relationship Type="http://schemas.openxmlformats.org/officeDocument/2006/relationships/image" Target="/ppt/media/image17.svg" Id="R607c60062dc54172" /><Relationship Type="http://schemas.openxmlformats.org/officeDocument/2006/relationships/notesSlide" Target="/ppt/notesSlides/notesSlide18.xml" Id="R4cda66ca70c44c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159a147e8413b" /><Relationship Type="http://schemas.openxmlformats.org/officeDocument/2006/relationships/image" Target="/ppt/media/image18.png" Id="R3eaf4941eea64cef" /><Relationship Type="http://schemas.openxmlformats.org/officeDocument/2006/relationships/image" Target="/ppt/media/image18.svg" Id="R102c545275aa4e2a" /><Relationship Type="http://schemas.openxmlformats.org/officeDocument/2006/relationships/notesSlide" Target="/ppt/notesSlides/notesSlide19.xml" Id="R46374047be8042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4bf7d656244a0" /><Relationship Type="http://schemas.openxmlformats.org/officeDocument/2006/relationships/image" Target="/ppt/media/image19.png" Id="R086ade885fe04697" /><Relationship Type="http://schemas.openxmlformats.org/officeDocument/2006/relationships/image" Target="/ppt/media/image19.svg" Id="R1644d15e33d44166" /><Relationship Type="http://schemas.openxmlformats.org/officeDocument/2006/relationships/notesSlide" Target="/ppt/notesSlides/notesSlide20.xml" Id="R7b63a5b5fb48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ld-rail">
            <a:extLst xmlns:a="http://schemas.openxmlformats.org/drawingml/2006/main">
              <a:ext uri="{FF2B5EF4-FFF2-40B4-BE49-F238E27FC236}">
                <a16:creationId xmlns:a16="http://schemas.microsoft.com/office/drawing/2014/main" id="{5C43C957-D56E-414D-BB20-5A6DA2B1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institution">
            <a:extLst xmlns:a="http://schemas.openxmlformats.org/drawingml/2006/main">
              <a:ext uri="{FF2B5EF4-FFF2-40B4-BE49-F238E27FC236}">
                <a16:creationId xmlns:a16="http://schemas.microsoft.com/office/drawing/2014/main" id="{119D6B0B-891B-43B1-8D69-DB052342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BA RIA - VUNG TAU UNIVERSITY</a:t>
            </a:r>
          </a:p>
        </p:txBody>
      </p:sp>
      <p:sp>
        <p:nvSpPr>
          <p:cNvPr id="3" name="class">
            <a:extLst xmlns:a="http://schemas.openxmlformats.org/drawingml/2006/main">
              <a:ext uri="{FF2B5EF4-FFF2-40B4-BE49-F238E27FC236}">
                <a16:creationId xmlns:a16="http://schemas.microsoft.com/office/drawing/2014/main" id="{36B9BC2A-871D-4BFB-9A79-8A61102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TESOL PROGRAMME  •  CLASS MTESOL26K15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78D1236-668E-46B2-9227-06F0BEF0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ssion">
            <a:extLst xmlns:a="http://schemas.openxmlformats.org/drawingml/2006/main">
              <a:ext uri="{FF2B5EF4-FFF2-40B4-BE49-F238E27FC236}">
                <a16:creationId xmlns:a16="http://schemas.microsoft.com/office/drawing/2014/main" id="{F721AE7A-B91B-4EEB-9514-A23B5589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4A72C"/>
                </a:solidFill>
              </a:defRPr>
            </a:pPr>
            <a:r>
              <a:rPr sz="1500" b="1" i="0">
                <a:solidFill>
                  <a:srgbClr val="D4A72C"/>
                </a:solidFill>
              </a:rPr>
              <a:t>SESSION 8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7C3550E-8201-41D9-8BAB-B76142EF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810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STRESS-TEST THE SYSTEM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QUALITY • FAIRNESS • ETHICS • IMPACT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FCF69E87-0C19-4418-8459-D051B9FD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D4A72C"/>
                </a:solidFill>
              </a:defRPr>
            </a:pPr>
            <a:r>
              <a:rPr sz="1875" b="0" i="1">
                <a:solidFill>
                  <a:srgbClr val="D4A72C"/>
                </a:solidFill>
              </a:rPr>
              <a:t>A defensible assessment must work technically, educationally, ethically, and socially.</a:t>
            </a:r>
          </a:p>
        </p:txBody>
      </p:sp>
      <p:sp>
        <p:nvSpPr>
          <p:cNvPr id="8" name="meta">
            <a:extLst xmlns:a="http://schemas.openxmlformats.org/drawingml/2006/main">
              <a:ext uri="{FF2B5EF4-FFF2-40B4-BE49-F238E27FC236}">
                <a16:creationId xmlns:a16="http://schemas.microsoft.com/office/drawing/2014/main" id="{C06E6BE2-F59B-4591-8684-F17B070D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9" name="instructor">
            <a:extLst xmlns:a="http://schemas.openxmlformats.org/drawingml/2006/main">
              <a:ext uri="{FF2B5EF4-FFF2-40B4-BE49-F238E27FC236}">
                <a16:creationId xmlns:a16="http://schemas.microsoft.com/office/drawing/2014/main" id="{B8896019-2FA3-4CFA-B7F2-7BA94E2E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Thanh Hoa, PhD  |  Course Instructor</a:t>
            </a:r>
          </a:p>
        </p:txBody>
      </p:sp>
      <p:sp>
        <p:nvSpPr>
          <p:cNvPr id="10" name="reading">
            <a:extLst xmlns:a="http://schemas.openxmlformats.org/drawingml/2006/main">
              <a:ext uri="{FF2B5EF4-FFF2-40B4-BE49-F238E27FC236}">
                <a16:creationId xmlns:a16="http://schemas.microsoft.com/office/drawing/2014/main" id="{EFD51AE0-52A8-4DC7-A1D3-5A5E1AAA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9E2F3"/>
                </a:solidFill>
              </a:defRPr>
            </a:pPr>
            <a:r>
              <a:rPr sz="1200" b="0" i="0">
                <a:solidFill>
                  <a:srgbClr val="D9E2F3"/>
                </a:solidFill>
              </a:rPr>
              <a:t>Core reading: Phakiti &amp; Leung (2024), Section 7, pp. 62–70</a:t>
            </a:r>
          </a:p>
        </p:txBody>
      </p:sp>
      <p:sp>
        <p:nvSpPr>
          <p:cNvPr id="11" name="n">
            <a:extLst xmlns:a="http://schemas.openxmlformats.org/drawingml/2006/main">
              <a:ext uri="{FF2B5EF4-FFF2-40B4-BE49-F238E27FC236}">
                <a16:creationId xmlns:a16="http://schemas.microsoft.com/office/drawing/2014/main" id="{C46FD6A5-5F91-4B63-84C4-9E15A9EC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D4A72C"/>
                </a:solidFill>
              </a:defRPr>
            </a:pPr>
            <a:r>
              <a:rPr sz="825" b="1" i="0">
                <a:solidFill>
                  <a:srgbClr val="D4A72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3525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20F2AAA-43CC-43D9-AD6B-5AA5F497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74faed4274eba">
            <a:extLst>
              <a:ext uri="{96DAC541-7B7A-43D3-8B79-37D633B846F1}">
                <asvg:svgBlip xmlns:asvg="http://schemas.microsoft.com/office/drawing/2016/SVG/main" r:embed="R08f6379353b141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88494B6-5DAA-4827-B110-0E1CA3ED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BEFORE INSTRUCTION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EB6355-A4D2-43CA-BAD4-5321D58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Which Quality Problem Would You Fix First?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D9A2C10-9EAF-4A63-9D75-31E5ECC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5FDCACF-D7F0-4186-9E19-96CFBF94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pre-instruction prioritisation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20E8F2D5-34DC-42EB-9EB2-152C5A8A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292341F-C692-470B-89AC-681E59BE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BC32942B-4BB1-422D-A3F9-8790CDCB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B70839C6-4BC4-4BBC-80CE-66F781FD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Capture initial quality priorities and causal reasoning.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CA2B5F35-B43D-46E1-BAA8-1DCE7F13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44E4B940-EFA6-4962-96FC-CA80C08A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110E3B29-1E0E-4617-B219-FD3AEE24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RANK two risks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3CB4BA5-8BBC-4462-883E-1A1213E0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6BD634EA-36F1-4F4E-B6D3-D6CA6093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A093F030-2A14-455B-9FFC-0E8FD749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TRACE harm pathway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4B16E1C-EE27-4C07-900C-1D3B3C88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CFC99D73-E9A6-4C57-A91C-D8BCED41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872862BA-9F47-4BA1-A9D7-AD82340F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IDENTIFY affected stakeholders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82C4C4F8-A890-41B3-9BD2-63BD826C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177C40F2-C0C0-4726-826E-2CB2E5A4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919EFAF1-84C4-4586-9ABB-6A66E1DE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PROPOSE first control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55EFB1B-96AE-4516-BB5E-92EB83A9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26AA06E0-A81F-4559-BE6D-B09920E4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2B93B525-FFB1-480A-8C6E-D2B97BD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risk most threatens the intended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happens if only reliability is improved?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Whose perspective changes your priority?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7A0B8F22-FA39-42F5-9877-FD03D274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DF26C93C-3E26-4E04-8EA8-C233AB57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Individual S8 Quality Priority v0.</a:t>
            </a:r>
          </a:p>
        </p:txBody>
      </p:sp>
    </p:spTree>
    <p:extLst>
      <p:ext uri="{BB962C8B-B14F-4D97-AF65-F5344CB8AC3E}">
        <p14:creationId xmlns:p14="http://schemas.microsoft.com/office/powerpoint/2010/main" val="1042256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83B3014-D3F5-42C3-9FD0-4215C8B4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c740a8ea74125">
            <a:extLst>
              <a:ext uri="{96DAC541-7B7A-43D3-8B79-37D633B846F1}">
                <asvg:svgBlip xmlns:asvg="http://schemas.microsoft.com/office/drawing/2016/SVG/main" r:embed="R6f86d40c83fe49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F64594F0-3F40-4091-A8F1-DD2301F5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RELIABILITY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5868EE-1A32-40AF-AB51-8F145852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Reliability Asks Whether Results Survive Relevant Replication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6F75D56-E2AE-40F9-8831-BD1D91A3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10AE3AE-0324-498B-BBA0-5A9F00F9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7.1, pp. 62–63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DB6E55B1-5ABC-40FB-9DEC-B19D016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D73DB76-D2BD-4918-B73F-C563F540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6BA1E5E5-B71A-444D-A747-9FBF2F3F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31118566-C16F-43C0-9F2A-92E9462A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64E2A7C3-74EF-4991-B65F-02981024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6D18F086-DC33-470A-877F-AC0278EE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TASK SAMPLE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CD4EC3A6-DA06-4A38-B26C-9E5B1549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86C85C02-B9F3-4FD3-846B-4AF0D65F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6C7DAD6E-74B2-452F-A122-9968CBBF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OCCASION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9BA8A0E7-AC0A-4796-A0EC-7863A493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14C3877C-A3CC-4EE7-ADFE-D02674F2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A27DE66C-6821-4876-8B85-B4B655FB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ADMINISTRATION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FDB4FECA-DB15-4770-A54E-B8E24FCD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F6019BBD-BFEA-4118-978F-95FDA249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E8D76906-55D2-4441-988E-C7A6023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RATER / SCORING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DFEBB7AF-36FF-4380-A8D1-77C83B8A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Connect reliability to consistency across tasks, occasions, administration, and raters.</a:t>
            </a:r>
          </a:p>
        </p:txBody>
      </p:sp>
    </p:spTree>
    <p:extLst>
      <p:ext uri="{BB962C8B-B14F-4D97-AF65-F5344CB8AC3E}">
        <p14:creationId xmlns:p14="http://schemas.microsoft.com/office/powerpoint/2010/main" val="380885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E1601BD-74BB-42A8-834E-FBA70931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57a022ac84b26">
            <a:extLst>
              <a:ext uri="{96DAC541-7B7A-43D3-8B79-37D633B846F1}">
                <asvg:svgBlip xmlns:asvg="http://schemas.microsoft.com/office/drawing/2016/SVG/main" r:embed="R249b860ea61741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7348168-5D63-49B7-AE8E-6401622B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TRUSTWORTHINESS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5001218-F5FE-41FF-8D45-FC128259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Trustworthiness Fits Evidence Designed to Change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D04880A-99E3-43F8-B689-9A78EF3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458327B-41D1-4359-96AC-1886FEA6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7.1, p. 63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559B7D3-9556-48A6-855C-6EC12687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7654D44-28B3-4340-A9D9-B8A4585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04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D1C19F8D-7406-4B5B-9BBC-103BCA04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D97032C9-F922-4A07-9DA7-D61655DE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6F12EA19-BF35-427B-9B1B-694C06D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2EA0E5E0-0BBD-408E-B7CD-CE8B665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CREDIBLE evidence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01A0C2D2-9118-4465-B0ED-641A4C9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15A29E84-8CC7-4BA7-9F05-28FDB445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6847DE99-140D-43FF-837E-15361EA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RELEVANT to learning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D3A0FA78-CD71-4C25-9B71-AD7C4B0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79E77DF1-27A1-46B7-B381-F1EA28F8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35ABE53C-5CAD-427D-8C08-93BB4AD5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TRACEABLE process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26908D12-03CF-490B-9B69-AE6A2CE8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DC768669-21CC-4F77-B541-696F4E08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9B4385CE-151F-44A8-BC36-90FB5DB6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USEFUL action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C866CD1D-C4B0-479B-9730-E4B206EE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Apply credibility, usefulness, relevance, transparency, and traceability to formative and dynamic assessment.</a:t>
            </a:r>
          </a:p>
        </p:txBody>
      </p:sp>
    </p:spTree>
    <p:extLst>
      <p:ext uri="{BB962C8B-B14F-4D97-AF65-F5344CB8AC3E}">
        <p14:creationId xmlns:p14="http://schemas.microsoft.com/office/powerpoint/2010/main" val="1728399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07B9F55-C76C-4990-9916-417A203C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bc270c8094dc7">
            <a:extLst>
              <a:ext uri="{96DAC541-7B7A-43D3-8B79-37D633B846F1}">
                <asvg:svgBlip xmlns:asvg="http://schemas.microsoft.com/office/drawing/2016/SVG/main" r:embed="R0325cf90886b41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4F905E5-661D-4A26-98A2-0EF27793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VALIDITY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046CE2-C8E1-420B-9C89-E06C260A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Validity Concerns the Interpretation and Use—not the Test Alone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CF0A2C1-FE6B-47BD-9C94-05775AC6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F6DAD71B-551B-4898-9AC5-C041E8F7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7.2, pp. 63–65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5D14064-5B2C-4E30-99C0-BBD557A1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CFFC12EC-E12E-4F00-B538-2462DC5A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05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DF3CFD09-E29F-48FC-BC75-C290763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47D09217-E3AC-426D-85EB-B0B3315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76612D4A-935B-4A1D-AB1C-013A7AA6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CLAIM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5D3CEA1D-3EC4-45C7-9410-9A6B92AE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B9FC8D5A-2CDF-4BCD-B252-90E22ABF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8CD2E89-8981-4D55-B866-E3D9061F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EVIDENCE &amp; WARRANT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B20C20D5-5BCC-4F28-A12C-DDC6780D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4DAB15AC-13DA-4206-93F4-BF2103F4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C8CF895F-0C32-4EBD-BFDE-5794F26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ALTERNATIVE EXPLANATIONS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4921668B-E8CD-4AA7-AC97-979B1122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Frame validity as an evidence-based argument about construct inference and appropriate use.</a:t>
            </a:r>
          </a:p>
        </p:txBody>
      </p:sp>
    </p:spTree>
    <p:extLst>
      <p:ext uri="{BB962C8B-B14F-4D97-AF65-F5344CB8AC3E}">
        <p14:creationId xmlns:p14="http://schemas.microsoft.com/office/powerpoint/2010/main" val="1261547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A4E4CD3-10EE-48A7-9E5D-DA5EEC97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98d20906b47c5">
            <a:extLst>
              <a:ext uri="{96DAC541-7B7A-43D3-8B79-37D633B846F1}">
                <asvg:svgBlip xmlns:asvg="http://schemas.microsoft.com/office/drawing/2016/SVG/main" r:embed="R4b18eefe6d374c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8887AA6-0BE5-48B1-8F41-299B85C6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CONSTRUCT VALIDITY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86EBB1-C63E-45FD-93E4-826EEEE3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Construct Validity Tests Whether the Intended Ability Drives Performance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D4CA591-A199-4434-93E2-89DDDB65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E41FE3C-2F79-4231-9FBB-EDAE6ED5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7.2, pp. 63–64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124E396-F442-4874-A422-2D82151A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A286357-0FA7-42FC-84CB-2D3CC36A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06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9587FF79-8684-4B00-8098-34F3EF1F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0F7FFC16-B8DB-4A8D-9EF7-F21B268E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Audit construct representation and construct-irrelevant influences.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47DFF34C-F129-4567-9A2D-E5D1E5B1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531DBF7F-582F-49B6-830E-7690B905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4D08A205-9CA4-4D32-BA4F-2156825B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CONSTRUCT definition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B7D0BEDD-3C74-46CE-AEDB-345877B9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1F014199-6C65-4CC8-BF10-7E2B9C28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9373DD8C-7A9E-40CE-8F38-FE98C2C2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REPRESENTATION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F2C6E53A-9269-4EAE-88B0-6777E247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529EF9A9-943E-4DFD-BA16-004A3F85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A26E519A-2E59-4E37-BF6B-4FC82AB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RESPONSE PROCESS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41E7C7D7-88E8-4F0A-9CC5-ADAD28A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05ED3453-4F89-41A7-8BDD-F53CCE1D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1E4ADB62-1B47-4B30-97BD-0053FF40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IRRELEVANT INFLUENCE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B888BE39-296F-46DB-898B-3131BE37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1F2BE7D8-6280-47A5-82B2-20210891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6AEDD808-2D18-47AE-A946-AA2DD81B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construct component remains weakly evidenced?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else could explain success or failure?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A85F9D6E-9777-4B22-9836-573ED17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14902047-7908-4BF4-8D73-2DBD40C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Construct Validity Audit Note.</a:t>
            </a:r>
          </a:p>
        </p:txBody>
      </p:sp>
    </p:spTree>
    <p:extLst>
      <p:ext uri="{BB962C8B-B14F-4D97-AF65-F5344CB8AC3E}">
        <p14:creationId xmlns:p14="http://schemas.microsoft.com/office/powerpoint/2010/main" val="247079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3272535-F1C1-4549-9188-87842DA4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70dd6fc8e472c">
            <a:extLst>
              <a:ext uri="{96DAC541-7B7A-43D3-8B79-37D633B846F1}">
                <asvg:svgBlip xmlns:asvg="http://schemas.microsoft.com/office/drawing/2016/SVG/main" r:embed="R23f3a9042dd541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00D8D9D-BC86-46EA-A3C2-CBDCEAF1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CONTENT VALIDITY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CCB7CC-4FC3-4657-B196-D2E4282B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Content Validity Requires Relevance and Sufficiency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6CDEC223-11B8-4743-9535-DC10950B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F14FE46-3F45-4A21-8C1E-08835285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7.2, pp. 63–64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346F61B4-71AB-458E-9535-BCE09D5F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B1A1E3D0-AB83-4363-ACFA-FEA65106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960CC704-F624-4A38-83DB-D725F38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4EE5AA5D-5592-4BF3-B540-E767E79C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Evaluate domain representation, task coverage, and sampling sufficiency.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DD050AF8-39F0-48DF-B18E-0A4DC3B9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F7A67097-1E19-4BA2-8AB1-DDBBB2FD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5ED32FAB-D0AC-4403-855C-334F9D6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DOMAIN definition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CF5C2ED2-EC50-45FE-9111-BCBDBD25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0FEB9CAA-93DB-4E60-BA49-2E57A33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98E24F98-F3A3-42FC-8F26-445EE7EB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RELEVANCE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6041936A-833E-4AEA-80EB-FBA5CD4C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690FB7FB-1DC3-4AFE-B696-1AF69BA6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FE4100D3-34BD-47EA-8431-50ED3A8A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COVERAGE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7D3CD637-7B56-49FB-A94A-6C14935A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11F4E854-4FBB-485C-8DA8-0A052948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F1E1E2A6-0BFD-463D-990D-D32AA533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SUFFICIENCY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AEEDC77D-C706-4407-B10B-4AE9EC16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143EEEA0-DB0F-48DB-9815-A15FD040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3A0E7202-C66D-4653-8201-732CCBF6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important domain cell is empty?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Does repeated sampling of one feature create false breadth?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How much evidence is enough for the stakes?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247F6666-1854-418E-82D3-D439A765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BA52C1F5-120E-48A5-B56A-F25F007F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Content Coverage Matrix.</a:t>
            </a:r>
          </a:p>
        </p:txBody>
      </p:sp>
    </p:spTree>
    <p:extLst>
      <p:ext uri="{BB962C8B-B14F-4D97-AF65-F5344CB8AC3E}">
        <p14:creationId xmlns:p14="http://schemas.microsoft.com/office/powerpoint/2010/main" val="1836432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E39AABDC-F428-4C67-B545-CEEEFD2F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6e9679b2348a9">
            <a:extLst>
              <a:ext uri="{96DAC541-7B7A-43D3-8B79-37D633B846F1}">
                <asvg:svgBlip xmlns:asvg="http://schemas.microsoft.com/office/drawing/2016/SVG/main" r:embed="R81e37bb64da945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379BD42-CDAC-4C23-87CE-5AAA85F9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FACE VALIDITY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1BBE88-B54A-462E-A3DE-E33BA8EC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Face Validity Builds Trust—but Can Also Mislead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BFC3C275-4C9B-4ED0-89E0-9E8CE02F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27D4C2E-3469-444B-9B46-AFF50525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7.2, p. 64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81572F2C-A17F-4FDC-8605-1CE6F301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886E228-2BB8-47F6-B7BC-C8A8DE37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08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29F80D70-ECF6-4D18-8716-1FA43F3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7F08ABD7-AD1E-4EC7-A0A4-1AA1EDEB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9FC24C8B-6425-4F24-B2ED-46EA3FF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PERCEIVED relevance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42EAA581-B843-439E-93F2-F2853C52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TRANSPARENCY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4E0819DF-A889-4B53-828E-EF86E907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527CCDF3-7DB9-455D-B3D0-CBE0B98D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6445493F-1283-445C-93BE-4D281DE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06833ABA-FC4E-49BA-9D1C-53E0F2A2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ACCEPTABILITY</a:t>
            </a:r>
          </a:p>
        </p:txBody>
      </p:sp>
    </p:spTree>
    <p:extLst>
      <p:ext uri="{BB962C8B-B14F-4D97-AF65-F5344CB8AC3E}">
        <p14:creationId xmlns:p14="http://schemas.microsoft.com/office/powerpoint/2010/main" val="18429102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F25B6D5-33F9-481F-9729-79167099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7f82cc62a454e">
            <a:extLst>
              <a:ext uri="{96DAC541-7B7A-43D3-8B79-37D633B846F1}">
                <asvg:svgBlip xmlns:asvg="http://schemas.microsoft.com/office/drawing/2016/SVG/main" r:embed="R48ba3201f2854d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B17F624A-5661-4D3B-AC0A-E1F0996E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PRACTICALITY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256A31-6F8E-43AD-AA91-210053EA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Practicality Is a Constraint Model, Not an Excuse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7B65802E-71B5-4C71-9953-F74DB4F7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2FDCE34-2E89-4D7F-B4C3-73223905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7.3, p. 65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508C3082-5F55-49BB-81DF-93D05EC6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391A6D0-5EAF-41C2-A161-0FD909E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09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A185B14E-811A-42EB-98E0-A7DB1821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8FCAFC84-D339-4B17-BE2A-10C5863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6E7D4037-F9C9-432D-B8A7-341179E4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6D0170B5-59A0-430E-A638-3DF15E46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RESOURCE demand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2A93BFEA-C3DC-4D84-B790-F60569D9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E492BD8D-0E4D-4FA2-8111-F46CF856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F99472DB-ABFA-4EC2-B7FE-1DB1324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AVAILABLE capacity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764C3B94-4EA2-4855-8FBD-275F87FA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DA2FFBFA-0493-4687-9F5F-2B740B4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B7926C36-A0B2-419C-8D83-653B5D4F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QUALITY threshold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A932A687-7538-4D3A-A95E-F21743EB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24968DF4-AE73-4E71-A514-40D827F4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AC2E1109-462A-4B72-9265-C0FB0761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SUSTAINABILITY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B94D7041-C2A3-4DBF-AF75-0D3E79E3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Analyse development, delivery, participation, scoring, feedback, and sustainability costs.</a:t>
            </a:r>
          </a:p>
        </p:txBody>
      </p:sp>
    </p:spTree>
    <p:extLst>
      <p:ext uri="{BB962C8B-B14F-4D97-AF65-F5344CB8AC3E}">
        <p14:creationId xmlns:p14="http://schemas.microsoft.com/office/powerpoint/2010/main" val="16328752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E1791E3A-3843-4ACF-B535-F0497C6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dd3892e0e4bcb">
            <a:extLst>
              <a:ext uri="{96DAC541-7B7A-43D3-8B79-37D633B846F1}">
                <asvg:svgBlip xmlns:asvg="http://schemas.microsoft.com/office/drawing/2016/SVG/main" r:embed="R98002a86fb3c40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3067D71-096B-4ECE-B29C-B11DBAC3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ETHICS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C6E89A-4A45-4D3C-A74A-0D498668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Ethics Begins before Administration and Continues after Use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49C1726-2EB0-421C-9AE0-33DDBC3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3A04F157-68F3-4B20-9766-3D75D78B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7.4, pp. 65–67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1E6F98D9-E613-46CF-A82C-1E9B5E3B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7F2E04C-0D92-4CB8-8C9A-A8DCEAAF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DCE36F4D-35C5-495A-83E0-D33BA29D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9F1126FF-EAB1-4370-81D5-8327138E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3BDE55C9-65B6-4A72-A338-F0084946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DUTY of care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00DFFC80-F4EF-4A44-8A96-7BB5B65F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C89938DD-8200-40D1-90A4-A4981C25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839CCE08-7D13-4F5C-90DD-3395853A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TRANSPARENCY &amp; consent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BF670B19-5435-43FB-B7D5-4DD23BB7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2A86201B-1093-452D-ADF3-FAFA8E8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1B6C8198-5605-4CAC-AE4D-462AE91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PRIVACY &amp; security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1AEF0608-8EF8-4F98-9557-2A77A54E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Identify duties of care, competence, transparency, privacy, consent, security, and responsible use.</a:t>
            </a:r>
          </a:p>
        </p:txBody>
      </p:sp>
    </p:spTree>
    <p:extLst>
      <p:ext uri="{BB962C8B-B14F-4D97-AF65-F5344CB8AC3E}">
        <p14:creationId xmlns:p14="http://schemas.microsoft.com/office/powerpoint/2010/main" val="9483771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363B729-8954-4613-8288-DA5CF2C9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56d3e07384f69">
            <a:extLst>
              <a:ext uri="{96DAC541-7B7A-43D3-8B79-37D633B846F1}">
                <asvg:svgBlip xmlns:asvg="http://schemas.microsoft.com/office/drawing/2016/SVG/main" r:embed="R77efdc6f655f44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94E5CFF-D0A2-4775-B4C7-C7BB813C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FAIRNESS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1F502D-C2D8-44F5-81C7-D0B885EF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Fairness Is More Than Treating Everyone Identically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0F2B19B-A58C-4BCF-9C8B-3BDACF2C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D8DE33AB-44EC-4DA7-88FF-73895C1E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7.5, pp. 67–68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4BC9D907-5E73-4836-B967-151760F2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F12432E2-97CC-41B0-9052-D4AC74E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11</a:t>
            </a:r>
          </a:p>
        </p:txBody>
      </p:sp>
      <p:sp>
        <p:nvSpPr>
          <p:cNvPr id="9" name="left">
            <a:extLst xmlns:a="http://schemas.openxmlformats.org/drawingml/2006/main">
              <a:ext uri="{FF2B5EF4-FFF2-40B4-BE49-F238E27FC236}">
                <a16:creationId xmlns:a16="http://schemas.microsoft.com/office/drawing/2014/main" id="{4EEAD722-BFD6-4DC9-910A-EC5CE162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B1079ACD-A014-4A5D-AB8D-17BE9BD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1" name="lh">
            <a:extLst xmlns:a="http://schemas.openxmlformats.org/drawingml/2006/main">
              <a:ext uri="{FF2B5EF4-FFF2-40B4-BE49-F238E27FC236}">
                <a16:creationId xmlns:a16="http://schemas.microsoft.com/office/drawing/2014/main" id="{1BBA9925-3FF6-4A17-9CF2-90C41EA9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OPPORTUNITY to learn</a:t>
            </a:r>
          </a:p>
        </p:txBody>
      </p:sp>
      <p:sp>
        <p:nvSpPr>
          <p:cNvPr id="12" name="rh">
            <a:extLst xmlns:a="http://schemas.openxmlformats.org/drawingml/2006/main">
              <a:ext uri="{FF2B5EF4-FFF2-40B4-BE49-F238E27FC236}">
                <a16:creationId xmlns:a16="http://schemas.microsoft.com/office/drawing/2014/main" id="{5060CCCE-573B-4428-894B-C5F5C2B3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</a:defRPr>
            </a:pPr>
            <a:r>
              <a:rPr sz="1875" b="1" i="0">
                <a:solidFill>
                  <a:srgbClr val="17365D"/>
                </a:solidFill>
              </a:rPr>
              <a:t>ACCESS to demonstrate</a:t>
            </a:r>
          </a:p>
        </p:txBody>
      </p:sp>
      <p:sp>
        <p:nvSpPr>
          <p:cNvPr id="13" name="bridge">
            <a:extLst xmlns:a="http://schemas.openxmlformats.org/drawingml/2006/main">
              <a:ext uri="{FF2B5EF4-FFF2-40B4-BE49-F238E27FC236}">
                <a16:creationId xmlns:a16="http://schemas.microsoft.com/office/drawing/2014/main" id="{E05C9E76-3505-42D2-9942-665B7D48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id">
            <a:extLst xmlns:a="http://schemas.openxmlformats.org/drawingml/2006/main">
              <a:ext uri="{FF2B5EF4-FFF2-40B4-BE49-F238E27FC236}">
                <a16:creationId xmlns:a16="http://schemas.microsoft.com/office/drawing/2014/main" id="{AD84C6EA-6480-4652-ADEA-C1DE62C3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5" name="mid-t">
            <a:extLst xmlns:a="http://schemas.openxmlformats.org/drawingml/2006/main">
              <a:ext uri="{FF2B5EF4-FFF2-40B4-BE49-F238E27FC236}">
                <a16:creationId xmlns:a16="http://schemas.microsoft.com/office/drawing/2014/main" id="{1A28804C-ECD9-4D67-9DAC-3A5C8EC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146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</a:defRPr>
            </a:pPr>
            <a:r>
              <a:rPr sz="1800" b="1" i="0">
                <a:solidFill>
                  <a:srgbClr val="17365D"/>
                </a:solidFill>
              </a:rPr>
              <a:t>↔</a:t>
            </a:r>
          </a:p>
        </p:txBody>
      </p:sp>
      <p:sp>
        <p:nvSpPr>
          <p:cNvPr id="16" name="third">
            <a:extLst xmlns:a="http://schemas.openxmlformats.org/drawingml/2006/main">
              <a:ext uri="{FF2B5EF4-FFF2-40B4-BE49-F238E27FC236}">
                <a16:creationId xmlns:a16="http://schemas.microsoft.com/office/drawing/2014/main" id="{BEA1248C-2259-43AC-95F9-875F0BE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727E"/>
                </a:solidFill>
              </a:defRPr>
            </a:pPr>
            <a:r>
              <a:rPr sz="1650" b="1" i="0">
                <a:solidFill>
                  <a:srgbClr val="18727E"/>
                </a:solidFill>
              </a:rPr>
              <a:t>FAIR judgement</a:t>
            </a:r>
          </a:p>
        </p:txBody>
      </p:sp>
    </p:spTree>
    <p:extLst>
      <p:ext uri="{BB962C8B-B14F-4D97-AF65-F5344CB8AC3E}">
        <p14:creationId xmlns:p14="http://schemas.microsoft.com/office/powerpoint/2010/main" val="19398874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89B2368-3416-4644-B41E-37053044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6ab9387f9411f">
            <a:extLst>
              <a:ext uri="{96DAC541-7B7A-43D3-8B79-37D633B846F1}">
                <asvg:svgBlip xmlns:asvg="http://schemas.microsoft.com/office/drawing/2016/SVG/main" r:embed="R237f033a8d384e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77570ED1-CE13-4420-A520-90289F0C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ETHICAL CASE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71C6CE-EC4A-41DF-A9D5-BF31604B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Case: Efficient Technology, Unequal Opportunity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DCEC3F5-53C2-43BB-95B2-6947980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2878A666-C4C3-4931-8EBF-1947D3BA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7.5 case, pp. 67–68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BB919F56-3709-46E6-B03B-404E0D9F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D8DB6FB-D3A5-4DDB-943C-7992C4CB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12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443A9900-9850-4C94-93C6-B3430FC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E6D3D9E9-55D4-484F-BBC9-81DC9A7E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Analyse a professional dilemma involving computer assessment, misalignment, access, and authority.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8BC92343-697A-407D-88F1-A69E5E12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2308FFB6-D78D-4875-8FD0-480A39E6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3ECE73A3-8238-4977-B34B-3E934E40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EVIDENCE of risk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1889AB6A-AC04-4000-8DE3-F37224C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4A9D0B84-2DED-4472-8023-1942E43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6C6B0A50-44C7-43FC-B177-C8A78B65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AFFECTED stakeholders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0134F349-AE33-48F5-AC55-490A0AC2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8D5E3AF7-8B70-4A19-9C87-43DD8E34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6C8F53F3-B97A-4435-A478-684DC02D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PROFESSIONAL duties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1529E54E-04FA-44CB-A4A4-467F858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FF72C5B9-6D8D-48E2-8DF1-F383BAEF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A9F0E2F4-9F5D-45BF-B505-5ED7F192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ACTION and safeguards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CD8DE5FE-2CB5-4A2E-B8A4-0A1D5FBE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63E11268-6C77-4FD4-9784-0742E8B0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D1FA16CA-B79C-4D97-957D-7D2587C6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What harm is foreseeable?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What evidence would strengthen the challenge?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How can teachers act responsibly under power asymmetry?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6F27FBC5-BAD5-4FF6-B873-B10132B7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75D7DCC1-B38D-46CF-9EDA-F1A2BB9C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Group Ethical Action Brief.</a:t>
            </a:r>
          </a:p>
        </p:txBody>
      </p:sp>
    </p:spTree>
    <p:extLst>
      <p:ext uri="{BB962C8B-B14F-4D97-AF65-F5344CB8AC3E}">
        <p14:creationId xmlns:p14="http://schemas.microsoft.com/office/powerpoint/2010/main" val="11680919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86207FE-2DE4-4666-8204-C6AEEF7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00849eca84c89">
            <a:extLst>
              <a:ext uri="{96DAC541-7B7A-43D3-8B79-37D633B846F1}">
                <asvg:svgBlip xmlns:asvg="http://schemas.microsoft.com/office/drawing/2016/SVG/main" r:embed="R202f5ab537364d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9B16FC58-BE1E-4496-AB50-8DF8D18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IMPACT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B6582E-F662-453D-AC56-95299B62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7365D"/>
                </a:solidFill>
              </a:defRPr>
            </a:pPr>
            <a:r>
              <a:rPr sz="2625" b="1" i="0">
                <a:solidFill>
                  <a:srgbClr val="17365D"/>
                </a:solidFill>
              </a:rPr>
              <a:t>Impact Travels through Learners, Teachers, Institutions, and Society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DE8A06D6-C2D3-491F-9339-18B705A9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F8184A6-A9AB-4948-B06F-319E768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7.6, pp. 68–70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AAB268C-094F-4ABB-A4C0-A03C7FE8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EFB67842-740B-4767-90F4-47C66124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13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F6D3D9D8-4E38-4B24-A53E-723F837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C92B2B59-1D97-48B1-BE7F-CD8767A4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Map intended and unintended consequences across stakeholders, time, and system levels.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9256BDA0-2067-4D37-AEBC-1AF149B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2622EA8A-9157-433D-A6D9-C77F75D7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476ECE91-3204-429F-B35E-20805EC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INTENDED / UNINTENDED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B1669936-9041-486D-859F-6F3FF66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D12FAB48-F3F8-43DF-9F73-CD3F57B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5758F3DE-2348-4EC8-84CB-AEB24439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POSITIVE / NEGATIVE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8C2C1BF8-3E80-431E-96CC-CB2079B3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32ABA16F-4ADA-4B0F-9197-9F35E488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63937B07-B49E-44FF-BF96-EB54210A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SHORT / LONG TERM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CC17FA7F-2149-4753-9E65-55940C3F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D2BDE5F6-5358-43D0-A023-544CD841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4C315771-1181-4F46-948C-3A6819A7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INDIVIDUAL / SYSTEM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13E12F40-EDCF-404A-89BA-E6C22E9A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45118859-3F08-4970-836F-874C1819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E20945E4-3795-4EDC-91AE-826B2A1F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behaviour will the assessment incentivise?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Who bears costs and who receives benefits?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What indicator could reveal unintended impact?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F21248A-9DEC-450C-BAF0-59546830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11D7A8A9-0883-4788-AE45-184F1DFD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Impact Pathway Map.</a:t>
            </a:r>
          </a:p>
        </p:txBody>
      </p:sp>
    </p:spTree>
    <p:extLst>
      <p:ext uri="{BB962C8B-B14F-4D97-AF65-F5344CB8AC3E}">
        <p14:creationId xmlns:p14="http://schemas.microsoft.com/office/powerpoint/2010/main" val="5218184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8F05CB0-E136-494B-8B56-B3382B62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70dc577ac4866">
            <a:extLst>
              <a:ext uri="{96DAC541-7B7A-43D3-8B79-37D633B846F1}">
                <asvg:svgBlip xmlns:asvg="http://schemas.microsoft.com/office/drawing/2016/SVG/main" r:embed="R3d539ce6e16e46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C76C1639-9B27-416B-9D1C-7A0E789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WASHBACK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7A3AB8-D8C7-44A5-AAFF-A20590C2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Washback Can Enlarge—or Narrow—Learning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E3E07FD2-AF65-4465-9AE2-BF41DAF8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BACAEE24-D6E4-4DC0-A037-2AC4C660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Phakiti &amp; Leung (2024), Section 7.6, pp. 69–70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5A9797E-BBFC-4387-9AE4-7F1C905A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30B185F4-DE78-4CD4-842C-0956C85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14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E50FE9C7-BF61-43C4-9378-6131A82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B88E8A29-338F-4DD4-A72D-E069AA1E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Analyse positive and negative influences on curriculum, teaching, learning, and self-regulation.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F3681715-A157-4EE0-9C90-FCB66228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D20E0AC4-5FD7-4B3B-A922-EF57D8F1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88B038FD-4981-4D52-8BAB-2DC3D34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ASSESSMENT feature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539603EB-7795-4548-8942-AC7223E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5D5FB355-6303-41B6-862E-A519A162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00EA2A17-A935-4777-A37F-470C3F03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STAKEHOLDER mediation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2AE55A7F-3F19-4ED9-B714-D52CAC89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13BB42E1-6C7A-453B-87B0-519E2B3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22CDDBDC-D537-447C-AD31-4E3FDB29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TEACHING / LEARNING behaviour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B5346BAF-3BDE-4F9C-ACC3-0AD97EA6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DA720986-6212-4AD2-9572-7D395236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556811BE-C4CB-4FB5-8ECF-4FA4E861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OUTCOME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07483FF5-03D0-4BEF-AB18-0BAD67DB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656DFE39-2555-45A7-A64D-8A9B33E9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9DCF7CEA-442A-4F79-96FA-3345F667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What will teachers teach more or less?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preparation would be educationally valuable?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Could transparency increase coaching to surface features?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DAA1C459-E675-4E10-9D3C-4A8E02D2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85655E84-67F3-45E6-9CBF-BC487051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Washback Prediction and Indicator.</a:t>
            </a:r>
          </a:p>
        </p:txBody>
      </p:sp>
    </p:spTree>
    <p:extLst>
      <p:ext uri="{BB962C8B-B14F-4D97-AF65-F5344CB8AC3E}">
        <p14:creationId xmlns:p14="http://schemas.microsoft.com/office/powerpoint/2010/main" val="14360427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5A1A420-EC96-4883-A0F0-5DEC7B00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cf37e1ea546ba">
            <a:extLst>
              <a:ext uri="{96DAC541-7B7A-43D3-8B79-37D633B846F1}">
                <asvg:svgBlip xmlns:asvg="http://schemas.microsoft.com/office/drawing/2016/SVG/main" r:embed="R7c9d8772b5bf46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89F2B6BB-2797-4AEA-929C-016DE699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QUALITY AUDIT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168F7D-5AAD-49FF-BEFF-A4121BF5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Conduct the Six-Criterion Quality Audit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A1D64AD-4C08-4048-B38A-ADC0EAFF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0E41B09B-F558-4791-A5C4-60F84072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Design studio grounded in Phakiti &amp; Leung (2024), Section 7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BB45A406-7E1B-43B6-B440-29FBAA98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D06D3376-52EC-4CEF-B7AC-007F8B6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15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AAA11ED7-3C83-4988-9873-AC0A5273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24D2C3BD-B160-4C52-83DC-60FE6D97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7E1CA5B2-51AE-46FB-A7E1-DF6F8F1F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DE1FFC32-3C8B-437E-AFC7-D23CBFB5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CLAIM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8FEDBEA9-FD85-4E58-A12D-A4D66ADF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3D68B808-B0A7-44CE-86B7-7373F45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64C3F2B4-988D-4C59-ABB4-C0A36643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EVIDENCE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8EFE196C-CF29-42B7-B368-0DC67F49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2605B173-138A-4974-BE0E-452BD5AD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34F0C0E1-EF31-48B8-8343-E5A41BD7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VULNERABILITY / STAKEHOLDER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1EC06CC6-D718-48E4-86D6-9F8B3883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62301964-9D2B-4195-9C40-9F59BFC0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FB2A92BD-DB29-4DB2-995F-9F8936C3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CONTROL / RESIDUAL RISK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3BB9D90F-3830-4C11-9116-2C9767C1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Evaluate claims, evidence, vulnerabilities, controls, and residual risk across all six criteria.</a:t>
            </a:r>
          </a:p>
        </p:txBody>
      </p:sp>
    </p:spTree>
    <p:extLst>
      <p:ext uri="{BB962C8B-B14F-4D97-AF65-F5344CB8AC3E}">
        <p14:creationId xmlns:p14="http://schemas.microsoft.com/office/powerpoint/2010/main" val="6413173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3436315-1165-40AC-A6B0-04B5EB2A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a23dd9b7f4af4">
            <a:extLst>
              <a:ext uri="{96DAC541-7B7A-43D3-8B79-37D633B846F1}">
                <asvg:svgBlip xmlns:asvg="http://schemas.microsoft.com/office/drawing/2016/SVG/main" r:embed="R0e176d49bf83400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11211EE6-B0A9-498A-B539-1DE22427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INTERPRETATION / USE ARGUMENT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D021EC-F550-4C1A-8C3D-A5BEBA45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Build the Interpretation and Use Argument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8A04B16-1C64-4848-A2A7-F10F6476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ED1D3974-AE25-4F5C-9E19-161C6FC0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argument-building studio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A0BDB7F0-E783-4920-B782-51C7223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8D624846-208B-4271-AB0E-9E90042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16</a:t>
            </a:r>
          </a:p>
        </p:txBody>
      </p:sp>
      <p:sp>
        <p:nvSpPr>
          <p:cNvPr id="9" name="axis">
            <a:extLst xmlns:a="http://schemas.openxmlformats.org/drawingml/2006/main">
              <a:ext uri="{FF2B5EF4-FFF2-40B4-BE49-F238E27FC236}">
                <a16:creationId xmlns:a16="http://schemas.microsoft.com/office/drawing/2014/main" id="{6CAEB601-72D5-4671-998F-2E3E543F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7D3B230E-D597-4C0A-BAC9-FAD514FE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C143263F-FE45-4F48-8DC5-3151CF26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p-0">
            <a:extLst xmlns:a="http://schemas.openxmlformats.org/drawingml/2006/main">
              <a:ext uri="{FF2B5EF4-FFF2-40B4-BE49-F238E27FC236}">
                <a16:creationId xmlns:a16="http://schemas.microsoft.com/office/drawing/2014/main" id="{B71E44DF-E70D-489A-9307-470228AE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CLAIM</a:t>
            </a:r>
          </a:p>
        </p:txBody>
      </p:sp>
      <p:sp>
        <p:nvSpPr>
          <p:cNvPr id="13" name="dot-1">
            <a:extLst xmlns:a="http://schemas.openxmlformats.org/drawingml/2006/main">
              <a:ext uri="{FF2B5EF4-FFF2-40B4-BE49-F238E27FC236}">
                <a16:creationId xmlns:a16="http://schemas.microsoft.com/office/drawing/2014/main" id="{686274E0-E011-4ECC-A964-D1BB71B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BAEA15E0-095F-4DD8-B892-94508A5D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p-1">
            <a:extLst xmlns:a="http://schemas.openxmlformats.org/drawingml/2006/main">
              <a:ext uri="{FF2B5EF4-FFF2-40B4-BE49-F238E27FC236}">
                <a16:creationId xmlns:a16="http://schemas.microsoft.com/office/drawing/2014/main" id="{D3E2F4EA-D13A-4DF1-A407-C462C826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WARRANT &amp; EVIDENCE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9E55E53B-DF1B-442C-80C4-B488D833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E0805465-539A-48CB-B055-4A420060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p-2">
            <a:extLst xmlns:a="http://schemas.openxmlformats.org/drawingml/2006/main">
              <a:ext uri="{FF2B5EF4-FFF2-40B4-BE49-F238E27FC236}">
                <a16:creationId xmlns:a16="http://schemas.microsoft.com/office/drawing/2014/main" id="{8F336AAA-4296-48CF-A949-91EAE52A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REBUTTAL / LIMIT</a:t>
            </a:r>
          </a:p>
        </p:txBody>
      </p:sp>
      <p:sp>
        <p:nvSpPr>
          <p:cNvPr id="19" name="dot-3">
            <a:extLst xmlns:a="http://schemas.openxmlformats.org/drawingml/2006/main">
              <a:ext uri="{FF2B5EF4-FFF2-40B4-BE49-F238E27FC236}">
                <a16:creationId xmlns:a16="http://schemas.microsoft.com/office/drawing/2014/main" id="{DF0C4944-A537-4AF4-A1D2-C4AE9E3A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123B9570-EF06-49A2-9AF3-02D475E7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p-3">
            <a:extLst xmlns:a="http://schemas.openxmlformats.org/drawingml/2006/main">
              <a:ext uri="{FF2B5EF4-FFF2-40B4-BE49-F238E27FC236}">
                <a16:creationId xmlns:a16="http://schemas.microsoft.com/office/drawing/2014/main" id="{0DD0E2DA-5FF1-490A-A212-354A137B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00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8727E"/>
                </a:solidFill>
              </a:defRPr>
            </a:pPr>
            <a:r>
              <a:rPr sz="1275" b="1" i="0">
                <a:solidFill>
                  <a:srgbClr val="18727E"/>
                </a:solidFill>
              </a:rPr>
              <a:t>USE BOUNDARY</a:t>
            </a:r>
          </a:p>
        </p:txBody>
      </p:sp>
      <p:sp>
        <p:nvSpPr>
          <p:cNvPr id="22" name="take">
            <a:extLst xmlns:a="http://schemas.openxmlformats.org/drawingml/2006/main">
              <a:ext uri="{FF2B5EF4-FFF2-40B4-BE49-F238E27FC236}">
                <a16:creationId xmlns:a16="http://schemas.microsoft.com/office/drawing/2014/main" id="{52CF6DB7-D275-4030-A6F3-72DFBB61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</a:defRPr>
            </a:pPr>
            <a:r>
              <a:rPr sz="1575" b="1" i="0">
                <a:solidFill>
                  <a:srgbClr val="17365D"/>
                </a:solidFill>
              </a:rPr>
              <a:t>Connect performance evidence to interpretation, decision, consequence, and safeguards.</a:t>
            </a:r>
          </a:p>
        </p:txBody>
      </p:sp>
    </p:spTree>
    <p:extLst>
      <p:ext uri="{BB962C8B-B14F-4D97-AF65-F5344CB8AC3E}">
        <p14:creationId xmlns:p14="http://schemas.microsoft.com/office/powerpoint/2010/main" val="2362570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EB428A8-C31C-4A5E-9FA8-5969A5AC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e4297c3fd4190">
            <a:extLst>
              <a:ext uri="{96DAC541-7B7A-43D3-8B79-37D633B846F1}">
                <asvg:svgBlip xmlns:asvg="http://schemas.microsoft.com/office/drawing/2016/SVG/main" r:embed="Re01c923df2ce42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0BC1A383-198F-42CA-8AAE-305AC0D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4A72C"/>
                </a:solidFill>
              </a:defRPr>
            </a:pPr>
            <a:r>
              <a:rPr sz="1050" b="1" i="0">
                <a:solidFill>
                  <a:srgbClr val="D4A72C"/>
                </a:solidFill>
              </a:rPr>
              <a:t>RED-TEAM REVIEW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10E736-53E9-4891-9E27-429B96E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Red-Team the System from Four Stakeholder Positions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0799A07-A08C-4755-B989-5CD34B3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4FFF574B-3779-42C3-AF1A-2F5EEC8C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adversarial critique protocol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6281F97B-A142-49C1-A8B0-7B490C77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FAC2B4F-C8E6-4790-BF54-FDE95C28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17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1B1977C2-D88A-47E6-9E84-887527B9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02844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7B11253E-3DA7-4444-9EDE-2C5D871C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Expose hidden assumptions, harms, failure modes, and unsupported claims.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73B4F7F6-4860-4F4C-B828-D91D28B2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6D77883D-9120-488F-967A-3C49C480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358C0EE7-9C90-480D-A316-1F4A5AB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LEARNER / ACCESS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7C301483-E20A-4FEC-A5EA-CE676E7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B30394F0-9605-445A-8451-C7F9678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BB55F5A4-2AE8-44AF-AB4D-FE6021FB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SCORE USER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42DFA1C1-1F3A-4B5B-911F-C81E85B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D4E56B5B-63A0-43BD-B919-1E147D2F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33E3C937-9F5D-495F-8493-16FD58FD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ADMINISTRATOR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3B21A1EE-D4C1-4744-AE02-8E2BFA3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CD7DF529-F5E7-4010-96F1-4284138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7D5AF6BE-BAB2-4261-A3F1-37A62A1A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ETHICS / DATA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9C98A8E-27EF-46FF-9F6D-1324F7A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5CED59D1-AFD1-4100-861C-442F60AA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65D"/>
                </a:solidFill>
              </a:defRPr>
            </a:pPr>
            <a:r>
              <a:rPr sz="1275" b="1" i="0">
                <a:solidFill>
                  <a:srgbClr val="17365D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B1BBF376-8C76-4004-A020-86CAE288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1. How could this system fail while appearing successful?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2. Who could be harmed silently?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202B36"/>
                </a:solidFill>
              </a:defRPr>
            </a:pPr>
            <a:r>
              <a:rPr sz="1425" b="0" i="0">
                <a:solidFill>
                  <a:srgbClr val="202B36"/>
                </a:solidFill>
              </a:rPr>
              <a:t>3. Which claim would you refuse to accept?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1C228491-DF06-4C8C-AC42-C3ED73E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BB992837-EAD3-4262-8575-2FFDCCC2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Red-Team Challenge Record.</a:t>
            </a:r>
          </a:p>
        </p:txBody>
      </p:sp>
    </p:spTree>
    <p:extLst>
      <p:ext uri="{BB962C8B-B14F-4D97-AF65-F5344CB8AC3E}">
        <p14:creationId xmlns:p14="http://schemas.microsoft.com/office/powerpoint/2010/main" val="10499960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8BE73D14-ED32-4305-AA7E-DEF92996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c2f6a6c0543d6">
            <a:extLst>
              <a:ext uri="{96DAC541-7B7A-43D3-8B79-37D633B846F1}">
                <asvg:svgBlip xmlns:asvg="http://schemas.microsoft.com/office/drawing/2016/SVG/main" r:embed="R607c60062dc541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ED417DC8-5D94-48FF-BB83-B3998FA6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PROTOTYPE 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D5AC68-53E5-4947-80EA-F0FBD038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Build Prototype 3 through Evidence-Informed Redesign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1F6E575-0067-4F63-A828-B08E738A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FF31D08-0436-4896-B671-854716B6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iterative redesign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EE3BF932-1371-4308-A701-696A0C16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9BEF6F16-B9D3-4D1C-93DC-9409D913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18</a:t>
            </a:r>
          </a:p>
        </p:txBody>
      </p:sp>
      <p:sp>
        <p:nvSpPr>
          <p:cNvPr id="9" name="main">
            <a:extLst xmlns:a="http://schemas.openxmlformats.org/drawingml/2006/main">
              <a:ext uri="{FF2B5EF4-FFF2-40B4-BE49-F238E27FC236}">
                <a16:creationId xmlns:a16="http://schemas.microsoft.com/office/drawing/2014/main" id="{8DED5AD5-66D3-4B47-AD95-89CF4B56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0" name="prompt">
            <a:extLst xmlns:a="http://schemas.openxmlformats.org/drawingml/2006/main">
              <a:ext uri="{FF2B5EF4-FFF2-40B4-BE49-F238E27FC236}">
                <a16:creationId xmlns:a16="http://schemas.microsoft.com/office/drawing/2014/main" id="{EC4953A8-F42D-4E59-B0FC-FDFAC01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96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</a:defRPr>
            </a:pPr>
            <a:r>
              <a:rPr sz="1725" b="1" i="0">
                <a:solidFill>
                  <a:srgbClr val="17365D"/>
                </a:solidFill>
              </a:rPr>
              <a:t>Revise the assessment system and preserve a complete evidence–decision trail.</a:t>
            </a:r>
          </a:p>
        </p:txBody>
      </p:sp>
      <p:sp>
        <p:nvSpPr>
          <p:cNvPr id="11" name="b-0">
            <a:extLst xmlns:a="http://schemas.openxmlformats.org/drawingml/2006/main">
              <a:ext uri="{FF2B5EF4-FFF2-40B4-BE49-F238E27FC236}">
                <a16:creationId xmlns:a16="http://schemas.microsoft.com/office/drawing/2014/main" id="{7F1EE9AC-DFC4-4FD4-9418-E74AE70B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2" name="bt-0">
            <a:extLst xmlns:a="http://schemas.openxmlformats.org/drawingml/2006/main">
              <a:ext uri="{FF2B5EF4-FFF2-40B4-BE49-F238E27FC236}">
                <a16:creationId xmlns:a16="http://schemas.microsoft.com/office/drawing/2014/main" id="{40AA865B-3CDB-4A43-A972-4425F4F6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p-0">
            <a:extLst xmlns:a="http://schemas.openxmlformats.org/drawingml/2006/main">
              <a:ext uri="{FF2B5EF4-FFF2-40B4-BE49-F238E27FC236}">
                <a16:creationId xmlns:a16="http://schemas.microsoft.com/office/drawing/2014/main" id="{E7DC6A33-13F9-4A67-BEEB-94B5B09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81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PRIORITISE</a:t>
            </a:r>
          </a:p>
        </p:txBody>
      </p:sp>
      <p:sp>
        <p:nvSpPr>
          <p:cNvPr id="14" name="b-1">
            <a:extLst xmlns:a="http://schemas.openxmlformats.org/drawingml/2006/main">
              <a:ext uri="{FF2B5EF4-FFF2-40B4-BE49-F238E27FC236}">
                <a16:creationId xmlns:a16="http://schemas.microsoft.com/office/drawing/2014/main" id="{54DA206E-A02B-4B62-B430-D81420A2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5" name="bt-1">
            <a:extLst xmlns:a="http://schemas.openxmlformats.org/drawingml/2006/main">
              <a:ext uri="{FF2B5EF4-FFF2-40B4-BE49-F238E27FC236}">
                <a16:creationId xmlns:a16="http://schemas.microsoft.com/office/drawing/2014/main" id="{8AAB2C06-AA9D-459A-8709-D6536193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p-1">
            <a:extLst xmlns:a="http://schemas.openxmlformats.org/drawingml/2006/main">
              <a:ext uri="{FF2B5EF4-FFF2-40B4-BE49-F238E27FC236}">
                <a16:creationId xmlns:a16="http://schemas.microsoft.com/office/drawing/2014/main" id="{2866A1A1-2953-4012-9BC8-0D01DC19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REVISE</a:t>
            </a:r>
          </a:p>
        </p:txBody>
      </p:sp>
      <p:sp>
        <p:nvSpPr>
          <p:cNvPr id="17" name="b-2">
            <a:extLst xmlns:a="http://schemas.openxmlformats.org/drawingml/2006/main">
              <a:ext uri="{FF2B5EF4-FFF2-40B4-BE49-F238E27FC236}">
                <a16:creationId xmlns:a16="http://schemas.microsoft.com/office/drawing/2014/main" id="{9C2A55C5-6A95-45E0-AAD7-906D9480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18" name="bt-2">
            <a:extLst xmlns:a="http://schemas.openxmlformats.org/drawingml/2006/main">
              <a:ext uri="{FF2B5EF4-FFF2-40B4-BE49-F238E27FC236}">
                <a16:creationId xmlns:a16="http://schemas.microsoft.com/office/drawing/2014/main" id="{4946FDE5-265E-4A0E-81AE-59807642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-2">
            <a:extLst xmlns:a="http://schemas.openxmlformats.org/drawingml/2006/main">
              <a:ext uri="{FF2B5EF4-FFF2-40B4-BE49-F238E27FC236}">
                <a16:creationId xmlns:a16="http://schemas.microsoft.com/office/drawing/2014/main" id="{403E9499-8E4B-4911-8E73-03D056B3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JUSTIFY trade-off</a:t>
            </a:r>
          </a:p>
        </p:txBody>
      </p:sp>
      <p:sp>
        <p:nvSpPr>
          <p:cNvPr id="20" name="b-3">
            <a:extLst xmlns:a="http://schemas.openxmlformats.org/drawingml/2006/main">
              <a:ext uri="{FF2B5EF4-FFF2-40B4-BE49-F238E27FC236}">
                <a16:creationId xmlns:a16="http://schemas.microsoft.com/office/drawing/2014/main" id="{46B877DD-33E7-4FE9-9AB9-DD0AEC3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27E"/>
          </a:solidFill>
          <a:ln xmlns:a="http://schemas.openxmlformats.org/drawingml/2006/main" w="9525">
            <a:solidFill>
              <a:srgbClr val="18727E"/>
            </a:solidFill>
            <a:prstDash val="solid"/>
          </a:ln>
        </p:spPr>
      </p:sp>
      <p:sp>
        <p:nvSpPr>
          <p:cNvPr id="21" name="bt-3">
            <a:extLst xmlns:a="http://schemas.openxmlformats.org/drawingml/2006/main">
              <a:ext uri="{FF2B5EF4-FFF2-40B4-BE49-F238E27FC236}">
                <a16:creationId xmlns:a16="http://schemas.microsoft.com/office/drawing/2014/main" id="{BB776C64-7959-4655-A5F1-93CAE85C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p-3">
            <a:extLst xmlns:a="http://schemas.openxmlformats.org/drawingml/2006/main">
              <a:ext uri="{FF2B5EF4-FFF2-40B4-BE49-F238E27FC236}">
                <a16:creationId xmlns:a16="http://schemas.microsoft.com/office/drawing/2014/main" id="{1D3B75DD-592E-4F5E-A1F7-6472DA33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6"/>
                </a:solidFill>
              </a:defRPr>
            </a:pPr>
            <a:r>
              <a:rPr sz="1350" b="0" i="0">
                <a:solidFill>
                  <a:srgbClr val="202B36"/>
                </a:solidFill>
              </a:rPr>
              <a:t>MONITOR residual risk</a:t>
            </a:r>
          </a:p>
        </p:txBody>
      </p:sp>
      <p:sp>
        <p:nvSpPr>
          <p:cNvPr id="23" name="side">
            <a:extLst xmlns:a="http://schemas.openxmlformats.org/drawingml/2006/main">
              <a:ext uri="{FF2B5EF4-FFF2-40B4-BE49-F238E27FC236}">
                <a16:creationId xmlns:a16="http://schemas.microsoft.com/office/drawing/2014/main" id="{5836F3DD-0770-4BA4-805C-8524AE09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38100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4" name="qh">
            <a:extLst xmlns:a="http://schemas.openxmlformats.org/drawingml/2006/main">
              <a:ext uri="{FF2B5EF4-FFF2-40B4-BE49-F238E27FC236}">
                <a16:creationId xmlns:a16="http://schemas.microsoft.com/office/drawing/2014/main" id="{393D85BC-8A50-4DD8-9272-9D68C2AE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4A72C"/>
                </a:solidFill>
              </a:defRPr>
            </a:pPr>
            <a:r>
              <a:rPr sz="1275" b="1" i="0">
                <a:solidFill>
                  <a:srgbClr val="D4A72C"/>
                </a:solidFill>
              </a:rPr>
              <a:t>DISCUSS / DESIGN</a:t>
            </a:r>
          </a:p>
        </p:txBody>
      </p:sp>
      <p:sp>
        <p:nvSpPr>
          <p:cNvPr id="25" name="q">
            <a:extLst xmlns:a="http://schemas.openxmlformats.org/drawingml/2006/main">
              <a:ext uri="{FF2B5EF4-FFF2-40B4-BE49-F238E27FC236}">
                <a16:creationId xmlns:a16="http://schemas.microsoft.com/office/drawing/2014/main" id="{5165374E-75A5-4D14-929D-1AADB94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24150"/>
            <a:ext cx="30480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1. Which revision has the highest system leverage?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2. What risk remains accepted—and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3. Did a fairness repair alter the construct?</a:t>
            </a:r>
          </a:p>
        </p:txBody>
      </p:sp>
      <p:sp>
        <p:nvSpPr>
          <p:cNvPr id="26" name="deliverable">
            <a:extLst xmlns:a="http://schemas.openxmlformats.org/drawingml/2006/main">
              <a:ext uri="{FF2B5EF4-FFF2-40B4-BE49-F238E27FC236}">
                <a16:creationId xmlns:a16="http://schemas.microsoft.com/office/drawing/2014/main" id="{2417E634-060F-43BA-96AD-CC86899F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72050"/>
            <a:ext cx="342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E9BE"/>
          </a:solidFill>
          <a:ln xmlns:a="http://schemas.openxmlformats.org/drawingml/2006/main" w="9525">
            <a:solidFill>
              <a:srgbClr val="F6E9BE"/>
            </a:solidFill>
            <a:prstDash val="solid"/>
          </a:ln>
        </p:spPr>
      </p:sp>
      <p:sp>
        <p:nvSpPr>
          <p:cNvPr id="27" name="deliverable-t">
            <a:extLst xmlns:a="http://schemas.openxmlformats.org/drawingml/2006/main">
              <a:ext uri="{FF2B5EF4-FFF2-40B4-BE49-F238E27FC236}">
                <a16:creationId xmlns:a16="http://schemas.microsoft.com/office/drawing/2014/main" id="{7F0F7F52-1F8B-45AF-AA03-1D2757E0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316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365D"/>
                </a:solidFill>
              </a:defRPr>
            </a:pPr>
            <a:r>
              <a:rPr sz="1200" b="1" i="0">
                <a:solidFill>
                  <a:srgbClr val="17365D"/>
                </a:solidFill>
              </a:rPr>
              <a:t>Prototype 3 plus Quality Revision Matrix.</a:t>
            </a:r>
          </a:p>
        </p:txBody>
      </p:sp>
    </p:spTree>
    <p:extLst>
      <p:ext uri="{BB962C8B-B14F-4D97-AF65-F5344CB8AC3E}">
        <p14:creationId xmlns:p14="http://schemas.microsoft.com/office/powerpoint/2010/main" val="1117482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4BB0132-FCDA-4DF8-A25D-8187619E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f4941eea64cef">
            <a:extLst>
              <a:ext uri="{96DAC541-7B7A-43D3-8B79-37D633B846F1}">
                <asvg:svgBlip xmlns:asvg="http://schemas.microsoft.com/office/drawing/2016/SVG/main" r:embed="R102c545275aa4e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7023ECD-8E45-4A3F-9807-34FACAB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INDIVIDUAL EVIDENCE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930868-C31B-4A27-8669-CE75F4F3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Individual Quality and Fairness Defence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2F1DC47-42FF-4859-9E18-1BFC4508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1CF9F1DB-A6E3-4631-A890-42940685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Course learning and research task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F048B606-A6D3-4697-81A3-8F0C4965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6E999F49-8BC8-4ED2-B04E-F5E6A92D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19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AD465733-FDE4-482C-A5E9-09A8AC6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F94A5829-B887-4E6D-AC45-9BF5D694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41100019-0827-4131-83BC-232F015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STATE use claim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CFB8AC92-EB18-48FA-A376-E81984F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2B10519E-19A7-4110-8858-A53463E0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C55C5C19-AAB6-4DD0-800A-390305B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PRIORITISE risks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9CF4E4F3-E322-4952-B57B-DF633BC3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6569421E-356A-4C71-B243-6A65B8E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6475AE8A-9E2D-43F1-9A56-BECB2BA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DEFEND controls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DD262F9B-BC01-459E-829F-C37DEF26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Elicit independent whole-system reasoning across quality criteria.</a:t>
            </a:r>
          </a:p>
        </p:txBody>
      </p:sp>
    </p:spTree>
    <p:extLst>
      <p:ext uri="{BB962C8B-B14F-4D97-AF65-F5344CB8AC3E}">
        <p14:creationId xmlns:p14="http://schemas.microsoft.com/office/powerpoint/2010/main" val="1990278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5438F31-E67F-4C94-9A02-B26CA04F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ade885fe04697">
            <a:extLst>
              <a:ext uri="{96DAC541-7B7A-43D3-8B79-37D633B846F1}">
                <asvg:svgBlip xmlns:asvg="http://schemas.microsoft.com/office/drawing/2016/SVG/main" r:embed="R1644d15e33d441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1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" name="kicker">
            <a:extLst xmlns:a="http://schemas.openxmlformats.org/drawingml/2006/main">
              <a:ext uri="{FF2B5EF4-FFF2-40B4-BE49-F238E27FC236}">
                <a16:creationId xmlns:a16="http://schemas.microsoft.com/office/drawing/2014/main" id="{534B3009-27D7-4C6E-9A28-024E1B0F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727E"/>
                </a:solidFill>
              </a:defRPr>
            </a:pPr>
            <a:r>
              <a:rPr sz="1050" b="1" i="0">
                <a:solidFill>
                  <a:srgbClr val="18727E"/>
                </a:solidFill>
              </a:rPr>
              <a:t>PREPARE FOR SESSION 9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2ED80E-70CA-478F-A6A1-D1FBD59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65D"/>
                </a:solidFill>
              </a:defRPr>
            </a:pPr>
            <a:r>
              <a:rPr sz="2850" b="1" i="0">
                <a:solidFill>
                  <a:srgbClr val="17365D"/>
                </a:solidFill>
              </a:rPr>
              <a:t>Next: Final Design Defence and ADL Reflection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0B11BAE-5ACA-4B1A-9ED1-DB8C3B3D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7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8362E21A-EAB4-4132-A82D-A9D506F3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382"/>
                </a:solidFill>
              </a:defRPr>
            </a:pPr>
            <a:r>
              <a:rPr sz="825" b="0" i="0">
                <a:solidFill>
                  <a:srgbClr val="667382"/>
                </a:solidFill>
              </a:rPr>
              <a:t>Prepare Phakiti &amp; Leung (2024), Section 8, pp. 70–84</a:t>
            </a:r>
          </a:p>
        </p:txBody>
      </p:sp>
      <p:sp>
        <p:nvSpPr>
          <p:cNvPr id="7" name="class">
            <a:extLst xmlns:a="http://schemas.openxmlformats.org/drawingml/2006/main">
              <a:ext uri="{FF2B5EF4-FFF2-40B4-BE49-F238E27FC236}">
                <a16:creationId xmlns:a16="http://schemas.microsoft.com/office/drawing/2014/main" id="{7AC66FAB-F9A0-4BB2-B372-C7A91EB4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15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67382"/>
                </a:solidFill>
              </a:defRPr>
            </a:pPr>
            <a:r>
              <a:rPr sz="825" b="1" i="0">
                <a:solidFill>
                  <a:srgbClr val="667382"/>
                </a:solidFill>
              </a:rPr>
              <a:t>MTESOL26K15  •  SESSION 8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4840C09C-3775-4BA1-A2B6-0768E32D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98918"/>
                </a:solidFill>
              </a:defRPr>
            </a:pPr>
            <a:r>
              <a:rPr sz="825" b="1" i="0">
                <a:solidFill>
                  <a:srgbClr val="B98918"/>
                </a:solidFill>
              </a:rPr>
              <a:t>20</a:t>
            </a:r>
          </a:p>
        </p:txBody>
      </p:sp>
      <p:sp>
        <p:nvSpPr>
          <p:cNvPr id="9" name="card-0">
            <a:extLst xmlns:a="http://schemas.openxmlformats.org/drawingml/2006/main">
              <a:ext uri="{FF2B5EF4-FFF2-40B4-BE49-F238E27FC236}">
                <a16:creationId xmlns:a16="http://schemas.microsoft.com/office/drawing/2014/main" id="{3DA44E8E-54AA-4B85-8C15-10DCE908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901436EF-DA3A-4109-B63C-8CA59C19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4A72C"/>
                </a:solidFill>
              </a:defRPr>
            </a:pPr>
            <a:r>
              <a:rPr sz="1350" b="1" i="0">
                <a:solidFill>
                  <a:srgbClr val="D4A72C"/>
                </a:solidFill>
              </a:rPr>
              <a:t>01</a:t>
            </a:r>
          </a:p>
        </p:txBody>
      </p: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DAA4EB9E-7BF6-4EC3-AE36-6A8DBAE2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READ: Section 8, pp. 70–84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96C3F788-7BD6-4BC6-AAE1-38B2E95C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BF5E4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3343DD17-3D7B-476A-A74D-BF4038C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02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FF67D63A-B43F-49FE-9998-3B5CFD35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BRING: full versioned design dossier</a:t>
            </a:r>
          </a:p>
        </p:txBody>
      </p:sp>
      <p:sp>
        <p:nvSpPr>
          <p:cNvPr id="15" name="card-2">
            <a:extLst xmlns:a="http://schemas.openxmlformats.org/drawingml/2006/main">
              <a:ext uri="{FF2B5EF4-FFF2-40B4-BE49-F238E27FC236}">
                <a16:creationId xmlns:a16="http://schemas.microsoft.com/office/drawing/2014/main" id="{CFD79574-1046-4775-9D0C-90D1572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3528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3F0F1"/>
          </a:solidFill>
          <a:ln xmlns:a="http://schemas.openxmlformats.org/drawingml/2006/main" w="9525">
            <a:solidFill>
              <a:srgbClr val="D4A72C"/>
            </a:solidFill>
            <a:prstDash val="solid"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7113BD26-8876-4294-AEC5-75FB0722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98918"/>
                </a:solidFill>
              </a:defRPr>
            </a:pPr>
            <a:r>
              <a:rPr sz="1350" b="1" i="0">
                <a:solidFill>
                  <a:srgbClr val="B98918"/>
                </a:solidFill>
              </a:rPr>
              <a:t>03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D866A89F-1274-40D5-82BF-A33808F3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819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365D"/>
                </a:solidFill>
              </a:defRPr>
            </a:pPr>
            <a:r>
              <a:rPr sz="1650" b="1" i="0">
                <a:solidFill>
                  <a:srgbClr val="17365D"/>
                </a:solidFill>
              </a:rPr>
              <a:t>SELECT: three ADL-change artifacts</a:t>
            </a:r>
          </a:p>
        </p:txBody>
      </p:sp>
      <p:sp>
        <p:nvSpPr>
          <p:cNvPr id="18" name="take">
            <a:extLst xmlns:a="http://schemas.openxmlformats.org/drawingml/2006/main">
              <a:ext uri="{FF2B5EF4-FFF2-40B4-BE49-F238E27FC236}">
                <a16:creationId xmlns:a16="http://schemas.microsoft.com/office/drawing/2014/main" id="{5DEA61A1-E21A-4A1C-B63D-049C8561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979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727E"/>
                </a:solidFill>
              </a:defRPr>
            </a:pPr>
            <a:r>
              <a:rPr sz="1575" b="1" i="0">
                <a:solidFill>
                  <a:srgbClr val="18727E"/>
                </a:solidFill>
              </a:rPr>
              <a:t>Prepare final prototype defence, transfer, and longitudinal reflection on assessment design literacy.</a:t>
            </a:r>
          </a:p>
        </p:txBody>
      </p:sp>
    </p:spTree>
    <p:extLst>
      <p:ext uri="{BB962C8B-B14F-4D97-AF65-F5344CB8AC3E}">
        <p14:creationId xmlns:p14="http://schemas.microsoft.com/office/powerpoint/2010/main" val="1519573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2026-07-13T15:40:19.2420000Z</dcterms:created>
  <dcterms:modified xsi:type="dcterms:W3CDTF">2026-07-13T15:40:19.2420000Z</dcterms:modified>
</coreProperties>
</file>