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e1b1816fa4b30" /><Relationship Type="http://schemas.openxmlformats.org/officeDocument/2006/relationships/extended-properties" Target="/docProps/app.xml" Id="R295c25f92f4a424a" /><Relationship Type="http://schemas.openxmlformats.org/officeDocument/2006/relationships/officeDocument" Target="/ppt/presentation.xml" Id="Re42c8ea18115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2d7ae3febd4e03"/>
  </p:sldMasterIdLst>
  <p:notesMasterIdLst>
    <p:notesMasterId xmlns:r="http://schemas.openxmlformats.org/officeDocument/2006/relationships" r:id="R10410b47ff194fde"/>
  </p:notesMasterIdLst>
  <p:sldIdLst>
    <p:sldId xmlns:r="http://schemas.openxmlformats.org/officeDocument/2006/relationships" id="256" r:id="R899f2f69582e46ec"/>
    <p:sldId xmlns:r="http://schemas.openxmlformats.org/officeDocument/2006/relationships" id="257" r:id="R07e2b2a4a93742c0"/>
    <p:sldId xmlns:r="http://schemas.openxmlformats.org/officeDocument/2006/relationships" id="258" r:id="R165be5a8bcf04cf7"/>
    <p:sldId xmlns:r="http://schemas.openxmlformats.org/officeDocument/2006/relationships" id="259" r:id="R63719607a7d34b71"/>
    <p:sldId xmlns:r="http://schemas.openxmlformats.org/officeDocument/2006/relationships" id="260" r:id="Ra03226e5d4294929"/>
    <p:sldId xmlns:r="http://schemas.openxmlformats.org/officeDocument/2006/relationships" id="261" r:id="R9e359bf843924d82"/>
    <p:sldId xmlns:r="http://schemas.openxmlformats.org/officeDocument/2006/relationships" id="262" r:id="R7bb22461e79144ae"/>
    <p:sldId xmlns:r="http://schemas.openxmlformats.org/officeDocument/2006/relationships" id="263" r:id="Rc2ba532ce14e43a7"/>
    <p:sldId xmlns:r="http://schemas.openxmlformats.org/officeDocument/2006/relationships" id="264" r:id="R33c876b1dc2e458f"/>
    <p:sldId xmlns:r="http://schemas.openxmlformats.org/officeDocument/2006/relationships" id="265" r:id="R1905e85607614189"/>
    <p:sldId xmlns:r="http://schemas.openxmlformats.org/officeDocument/2006/relationships" id="266" r:id="R3007f9978ac246b9"/>
    <p:sldId xmlns:r="http://schemas.openxmlformats.org/officeDocument/2006/relationships" id="267" r:id="R9b488d410c174cdd"/>
    <p:sldId xmlns:r="http://schemas.openxmlformats.org/officeDocument/2006/relationships" id="268" r:id="R1aeb448b980f413b"/>
    <p:sldId xmlns:r="http://schemas.openxmlformats.org/officeDocument/2006/relationships" id="269" r:id="Ra22938ad662f4195"/>
    <p:sldId xmlns:r="http://schemas.openxmlformats.org/officeDocument/2006/relationships" id="270" r:id="Rce35e594ca7440d9"/>
    <p:sldId xmlns:r="http://schemas.openxmlformats.org/officeDocument/2006/relationships" id="271" r:id="R87fe94e0c35541ad"/>
    <p:sldId xmlns:r="http://schemas.openxmlformats.org/officeDocument/2006/relationships" id="272" r:id="Rf9b57816eab44024"/>
    <p:sldId xmlns:r="http://schemas.openxmlformats.org/officeDocument/2006/relationships" id="273" r:id="R6fb35cf19020443f"/>
    <p:sldId xmlns:r="http://schemas.openxmlformats.org/officeDocument/2006/relationships" id="274" r:id="R0fa06768123a4c3d"/>
    <p:sldId xmlns:r="http://schemas.openxmlformats.org/officeDocument/2006/relationships" id="275" r:id="Reb32e50da4aa4c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dced7e63f4b0a" /><Relationship Type="http://schemas.openxmlformats.org/officeDocument/2006/relationships/slideMaster" Target="/ppt/slideMasters/slideMaster1.xml" Id="R9f2d7ae3febd4e03" /><Relationship Type="http://schemas.openxmlformats.org/officeDocument/2006/relationships/notesMaster" Target="/ppt/notesMasters/notesMaster1.xml" Id="R10410b47ff194fde" /><Relationship Type="http://schemas.openxmlformats.org/officeDocument/2006/relationships/presProps" Target="/ppt/presProps.xml" Id="Rde3fdbeb43624669" /><Relationship Type="http://schemas.openxmlformats.org/officeDocument/2006/relationships/tableStyles" Target="/ppt/tableStyles.xml" Id="R49b89d0a300f475c" /><Relationship Type="http://schemas.openxmlformats.org/officeDocument/2006/relationships/slide" Target="/ppt/slides/slide1.xml" Id="R899f2f69582e46ec" /><Relationship Type="http://schemas.openxmlformats.org/officeDocument/2006/relationships/slide" Target="/ppt/slides/slide2.xml" Id="R07e2b2a4a93742c0" /><Relationship Type="http://schemas.openxmlformats.org/officeDocument/2006/relationships/slide" Target="/ppt/slides/slide3.xml" Id="R165be5a8bcf04cf7" /><Relationship Type="http://schemas.openxmlformats.org/officeDocument/2006/relationships/slide" Target="/ppt/slides/slide4.xml" Id="R63719607a7d34b71" /><Relationship Type="http://schemas.openxmlformats.org/officeDocument/2006/relationships/slide" Target="/ppt/slides/slide5.xml" Id="Ra03226e5d4294929" /><Relationship Type="http://schemas.openxmlformats.org/officeDocument/2006/relationships/slide" Target="/ppt/slides/slide6.xml" Id="R9e359bf843924d82" /><Relationship Type="http://schemas.openxmlformats.org/officeDocument/2006/relationships/slide" Target="/ppt/slides/slide7.xml" Id="R7bb22461e79144ae" /><Relationship Type="http://schemas.openxmlformats.org/officeDocument/2006/relationships/slide" Target="/ppt/slides/slide8.xml" Id="Rc2ba532ce14e43a7" /><Relationship Type="http://schemas.openxmlformats.org/officeDocument/2006/relationships/slide" Target="/ppt/slides/slide9.xml" Id="R33c876b1dc2e458f" /><Relationship Type="http://schemas.openxmlformats.org/officeDocument/2006/relationships/slide" Target="/ppt/slides/slide10.xml" Id="R1905e85607614189" /><Relationship Type="http://schemas.openxmlformats.org/officeDocument/2006/relationships/slide" Target="/ppt/slides/slide11.xml" Id="R3007f9978ac246b9" /><Relationship Type="http://schemas.openxmlformats.org/officeDocument/2006/relationships/slide" Target="/ppt/slides/slide12.xml" Id="R9b488d410c174cdd" /><Relationship Type="http://schemas.openxmlformats.org/officeDocument/2006/relationships/slide" Target="/ppt/slides/slide13.xml" Id="R1aeb448b980f413b" /><Relationship Type="http://schemas.openxmlformats.org/officeDocument/2006/relationships/slide" Target="/ppt/slides/slide14.xml" Id="Ra22938ad662f4195" /><Relationship Type="http://schemas.openxmlformats.org/officeDocument/2006/relationships/slide" Target="/ppt/slides/slide15.xml" Id="Rce35e594ca7440d9" /><Relationship Type="http://schemas.openxmlformats.org/officeDocument/2006/relationships/slide" Target="/ppt/slides/slide16.xml" Id="R87fe94e0c35541ad" /><Relationship Type="http://schemas.openxmlformats.org/officeDocument/2006/relationships/slide" Target="/ppt/slides/slide17.xml" Id="Rf9b57816eab44024" /><Relationship Type="http://schemas.openxmlformats.org/officeDocument/2006/relationships/slide" Target="/ppt/slides/slide18.xml" Id="R6fb35cf19020443f" /><Relationship Type="http://schemas.openxmlformats.org/officeDocument/2006/relationships/slide" Target="/ppt/slides/slide19.xml" Id="R0fa06768123a4c3d" /><Relationship Type="http://schemas.openxmlformats.org/officeDocument/2006/relationships/slide" Target="/ppt/slides/slide20.xml" Id="Reb32e50da4aa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d7811a0e06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224e3782d4dbd" /><Relationship Type="http://schemas.openxmlformats.org/officeDocument/2006/relationships/notesMaster" Target="/ppt/notesMasters/notesMaster1.xml" Id="Rd390010f961e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f60713c2a40f7" /><Relationship Type="http://schemas.openxmlformats.org/officeDocument/2006/relationships/notesMaster" Target="/ppt/notesMasters/notesMaster1.xml" Id="R797d7db6031f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f33f6397534a7f" /><Relationship Type="http://schemas.openxmlformats.org/officeDocument/2006/relationships/notesMaster" Target="/ppt/notesMasters/notesMaster1.xml" Id="R297ac658dd84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8c5613fc6e438c" /><Relationship Type="http://schemas.openxmlformats.org/officeDocument/2006/relationships/notesMaster" Target="/ppt/notesMasters/notesMaster1.xml" Id="Rd0c8b850cb6140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38780878e480f" /><Relationship Type="http://schemas.openxmlformats.org/officeDocument/2006/relationships/notesMaster" Target="/ppt/notesMasters/notesMaster1.xml" Id="R375c1afb2c304b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3f7c1693ea469c" /><Relationship Type="http://schemas.openxmlformats.org/officeDocument/2006/relationships/notesMaster" Target="/ppt/notesMasters/notesMaster1.xml" Id="R47ee4e8fdd214d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83855f465415e" /><Relationship Type="http://schemas.openxmlformats.org/officeDocument/2006/relationships/notesMaster" Target="/ppt/notesMasters/notesMaster1.xml" Id="R312adef4265748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8949f907c545ff" /><Relationship Type="http://schemas.openxmlformats.org/officeDocument/2006/relationships/notesMaster" Target="/ppt/notesMasters/notesMaster1.xml" Id="R2a2980f396f54b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5841cdfd348fc" /><Relationship Type="http://schemas.openxmlformats.org/officeDocument/2006/relationships/notesMaster" Target="/ppt/notesMasters/notesMaster1.xml" Id="Rea19649d82d040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56bbcb54994c76" /><Relationship Type="http://schemas.openxmlformats.org/officeDocument/2006/relationships/notesMaster" Target="/ppt/notesMasters/notesMaster1.xml" Id="Rb10fcc27d61241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865644d8da407b" /><Relationship Type="http://schemas.openxmlformats.org/officeDocument/2006/relationships/notesMaster" Target="/ppt/notesMasters/notesMaster1.xml" Id="R9a033143ebba4c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467e718be64380" /><Relationship Type="http://schemas.openxmlformats.org/officeDocument/2006/relationships/notesMaster" Target="/ppt/notesMasters/notesMaster1.xml" Id="R806709b8ab0b49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0651df2d4c49fe" /><Relationship Type="http://schemas.openxmlformats.org/officeDocument/2006/relationships/notesMaster" Target="/ppt/notesMasters/notesMaster1.xml" Id="R0d35f1d405c043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89327b1a154f68" /><Relationship Type="http://schemas.openxmlformats.org/officeDocument/2006/relationships/notesMaster" Target="/ppt/notesMasters/notesMaster1.xml" Id="R58711081956e4a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0c34fc8768486a" /><Relationship Type="http://schemas.openxmlformats.org/officeDocument/2006/relationships/notesMaster" Target="/ppt/notesMasters/notesMaster1.xml" Id="R6b259e01b0124e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34d7a1bbbd47a4" /><Relationship Type="http://schemas.openxmlformats.org/officeDocument/2006/relationships/notesMaster" Target="/ppt/notesMasters/notesMaster1.xml" Id="Ra1ddf5b7052445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9558d139fe4ce7" /><Relationship Type="http://schemas.openxmlformats.org/officeDocument/2006/relationships/notesMaster" Target="/ppt/notesMasters/notesMaster1.xml" Id="Rd460738d4b4240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f7be9b1e164432" /><Relationship Type="http://schemas.openxmlformats.org/officeDocument/2006/relationships/notesMaster" Target="/ppt/notesMasters/notesMaster1.xml" Id="R55022556272340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b6f0c850df48f9" /><Relationship Type="http://schemas.openxmlformats.org/officeDocument/2006/relationships/notesMaster" Target="/ppt/notesMasters/notesMaster1.xml" Id="R88da9450415f42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adfa60f30d4107" /><Relationship Type="http://schemas.openxmlformats.org/officeDocument/2006/relationships/notesMaster" Target="/ppt/notesMasters/notesMaster1.xml" Id="R80b1493686f2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7444b13b5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7824fcd5b84903" /><Relationship Type="http://schemas.openxmlformats.org/officeDocument/2006/relationships/slideLayout" Target="/ppt/slideLayouts/slideLayout1.xml" Id="Rffdc4ea7a78e42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c4ea7a78e42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b706b0f73434e" /><Relationship Type="http://schemas.openxmlformats.org/officeDocument/2006/relationships/notesSlide" Target="/ppt/notesSlides/notesSlide1.xml" Id="R0d0ba514c7a8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6d513ba5b4172" /><Relationship Type="http://schemas.openxmlformats.org/officeDocument/2006/relationships/image" Target="/ppt/media/image.png" Id="R4d9341808f3f48ba" /><Relationship Type="http://schemas.openxmlformats.org/officeDocument/2006/relationships/image" Target="/ppt/media/image.svg" Id="Re1d40cd96a214b81" /><Relationship Type="http://schemas.openxmlformats.org/officeDocument/2006/relationships/notesSlide" Target="/ppt/notesSlides/notesSlide2.xml" Id="Rc5ae8dd646e5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5064ffa334804" /><Relationship Type="http://schemas.openxmlformats.org/officeDocument/2006/relationships/image" Target="/ppt/media/image2.png" Id="R52fcdc9560024e00" /><Relationship Type="http://schemas.openxmlformats.org/officeDocument/2006/relationships/image" Target="/ppt/media/image2.svg" Id="R10bbca3f60504b8b" /><Relationship Type="http://schemas.openxmlformats.org/officeDocument/2006/relationships/notesSlide" Target="/ppt/notesSlides/notesSlide3.xml" Id="Rcf7160c0fda340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17cb7ff064287" /><Relationship Type="http://schemas.openxmlformats.org/officeDocument/2006/relationships/image" Target="/ppt/media/image3.png" Id="Rd47557e1ccc94b0f" /><Relationship Type="http://schemas.openxmlformats.org/officeDocument/2006/relationships/image" Target="/ppt/media/image3.svg" Id="R1d931711cea2402f" /><Relationship Type="http://schemas.openxmlformats.org/officeDocument/2006/relationships/notesSlide" Target="/ppt/notesSlides/notesSlide4.xml" Id="Rd2ba4cade23348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47c0b0fc04178" /><Relationship Type="http://schemas.openxmlformats.org/officeDocument/2006/relationships/image" Target="/ppt/media/image4.png" Id="Re78c58a723074579" /><Relationship Type="http://schemas.openxmlformats.org/officeDocument/2006/relationships/image" Target="/ppt/media/image4.svg" Id="R8fa64553e33544a2" /><Relationship Type="http://schemas.openxmlformats.org/officeDocument/2006/relationships/notesSlide" Target="/ppt/notesSlides/notesSlide5.xml" Id="R24a4f2c65ce7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7f451e1b4477" /><Relationship Type="http://schemas.openxmlformats.org/officeDocument/2006/relationships/image" Target="/ppt/media/image5.png" Id="R892fecb85c354538" /><Relationship Type="http://schemas.openxmlformats.org/officeDocument/2006/relationships/image" Target="/ppt/media/image5.svg" Id="R07eb4dc129404725" /><Relationship Type="http://schemas.openxmlformats.org/officeDocument/2006/relationships/notesSlide" Target="/ppt/notesSlides/notesSlide6.xml" Id="R747df8536f7b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60ab16e01420b" /><Relationship Type="http://schemas.openxmlformats.org/officeDocument/2006/relationships/image" Target="/ppt/media/image6.png" Id="R1a688a2e68284d22" /><Relationship Type="http://schemas.openxmlformats.org/officeDocument/2006/relationships/image" Target="/ppt/media/image6.svg" Id="R2c4d97bb977f4713" /><Relationship Type="http://schemas.openxmlformats.org/officeDocument/2006/relationships/notesSlide" Target="/ppt/notesSlides/notesSlide7.xml" Id="R46e2ebe32a6543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2ceccfca44813" /><Relationship Type="http://schemas.openxmlformats.org/officeDocument/2006/relationships/image" Target="/ppt/media/image7.png" Id="R3050359e4ee84418" /><Relationship Type="http://schemas.openxmlformats.org/officeDocument/2006/relationships/image" Target="/ppt/media/image7.svg" Id="R5c0d8769ad6c49c5" /><Relationship Type="http://schemas.openxmlformats.org/officeDocument/2006/relationships/notesSlide" Target="/ppt/notesSlides/notesSlide8.xml" Id="R4825019d84d8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cfe445be499b" /><Relationship Type="http://schemas.openxmlformats.org/officeDocument/2006/relationships/image" Target="/ppt/media/image8.png" Id="R69d925e76eac4aa2" /><Relationship Type="http://schemas.openxmlformats.org/officeDocument/2006/relationships/image" Target="/ppt/media/image8.svg" Id="Re862dd6437fa4c51" /><Relationship Type="http://schemas.openxmlformats.org/officeDocument/2006/relationships/notesSlide" Target="/ppt/notesSlides/notesSlide9.xml" Id="Rcf148b12730646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9a2b9523a4acd" /><Relationship Type="http://schemas.openxmlformats.org/officeDocument/2006/relationships/image" Target="/ppt/media/image9.png" Id="R08e63a10fc1446e6" /><Relationship Type="http://schemas.openxmlformats.org/officeDocument/2006/relationships/image" Target="/ppt/media/image9.svg" Id="Rfa894cf447cf4f32" /><Relationship Type="http://schemas.openxmlformats.org/officeDocument/2006/relationships/notesSlide" Target="/ppt/notesSlides/notesSlide10.xml" Id="Rcc946ca1fc7a4b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8b77f37fa4a1c" /><Relationship Type="http://schemas.openxmlformats.org/officeDocument/2006/relationships/image" Target="/ppt/media/image10.png" Id="R313aa444a947457d" /><Relationship Type="http://schemas.openxmlformats.org/officeDocument/2006/relationships/image" Target="/ppt/media/image10.svg" Id="R53490bf9ca02422d" /><Relationship Type="http://schemas.openxmlformats.org/officeDocument/2006/relationships/notesSlide" Target="/ppt/notesSlides/notesSlide11.xml" Id="R2ed9ba0b0cba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4813b543742a3" /><Relationship Type="http://schemas.openxmlformats.org/officeDocument/2006/relationships/image" Target="/ppt/media/image11.png" Id="R7ee58aa35eb541a0" /><Relationship Type="http://schemas.openxmlformats.org/officeDocument/2006/relationships/image" Target="/ppt/media/image11.svg" Id="R7e06bf4cd880484f" /><Relationship Type="http://schemas.openxmlformats.org/officeDocument/2006/relationships/notesSlide" Target="/ppt/notesSlides/notesSlide12.xml" Id="R7768ce4fc5394b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3820673a140d8" /><Relationship Type="http://schemas.openxmlformats.org/officeDocument/2006/relationships/image" Target="/ppt/media/image12.png" Id="Rd98f9b731d3a455f" /><Relationship Type="http://schemas.openxmlformats.org/officeDocument/2006/relationships/image" Target="/ppt/media/image12.svg" Id="Rbdcc531446c6492c" /><Relationship Type="http://schemas.openxmlformats.org/officeDocument/2006/relationships/notesSlide" Target="/ppt/notesSlides/notesSlide13.xml" Id="R4c9fe2dff3cb43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c7b57a58c4026" /><Relationship Type="http://schemas.openxmlformats.org/officeDocument/2006/relationships/image" Target="/ppt/media/image13.png" Id="R576a075617374661" /><Relationship Type="http://schemas.openxmlformats.org/officeDocument/2006/relationships/image" Target="/ppt/media/image13.svg" Id="Rab170e63a92f4a73" /><Relationship Type="http://schemas.openxmlformats.org/officeDocument/2006/relationships/notesSlide" Target="/ppt/notesSlides/notesSlide14.xml" Id="R25dc0ba4558e40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5adaa7a8142b5" /><Relationship Type="http://schemas.openxmlformats.org/officeDocument/2006/relationships/image" Target="/ppt/media/image14.png" Id="R23f86dd9d8f44dfe" /><Relationship Type="http://schemas.openxmlformats.org/officeDocument/2006/relationships/image" Target="/ppt/media/image14.svg" Id="Rf812dd4ea72b4b22" /><Relationship Type="http://schemas.openxmlformats.org/officeDocument/2006/relationships/notesSlide" Target="/ppt/notesSlides/notesSlide15.xml" Id="R2269b59721b648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6a915b1824c38" /><Relationship Type="http://schemas.openxmlformats.org/officeDocument/2006/relationships/image" Target="/ppt/media/image15.png" Id="R754cdd8eb5f74e2b" /><Relationship Type="http://schemas.openxmlformats.org/officeDocument/2006/relationships/image" Target="/ppt/media/image15.svg" Id="R312a0976150448ff" /><Relationship Type="http://schemas.openxmlformats.org/officeDocument/2006/relationships/notesSlide" Target="/ppt/notesSlides/notesSlide16.xml" Id="R400fd9e5a3ad4f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63431e5fe46c7" /><Relationship Type="http://schemas.openxmlformats.org/officeDocument/2006/relationships/image" Target="/ppt/media/image16.png" Id="R40a35ba646fc4c67" /><Relationship Type="http://schemas.openxmlformats.org/officeDocument/2006/relationships/image" Target="/ppt/media/image16.svg" Id="R4d3dc6644d434db4" /><Relationship Type="http://schemas.openxmlformats.org/officeDocument/2006/relationships/notesSlide" Target="/ppt/notesSlides/notesSlide17.xml" Id="R19a2e8596f594f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6d0a2ae7942a6" /><Relationship Type="http://schemas.openxmlformats.org/officeDocument/2006/relationships/image" Target="/ppt/media/image17.png" Id="Rc90b38dd9d7946d1" /><Relationship Type="http://schemas.openxmlformats.org/officeDocument/2006/relationships/image" Target="/ppt/media/image17.svg" Id="R31f79d85cde0440c" /><Relationship Type="http://schemas.openxmlformats.org/officeDocument/2006/relationships/notesSlide" Target="/ppt/notesSlides/notesSlide18.xml" Id="R564066971fb045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48bc0d4c04904" /><Relationship Type="http://schemas.openxmlformats.org/officeDocument/2006/relationships/image" Target="/ppt/media/image18.png" Id="R7bc461e2c12e494e" /><Relationship Type="http://schemas.openxmlformats.org/officeDocument/2006/relationships/image" Target="/ppt/media/image18.svg" Id="R1159320167a049ae" /><Relationship Type="http://schemas.openxmlformats.org/officeDocument/2006/relationships/notesSlide" Target="/ppt/notesSlides/notesSlide19.xml" Id="R6cad7c6ae63b44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7cf264964549" /><Relationship Type="http://schemas.openxmlformats.org/officeDocument/2006/relationships/image" Target="/ppt/media/image19.png" Id="Raee584638f084143" /><Relationship Type="http://schemas.openxmlformats.org/officeDocument/2006/relationships/image" Target="/ppt/media/image19.svg" Id="Rfb3e47e91f564c4d" /><Relationship Type="http://schemas.openxmlformats.org/officeDocument/2006/relationships/notesSlide" Target="/ppt/notesSlides/notesSlide20.xml" Id="Re2afbde3c0954a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FD9FC0C6-779D-4A80-A40C-55E5397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BAEE5419-332E-42A8-88F4-13BF134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715EA71C-DD04-4501-9221-AC71061F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ED92BBD-3033-497E-B8AB-E4760A5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035C04F2-877D-48B5-82C1-D8249FED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44D57CB-0B90-4602-B260-3EE554D9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FROM PERFORMANCE TO JUDGEMENT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ADMINISTER • RATE • INTERPRET • USE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FE44EAD7-BCBA-40DB-A168-60AFE83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A score becomes defensible only when conditions, criteria, judgement, and use remain aligned.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E4B9ED28-CC25-447F-A26B-9F8D586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39C22D66-B6CA-49F6-B8B2-DBCC917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048B7740-6469-45A4-B787-B388EC2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Sections 6.1.3–6.1.5, pp. 43–45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77C574A9-32A8-4EEB-967E-386A4E57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6280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6C39E4C-8AB7-40ED-84F5-3BAD3F8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341808f3f48ba">
            <a:extLst>
              <a:ext uri="{96DAC541-7B7A-43D3-8B79-37D633B846F1}">
                <asvg:svgBlip xmlns:asvg="http://schemas.microsoft.com/office/drawing/2016/SVG/main" r:embed="Re1d40cd96a214b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3F53447-5F98-4A39-B5EF-262061E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B5A644-AB83-4D10-A86C-ADE67F4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Score the Performance—Then Explain What You Noticed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1C1D89F-63F4-4A1C-951F-0BF13E57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5DC11C7-B8B1-4E95-983A-56A887C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pre-instruction rating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17520A8-2E97-437A-B461-2A87AD16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0F06544-067F-4F92-933F-0CC4EB4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4ECA9953-6B94-46FC-AE3B-F1791C93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14D16440-1115-49F7-BE2D-81C17F6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Capture students’ spontaneous criteria, weighting, and judgement processes.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73BC19C-F92A-47B3-A7DD-96863AF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FD712FA-0F4B-4CEC-B67E-E65E703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50F4F786-5A2E-43A6-B940-F079739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SCORE 1–5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27E600E-3443-4569-8A25-BACA0B4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03CBF040-0B23-4B45-8DA7-F92B890C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AD3F8AB-29DB-424E-AC0E-0C443593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NAME noticed features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EBCB5B01-7A71-442B-8AF8-E545C01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F668E42-F83A-440A-9EEC-068BB29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7042021-DB82-4898-8EDA-27F020B0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EXPLAIN weighting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5C20EA4A-74E6-4CEE-B579-6C98D1A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80DC5F80-2E1E-4B42-B80B-E7BF0A2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3B43CDE8-DD69-4671-B215-E3D557F5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STATE confidence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CB529E8F-FA5E-4AC4-9DC2-20F2214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5EFCCF8-6B1A-454B-913A-455ADDA5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89443D4C-B06F-42AE-A836-13F714C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Why did reasonable raters disagree?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feature dominated your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did the number mean?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BC4752A-78E6-4DF4-8352-B1F334E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62F49E2-87D2-433C-BC01-C7B2BAB5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S7 Rating Snapshot v0.</a:t>
            </a:r>
          </a:p>
        </p:txBody>
      </p:sp>
    </p:spTree>
    <p:extLst>
      <p:ext uri="{BB962C8B-B14F-4D97-AF65-F5344CB8AC3E}">
        <p14:creationId xmlns:p14="http://schemas.microsoft.com/office/powerpoint/2010/main" val="102188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2A74998-754C-482F-AF9B-50EC736F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cdc9560024e00">
            <a:extLst>
              <a:ext uri="{96DAC541-7B7A-43D3-8B79-37D633B846F1}">
                <asvg:svgBlip xmlns:asvg="http://schemas.microsoft.com/office/drawing/2016/SVG/main" r:embed="R10bbca3f60504b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1C524B0-AA20-4FD6-8E28-89C00B6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ADMINISTRATION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05A98D-76C3-461A-B55E-F20E521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Administration Is Part of the Construct–Evidence Chain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02C68F5-A8F4-4127-A90A-0083C14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8BB7E2F-177F-4D78-83F0-CBD8C130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6.1.3, pp. 43–44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592A867-236A-41FD-8892-490AADED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D6C8616-5242-499F-B616-B8D20B1E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10ACD436-86DC-49BD-8208-8A227D96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A21CE965-69DB-4396-B56C-255AC7A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7E64FCDB-6EEA-4A56-94C4-4AF74CA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5319C6BF-E5BD-42CF-B8B4-8453ED3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ORIENT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A0C47606-F85E-4DA4-B711-8ABE8BC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841579F8-CDE4-4E39-80D7-FCF49622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7929163E-844F-4F4C-90B4-D99AD61C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DELIVER consistently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CCEAC8D-9151-4CFA-B145-45FAF7B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64E0A13D-5C35-4931-9FFC-3FB413B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4F9FC62A-1B55-4FBA-A52F-833707D5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PROVIDE access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94DE55CD-9202-457A-8FF0-4DB6548A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1EE259DF-EB9A-4FD0-B0C6-9421DEF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376A8FB3-50B0-4DA2-BE5B-7CDC7048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DOCUMENT incidents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BB97395A-6500-4CDF-8833-3D940A6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Show how delivery conditions preserve or distort intended evidence.</a:t>
            </a:r>
          </a:p>
        </p:txBody>
      </p:sp>
    </p:spTree>
    <p:extLst>
      <p:ext uri="{BB962C8B-B14F-4D97-AF65-F5344CB8AC3E}">
        <p14:creationId xmlns:p14="http://schemas.microsoft.com/office/powerpoint/2010/main" val="1535352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37D04657-5920-4846-B631-5AE0750E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57e1ccc94b0f">
            <a:extLst>
              <a:ext uri="{96DAC541-7B7A-43D3-8B79-37D633B846F1}">
                <asvg:svgBlip xmlns:asvg="http://schemas.microsoft.com/office/drawing/2016/SVG/main" r:embed="R1d931711cea240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3ABD9F4-E9FE-49C1-8065-AC98DF6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STANDARDISATION &amp; ACCESS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5C010B-7E14-4A62-8F83-A4B10D5C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Standardise What Matters; Accommodate What Blocks Access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F4A5101-9520-4CBF-A130-11829804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CFB4041-39A5-41AA-9566-2494D53F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6.1.3, pp. 43–44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90D228E-073E-4F94-B661-B960BAA6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D15A340-6910-4D34-8DDE-386D1D9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DCBE2B50-454C-47A9-92A6-980F237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DA14E7F-8344-4A94-B541-700308BF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15B638EB-6DCA-4BF7-A5D5-9B2CBD2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2B70C54B-D94F-4A45-BB0B-D35369E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ESSENTIAL conditions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2EC85A94-8D93-4FC1-A015-2BB45E9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A93406F3-8C93-4538-9203-E4AAE7F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76E4AF19-6363-4B03-9DAD-6EBB2D40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ACCESS accommodation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BA2E973-757D-4FED-AFE7-E048622B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BD2FD1B6-E05F-49DA-90EF-E74640DE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F4EA4228-9F5A-4F25-89DC-00179BC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SPECIAL consideration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36BC22BD-BD37-4FAE-864D-3C6C25A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AD72B1A4-5A7A-4902-85AD-CCA8E6B8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66360FAC-CE25-452A-BDE8-F614A67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INTERPRETIVE note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559B5F36-DE86-40BB-AD85-1542A99F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Balance comparable evidence with appropriate accommodation and special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949894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3881C3A-73B6-4C79-9099-FF31F3DE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c58a723074579">
            <a:extLst>
              <a:ext uri="{96DAC541-7B7A-43D3-8B79-37D633B846F1}">
                <asvg:svgBlip xmlns:asvg="http://schemas.microsoft.com/office/drawing/2016/SVG/main" r:embed="R8fa64553e33544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A941305-9DED-4DE3-B580-D97DF1B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ADMINISTRATION PROTOCOL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A5A003-FB18-42D7-A465-6715272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Write an Administration Protocol Another Teacher Can Follow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C9CC07B-FC98-4FFA-AD0E-D905188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C7B65D6-7EB6-430D-9345-D573E39F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studio; Section 6.1.3, pp. 43–44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8F93657-EF9D-4668-8CCA-3D2D662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043CFEB-AB4D-4E68-B1BE-CF3F05C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31FAF8E5-D2BF-4AE3-B31F-44BC6AB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1617D5AF-02AB-45A1-B7F1-41995DA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43A22E1A-3FF2-4555-8C43-BCA0574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BD6D34C7-98CA-4F8A-803A-647AA0E5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8E949AC2-2D0E-457F-8BAB-EF20400D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97E37EC0-9B98-43A5-BC21-86886CD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DURING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7422CBEB-7494-4BDE-BD16-4F00CB4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E44D895-8C94-482E-8789-2CE3A52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5C7BC562-1D96-4A72-AD0C-662F238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INCIDENT RESPONSE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31FB079A-38F0-45F6-ADA5-8B9817DB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Produce an operational protocol linked to evidence quality and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1063481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72FD5EB-BD13-4A15-8F1B-3E3A49F8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fecb85c354538">
            <a:extLst>
              <a:ext uri="{96DAC541-7B7A-43D3-8B79-37D633B846F1}">
                <asvg:svgBlip xmlns:asvg="http://schemas.microsoft.com/office/drawing/2016/SVG/main" r:embed="R07eb4dc1294047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352A7BD-0596-45CB-937A-1E7CC90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CRITERIA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605E92-4BC9-444E-912A-00A08A9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Criteria Translate the Construct into Judgement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706C4B7-9A9D-4793-9DB2-972D311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80CEA38-AF31-4416-94EE-D471BF1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6.1.4, p. 44; construct–evidence alignment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40E6D95-8772-4C75-BC6B-DE12EC6E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6712E11-9302-4A65-8F3D-4546716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F5C85A70-184B-4BF4-AE24-D1EF3BA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CB9214E9-D52F-493A-9971-8F6AD8DC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Derive assessment criteria from construct-relevant evidence rather than generic rubric templates.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14893C9-0611-4795-B430-DCF4D71C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E44F60A7-8BF4-4343-84A4-E9F2EEC3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657EC3CF-8774-49E0-BC4A-85E0609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 component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98D0F59-753B-4AB6-8C2D-170CC69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3F0FF3DE-B48E-4287-BC95-1C3F5D46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7667F56E-C567-4F27-A0F4-774FDE4C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 feature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61533B8-060F-4063-A9C1-7D2659C6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7A6D765D-C263-4050-B616-524A531A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7BD39C7A-4047-4E4C-ABFA-F082DCE9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CRITERION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2E626227-0457-48F9-AAC7-EE3CF52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C6E11F26-CD16-4376-B690-2F15C06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23AB1329-F804-451A-B0E3-E433395A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LEVEL distinction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4509B0A-5B4E-4BAC-875C-B1FB01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6A2F0658-50D2-48B5-84F4-11C2396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31C0B56-3E0C-4E7C-B325-A80E0EA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Why is each criterion necessary?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Could two criteria double-count the same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visible feature should not affect the score?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D5478D9-3FF4-4EC0-A4B0-E092BBF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90825045-C591-4F31-8588-61AC70DA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Criterion derivation map.</a:t>
            </a:r>
          </a:p>
        </p:txBody>
      </p:sp>
    </p:spTree>
    <p:extLst>
      <p:ext uri="{BB962C8B-B14F-4D97-AF65-F5344CB8AC3E}">
        <p14:creationId xmlns:p14="http://schemas.microsoft.com/office/powerpoint/2010/main" val="1003973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717CE43-13E3-4075-822F-3481A5F3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88a2e68284d22">
            <a:extLst>
              <a:ext uri="{96DAC541-7B7A-43D3-8B79-37D633B846F1}">
                <asvg:svgBlip xmlns:asvg="http://schemas.microsoft.com/office/drawing/2016/SVG/main" r:embed="R2c4d97bb977f47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57B7159-E721-4365-8A5E-483E811F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RUBRIC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6A1CC1-63D5-475A-877E-9AAC696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Holistic and Analytic Rubrics Answer Different Questions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3C16173-95E5-427C-8D8B-50283EAF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E9412F7-3164-4A83-BBDA-F4DCB00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Scoring design extending Phakiti &amp; Leung (2024), Section 6.1.4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6D46FF8-E68F-46D0-B08F-F9031333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4A468D4-FD29-4DF5-8BD0-69F9B9FE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3E9EAAF-2939-46EC-BFC9-ECFDC20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061EDE1-7097-4CAA-AFCD-5BFB0D16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Select holistic, analytic, or hybrid rating architecture for the intended interpretation.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1E653E96-26FF-424A-B79E-A697C00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B3A24F32-072B-42F9-83F5-01120C19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D7EF9676-77F4-4957-9AC5-FA87C80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HOLISTIC: integrated quality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88C5A8ED-D154-45B0-A558-E5A0DEE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52C0E627-3497-4194-8DB5-E849097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23510A0-B5E0-4F26-9ECB-219EB3E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ANALYTIC: dimensional profile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DDDA604-0811-4CB7-86E5-009D061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48F2C0F-7CB6-4C2E-B871-758D2A56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F1509C15-8362-408B-9F3C-AF4E0D4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HYBRID: coordinated judgement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E3AF4E59-F140-4798-B64F-A4D45E8A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B34306D1-26FF-4E3F-8D13-D71779B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6895C218-867B-4D27-9AA8-341B0C7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decision will the rubric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Can strength in one dimension compensate for weakness in another?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Who needs the score profile?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D8EAADA-3994-4263-9148-5794A5CD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9C2224AC-F3A6-456A-8F3F-E9531BE2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Rubric Architecture Decision.</a:t>
            </a:r>
          </a:p>
        </p:txBody>
      </p:sp>
    </p:spTree>
    <p:extLst>
      <p:ext uri="{BB962C8B-B14F-4D97-AF65-F5344CB8AC3E}">
        <p14:creationId xmlns:p14="http://schemas.microsoft.com/office/powerpoint/2010/main" val="132639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BBE4DDB-F15D-4A85-9BA1-E94C26AF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0359e4ee84418">
            <a:extLst>
              <a:ext uri="{96DAC541-7B7A-43D3-8B79-37D633B846F1}">
                <asvg:svgBlip xmlns:asvg="http://schemas.microsoft.com/office/drawing/2016/SVG/main" r:embed="R5c0d8769ad6c49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FF16B5C-7E9B-4635-8A27-D8A8BAF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PERFORMANCE DESCRIPTORS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E77FD2-167D-4216-9B22-54D467B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Descriptors Need Observable Evidence and Meaningful Progression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B9A3CB2-3C33-4699-AC3E-3E0BBAB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E938E6E-CA9C-479E-95A7-AB2771B5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rubric-design guidance grounded in Section 6.1.4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F02AA85-F4E1-4550-B72B-2B7E8D78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DA1F1BB-A108-485C-936D-AB7B09E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BF62DC89-40BA-4171-BE06-A6226E8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9A442788-24FA-49B4-875E-072D711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2671AF27-4119-4B96-B3C3-5A131EE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OBSERVABLE performance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71B79BB4-DC4C-42B6-A12B-D4EA323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CONSTRUCT-relevant quality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967A5FF8-E74B-4669-B446-DFED581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71B70793-3AD9-4228-A4AC-E28B8347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34E8C29E-807E-40C2-A335-EFEF095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65902A14-661E-4C34-BE98-FC648882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MEANINGFUL progression</a:t>
            </a:r>
          </a:p>
        </p:txBody>
      </p:sp>
    </p:spTree>
    <p:extLst>
      <p:ext uri="{BB962C8B-B14F-4D97-AF65-F5344CB8AC3E}">
        <p14:creationId xmlns:p14="http://schemas.microsoft.com/office/powerpoint/2010/main" val="1943981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2A826B1-28A3-4B31-9DC1-DB631DC1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925e76eac4aa2">
            <a:extLst>
              <a:ext uri="{96DAC541-7B7A-43D3-8B79-37D633B846F1}">
                <asvg:svgBlip xmlns:asvg="http://schemas.microsoft.com/office/drawing/2016/SVG/main" r:embed="Re862dd6437fa4c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45CBD30-E38D-47E6-BB7A-1E2F849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EXEMPLARS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ED6C34-F399-4DA0-8271-04CF648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Exemplars Give Descriptors a Shared Empirical Meaning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92E50B-432C-4027-B2C3-7B0148E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BFB1E8D-8511-4878-9A0B-25749A3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Rater support and moderation practice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0B40247-F397-455A-AC8C-725379BB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62603D2-16BA-4897-9AB5-30F923E6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BAD1EF2-D7EF-40BB-9C6B-C1C15DB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B2F4F12-4495-4A17-B4D8-773CD8B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9EDC80D-9B32-4A6C-9998-58BBDFFC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5A2F6124-B253-4E2D-8E6C-6BE97245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SELECT samples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9EA0F1ED-5D84-40D2-984C-063D6B2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DDFCA83F-ACC3-4D9C-833E-7CB3FFB7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986EFBCB-19A5-4CE5-BFD8-EEB20489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RATE independently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98FF33C3-81ED-4F46-9F15-88D6A2F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1CAEF1F9-5676-42E2-9D1A-7E19D24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359AE438-F150-494D-B04D-85F3FC57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evidence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AFCC208B-7BA8-4F6D-8F86-300423A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48B9236E-5D96-484B-9340-1ACB7E8D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5DD42BE5-C072-4EEC-BDB6-6482BC43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ANNOTATE and calibrate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F8D4DBE4-0C78-4396-A3E6-4805EDE6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Use benchmark performances and annotations to develop shared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949662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2BE273C-0A99-4525-9CDB-A574EEDE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63a10fc1446e6">
            <a:extLst>
              <a:ext uri="{96DAC541-7B7A-43D3-8B79-37D633B846F1}">
                <asvg:svgBlip xmlns:asvg="http://schemas.microsoft.com/office/drawing/2016/SVG/main" r:embed="Rfa894cf447cf4f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C647149-8784-4FA6-900B-96B728C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RATER COGNITION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FC95B1-FC2E-4D19-9A67-3BE30026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Raters Bring Severity, Halo, Drift, and Bias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E680FE3-4B37-441B-84DB-6E4F7C78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4699860-A113-46F2-9E62-2D5B4044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6.1.4, p. 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A56B3F4-F4DF-4C83-A066-F654E96F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D76C1E5-3486-4C8D-AF5D-25C7A9AB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AADC814D-F988-4A0B-A5F4-BEE25DF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DFEE3B0C-CE67-41C7-9F27-7D6DE8C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5E22B62C-C44A-4AE6-8373-133BF21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SEVERITY / LENIENCY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2C93CA82-C673-462A-B2F6-3291E44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0771AC10-B0C1-4748-BA9E-6A1B812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C9F8BFA4-18AC-401A-83BD-BCC690A3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HALO / CONTRAST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9752554C-0E30-40BD-9E6D-7941C650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DAA1CDA5-39AE-4A75-AF17-253252A6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AC40D62-26A9-436B-AA15-DB75B347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DRIFT / FATIGUE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F39B95AF-AEC5-4C23-A940-161CE02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Recognise common rater effects and design controls without pretending judgement can be eliminated.</a:t>
            </a:r>
          </a:p>
        </p:txBody>
      </p:sp>
    </p:spTree>
    <p:extLst>
      <p:ext uri="{BB962C8B-B14F-4D97-AF65-F5344CB8AC3E}">
        <p14:creationId xmlns:p14="http://schemas.microsoft.com/office/powerpoint/2010/main" val="1051964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C6DDDC8-C311-4A6A-A36E-9739EA35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aa444a947457d">
            <a:extLst>
              <a:ext uri="{96DAC541-7B7A-43D3-8B79-37D633B846F1}">
                <asvg:svgBlip xmlns:asvg="http://schemas.microsoft.com/office/drawing/2016/SVG/main" r:embed="R53490bf9ca0242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5DCF291-57E9-41EC-95A4-D3A3ADB0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MODERATION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DD478-9683-4A44-B870-D07FDC86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Moderation Is Evidence-Centred Professional Dialogue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275C189-06BC-461A-91E4-1208558D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5962CA4-C9EF-4D46-AFD2-2F3CB8F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Scoring and rater moderation; Phakiti &amp; Leung (2024), Section 6.1.4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E90DD5A-1037-4E1A-BD19-BFFE6B71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2A1CD4C-E71A-4557-9199-EB08B028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6666F6C5-37E4-4D81-A076-E8DD8F48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08485F6D-1654-4F97-A55D-80793F6B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BFA5A793-184C-46EB-B6EF-730BF9B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PRE-RATING calibration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549615E5-9B27-4960-B7AD-D8F4693C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DURING-RATING monitoring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952E9BCB-6956-4C8F-8A3E-8003229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349AC68A-ABF4-43C7-B0B4-89393CDE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ED1690A4-565E-4EF9-B0BA-2F96359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241A37B0-566E-4585-B174-04857208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POST-RATING review</a:t>
            </a:r>
          </a:p>
        </p:txBody>
      </p:sp>
    </p:spTree>
    <p:extLst>
      <p:ext uri="{BB962C8B-B14F-4D97-AF65-F5344CB8AC3E}">
        <p14:creationId xmlns:p14="http://schemas.microsoft.com/office/powerpoint/2010/main" val="1660834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AA74C48-05D0-4CA0-9C17-C7B0C3D5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58aa35eb541a0">
            <a:extLst>
              <a:ext uri="{96DAC541-7B7A-43D3-8B79-37D633B846F1}">
                <asvg:svgBlip xmlns:asvg="http://schemas.microsoft.com/office/drawing/2016/SVG/main" r:embed="R7e06bf4cd880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ACDEB68-DA1F-4DCC-9E5A-BECFEA2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66E706-48C6-40E0-BC54-8F0926E4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Build the Rubric and Scoring Guide v1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D98545A-4043-4C2D-BE1F-EA855A2A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A43EB22-81C8-4A40-99E4-95066C5A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studio; Section 6.1.4, p. 44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EAA8854-3667-4936-9F71-60CE650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BFD50CE-C409-4C9D-B744-BAA3383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032610A1-45F7-4A3D-95D2-A50828CB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340FE344-C560-4F98-9B22-2C95369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Create a construct-aligned rubric, scoring guide, weighting rule, and interpretation statement.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0C6A514-232B-4E5D-91C2-9773C69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60E12A80-A4C4-45EB-A409-858B0B9F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52D7E3D-1364-4D2F-8150-90AF3A7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98B547A-061E-43AE-BB6B-F1C66DC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D6B522A-5868-48B2-B8F8-BFC97DEA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99AF379-0F4F-406D-9157-A8B8DDE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DESCRIPTORS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A96B0F8-B499-4A4A-A34F-AD7C575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9BAA3248-0082-4986-A9B2-B870C08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443A1310-0917-4267-9DA1-2704488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SCORING / WEIGHTING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8137ABA7-0DFD-41C8-B378-6BE950B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2456AA46-88C0-46C3-A801-DE70E36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964C5B1-E84C-40FB-BE48-4E2BCCD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INTERPRETATION &amp; EXCEPTIONS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E6758CA2-530F-4C89-8087-21E019C6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AE334472-D342-4503-9C95-7C7CEB3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E481CFA5-FA89-4819-9F01-47A9F4D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performance evidence supports each level?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Which rule could distort the construct?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does the total score permit us to claim?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C8217A1-48AF-422B-9507-57B5A961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BA048E57-9D25-49F5-A57F-BF1723D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Team Rubric and Scoring Guide v1.</a:t>
            </a:r>
          </a:p>
        </p:txBody>
      </p:sp>
    </p:spTree>
    <p:extLst>
      <p:ext uri="{BB962C8B-B14F-4D97-AF65-F5344CB8AC3E}">
        <p14:creationId xmlns:p14="http://schemas.microsoft.com/office/powerpoint/2010/main" val="1106467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22A2908-C3EE-4FA9-AE00-B9D05AB4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f9b731d3a455f">
            <a:extLst>
              <a:ext uri="{96DAC541-7B7A-43D3-8B79-37D633B846F1}">
                <asvg:svgBlip xmlns:asvg="http://schemas.microsoft.com/office/drawing/2016/SVG/main" r:embed="Rbdcc531446c649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DAD09EB-6F19-4C2B-8B7A-E964C7A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RATING TRIAL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3DA3D5-7647-404E-87EE-5A5F06BA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Rate Independently before Discussing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94E38A7-4CD5-421B-98DB-0770FEB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851462D-06F9-44B7-A3A0-3DD301F7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moderation trial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645504E-7883-41F7-866E-7394D475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6F500DC-E650-4FDF-A68A-A21560B2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0DDC944D-6184-431D-AC49-011A52A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C28DCE80-0476-4F25-B8EC-48250D46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Generate evidence about rubric interpretation, usability, and rater disagreement.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CDB4142-1A39-4BD3-9216-7EC65A4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AA5784C0-770B-43BE-80E2-B3F3744A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278AA594-459A-430C-AC16-4FC6712A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RATE independently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2C0FCA0E-6A7F-42EF-93CC-DE60020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D21D4AB-8259-4ADB-AA5B-0A2B952A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1B843435-6221-418A-9F17-591284B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CITE performance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C8B80A5-82F2-4321-ADB6-C15086D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FEE4815-3E0A-49B4-B929-344EBC6C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C8B8013-CDA6-46C5-8A18-36D0D18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MARK uncertainty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93B2AB2-1637-4A69-94B7-7DEEC507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ED6F3A73-5314-40D7-9455-7967612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6B2412B-9DFB-45E5-A7D9-4058AD50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RECORD time and questions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00F8166C-F80B-413B-A7FC-E5CD06EA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6791B5E1-F8E7-4B1C-BC49-121DE463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6AAC93BF-6E26-454F-B917-47B2081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Where did raters look for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descriptor required inference beyond the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Which disagreement matters for the decision?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6825F40-0072-4544-9862-53175F7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6A82925-640A-4C63-A848-98395A9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Independent Rating Sheets and usability notes.</a:t>
            </a:r>
          </a:p>
        </p:txBody>
      </p:sp>
    </p:spTree>
    <p:extLst>
      <p:ext uri="{BB962C8B-B14F-4D97-AF65-F5344CB8AC3E}">
        <p14:creationId xmlns:p14="http://schemas.microsoft.com/office/powerpoint/2010/main" val="1701355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5F2EA5B-FABD-4AA2-9534-3BAACD30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a075617374661">
            <a:extLst>
              <a:ext uri="{96DAC541-7B7A-43D3-8B79-37D633B846F1}">
                <asvg:svgBlip xmlns:asvg="http://schemas.microsoft.com/office/drawing/2016/SVG/main" r:embed="Rab170e63a92f4a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B98F58D-108B-4094-B233-3324D79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MODERATION TRIAL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364F41-177B-4DBA-8A21-8BE6494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Moderate the Disagreement, Not Just the Number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5A2E91A-23E8-4C68-ABF7-A1E8C44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5C6A116-D1DA-4714-9F49-53043824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evidence-centred moderation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7C99CE5-074A-4D52-B84D-D76814C0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1B2D471-9470-482D-BBD5-B217B36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24958D09-21B5-438D-AAE8-68078E9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4878441-FBF1-4F0F-AA5E-B56D206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Analyse disagreement and distinguish rubric problems from legitimate judgement variation.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3763CF6A-46C1-4238-8424-0742C4B8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B221DBEC-FE05-4FBB-9793-8FA926E5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CA07A110-25E6-430F-955A-B0C9B6B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LOCATE disagreement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AB38BC3-265A-4FF8-BE44-7C77B7E2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D536A81-EBB2-4CEF-BE52-78A1685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EF146DA2-9CD6-4B87-8892-EA9413F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CLASSIFY source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3ABF42E-5E3C-4113-997A-49D7BF4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5E9AF49-CD7E-4F92-BA02-793EA8DE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532BDC2A-9375-40E3-B236-8A25422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CITE evidence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F677C8E6-4752-44E9-BCB5-50B5AE97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ECE544E1-730B-42EC-929F-FC87A1D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9487549D-CF46-4F27-8219-C6D1EF4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RESOLVE and redesign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FCD691AF-87A6-43C9-AC98-974FC036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4670FE94-2215-46A6-9393-A99C57C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730048E2-3975-46D7-9ABA-7B5DBC70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exactly produced the score difference?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Does clarification change the construct?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Would another sample expose the same problem?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E4180E05-9D1C-4EFF-B22C-70175605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1A48BC37-4C0A-4B45-8400-AC5D2E0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Moderation Record and Issue Log.</a:t>
            </a:r>
          </a:p>
        </p:txBody>
      </p:sp>
    </p:spTree>
    <p:extLst>
      <p:ext uri="{BB962C8B-B14F-4D97-AF65-F5344CB8AC3E}">
        <p14:creationId xmlns:p14="http://schemas.microsoft.com/office/powerpoint/2010/main" val="95603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DB2DFC0-AABF-48F6-A64C-D396A65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86dd9d8f44dfe">
            <a:extLst>
              <a:ext uri="{96DAC541-7B7A-43D3-8B79-37D633B846F1}">
                <asvg:svgBlip xmlns:asvg="http://schemas.microsoft.com/office/drawing/2016/SVG/main" r:embed="Rf812dd4ea72b4b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4853A34-E936-4517-93D4-3F39B76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MICRO-PILOT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CED081-9627-4B43-8B47-C63711D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Micro-Pilot the Whole Administration–Scoring Chain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9F9F94E-E16F-4AFE-95CD-A812A743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AE512DA-53E5-41DC-B77F-2FEBF24F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micro-pilot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21BAA87-27D1-4C42-8785-F4AD351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EF88091-2979-423B-B8BD-754E2684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73E86E18-2F6B-40D1-AFCD-5E4FE58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055F3462-069A-4FF8-ABA5-E37DE54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45FCB87D-0924-423C-A341-00888CB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ECCD4071-E901-4349-8504-BDD302D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ADMINISTER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CC8555E3-F130-4D1C-A77D-B7EE6B5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D1A3B363-9F14-4BDC-A604-F176B2B8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0243DF31-8328-4D47-9FF8-498D37D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OBSERVE performance and incidents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814F8CAE-06BA-4146-86E9-E8C50B78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4525B0E5-1959-46D0-B0C1-FE3A3CC8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891420AD-86F5-4B17-98D9-CBDD8E84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SCORE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2AFB8FE9-5A4F-427C-AD09-C071E493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C0FB6EE6-786E-4DC1-89D6-E32E27C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74FAFD54-5AF9-43E1-883F-60E20BC6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INTERVIEW participant and rater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B1213CF2-3D92-4BD5-8AAF-C708D95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Test instructions, conditions, performance elicitation, scoring, and incident handling as one system.</a:t>
            </a:r>
          </a:p>
        </p:txBody>
      </p:sp>
    </p:spTree>
    <p:extLst>
      <p:ext uri="{BB962C8B-B14F-4D97-AF65-F5344CB8AC3E}">
        <p14:creationId xmlns:p14="http://schemas.microsoft.com/office/powerpoint/2010/main" val="383201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E0089D1-51B9-4F79-9D5D-1ADFC6C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cdd8eb5f74e2b">
            <a:extLst>
              <a:ext uri="{96DAC541-7B7A-43D3-8B79-37D633B846F1}">
                <asvg:svgBlip xmlns:asvg="http://schemas.microsoft.com/office/drawing/2016/SVG/main" r:embed="R312a0976150448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C449D8D-76A5-43C2-B392-97F1146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REVISION MATRIX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787711-B5CF-49E8-BF27-A25A207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Use a Revision Matrix to Protect Construct Meaning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3E266AA-4CA6-4014-8127-F85C3EB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5810791-6BE3-4F14-99C9-F7DE5D81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evidence-to-redesign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AA517B3-89E9-482F-B3F5-29E4216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715CECB-69CB-4749-B940-24D8771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B840D734-702E-4C02-9249-A748309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2A614F5-BEC2-47F1-8A7B-7F371C66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8E37F30E-D4FE-4BBD-9AEA-B6B55954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84803BB2-8945-4320-8E4D-63147BA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FINDING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D95E2436-9322-4AB1-AA59-3F59AFB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48CCA463-71F4-47CA-9563-9C9449A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353B54E7-51AA-43FF-8678-83FBD5EA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THREAT / ALTERNATIVE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60955E2D-E329-440A-8EF2-EC80E04D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A4AD6A23-84D3-4EA9-913D-EE5F0B93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DEE9E47A-EDF6-42CF-BF20-E1ABA10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REVISION DECISION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0BE9ED99-19D0-4FDD-9675-516B97D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26FE99B4-FDD0-446B-B2A4-4B3A225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634F79CB-BD6B-4DB5-B8D7-A778239E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EXPECTED EFFECT / NEXT CHECK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AA14525C-0BFB-4901-BF13-1A24562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Document pilot findings, interpretation, revision decisions, and expected effects.</a:t>
            </a:r>
          </a:p>
        </p:txBody>
      </p:sp>
    </p:spTree>
    <p:extLst>
      <p:ext uri="{BB962C8B-B14F-4D97-AF65-F5344CB8AC3E}">
        <p14:creationId xmlns:p14="http://schemas.microsoft.com/office/powerpoint/2010/main" val="1501434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237182A-2B35-45A0-9AEE-F9519EC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35ba646fc4c67">
            <a:extLst>
              <a:ext uri="{96DAC541-7B7A-43D3-8B79-37D633B846F1}">
                <asvg:svgBlip xmlns:asvg="http://schemas.microsoft.com/office/drawing/2016/SVG/main" r:embed="R4d3dc6644d434d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BB8DA88-0A0D-4AFE-9BE0-C571642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SCORE INTERPRETATION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597331-1DB2-4D46-94ED-CFBFF44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A Score Is Not Yet an Interpretation or a Decision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FB1C289-9075-4D09-A765-500B8E4D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A332663-519B-42C5-8372-EE49A580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6.1.5, pp. 44–45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457A4D7-239F-466B-ADA5-3D1C8B7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2B27DF0-D28F-4092-9B44-A95C65B4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3D93CFFE-2ED5-434F-AC9A-CBF53C23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A1B48FEF-ED7C-4101-A5F1-964AA471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Separate performance record, score, interpretation, decision, and action.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B25FFE4-16BE-47F3-BAA6-5BE9F8D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DB3EDF2-F424-4946-A1D3-7A5D8D2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034AC73-93D9-4673-91E2-1A325CEF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45C893C-9829-4019-8667-5B2C998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7DD2E591-A052-4FBC-BA99-EF19CA78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0351EC58-1387-4A15-9DE0-49F3AF5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SCORE / PROFILE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7C20ADF-4C11-4AC7-ACC6-EC6563A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C3C36442-7123-49A3-8899-535E74B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EB8C24D-EBEB-420E-8CB2-B30FDBD7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6E38644-3E7F-4C6F-B831-DEDE71D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71F77A0B-9B9F-4C87-8CBD-46C10DEE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2C521772-EBD1-4C3B-8670-85D5999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DECISION &amp; ACTION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A6F80DC-A128-44D0-A221-154054CB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F33AB4DF-BA5C-4B71-AD9D-633FA0A7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ACB9525F-8115-4314-B422-ABA2475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exactly does a score of 12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Which decision rule transforms it into action?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uncertainty should be communicated?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83973225-703A-4FEC-886B-222E5320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0E202AC4-6A2C-4C38-971F-8BBE9EF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Team Score Interpretation Statement.</a:t>
            </a:r>
          </a:p>
        </p:txBody>
      </p:sp>
    </p:spTree>
    <p:extLst>
      <p:ext uri="{BB962C8B-B14F-4D97-AF65-F5344CB8AC3E}">
        <p14:creationId xmlns:p14="http://schemas.microsoft.com/office/powerpoint/2010/main" val="616625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681F8E3-B50C-4037-923B-25F0774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b38dd9d7946d1">
            <a:extLst>
              <a:ext uri="{96DAC541-7B7A-43D3-8B79-37D633B846F1}">
                <asvg:svgBlip xmlns:asvg="http://schemas.microsoft.com/office/drawing/2016/SVG/main" r:embed="R31f79d85cde044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92554F7-3BFD-4504-9968-AFCA5895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RESULT COMMUNICATION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2A89C1-E3E4-45A2-B9AB-2AC9B5F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Report Results for Action, Transparency, and Due Process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A00C2EB-07C7-40C1-8360-5966398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2716569-64A3-45AE-897B-8E5F9AE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Assessment use and communication; Section 6.1.5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122EEA6-62C9-4A5D-B648-CB85376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8E11846-DFAE-4094-A0B3-EE2CEF5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DB5BF5E2-4902-4E63-BC34-70FEF59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A0813B4-6B20-4B0D-B415-9E61FDB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Design reporting for learners and other score users with limitations and review procedures.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C290E04-A653-46B5-93C4-FACA147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7207D599-1FB3-44A5-B608-C0620EA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06039437-2D48-41C1-9487-1D68EF40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RESULT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3A729601-E05B-4FCC-A4E5-A0F74AE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CBBCA13A-146B-440E-88C1-42C05B21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E877F9C2-F665-47B8-9FA9-AB65615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MEANING &amp; LIMITS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9F47E8A-8023-4C22-B50D-DF68C139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F1D999B3-B81B-4662-B54E-5390375F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C70EA95E-5299-46B2-82F1-CA1D386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NEXT ACTION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31F0A83B-ADF1-497A-BA0C-AC67F85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70A2DB47-5475-42EE-B327-D6AF0F47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32742072-61B4-4E2D-A706-3FF3E71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REVIEW / PRIVACY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F54DED42-A320-475B-A07F-53C2144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AAAF30F4-85D6-4D43-B1B5-C43172A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F0D0E9A-9426-4D51-9AA2-736F0151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information is necessary for this user?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can a learner challenge an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Which result should not be shared?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DFEFF35-12A8-4F87-A3B3-00AA62B7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30026417-9C2B-4745-95E8-40640418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Result Communication Template.</a:t>
            </a:r>
          </a:p>
        </p:txBody>
      </p:sp>
    </p:spTree>
    <p:extLst>
      <p:ext uri="{BB962C8B-B14F-4D97-AF65-F5344CB8AC3E}">
        <p14:creationId xmlns:p14="http://schemas.microsoft.com/office/powerpoint/2010/main" val="562958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E2BA42C-13B1-4125-8CF6-166970A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461e2c12e494e">
            <a:extLst>
              <a:ext uri="{96DAC541-7B7A-43D3-8B79-37D633B846F1}">
                <asvg:svgBlip xmlns:asvg="http://schemas.microsoft.com/office/drawing/2016/SVG/main" r:embed="R1159320167a049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0C20AA0-4EB5-43A9-8A11-8865726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468A4B-EC0C-48D5-8CFB-870A3C3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Re-Rate, Compare, and Explain the Change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C6D951C-FE62-4574-8332-D41BB004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5D83D4CF-6A2D-465A-9923-DEC70873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Post-instruction comparison with Rating Snapshot v0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9D9663A-3B69-4050-A908-149BC14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D1A2A46-D475-4CAF-B40B-389917D7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34740387-0DD3-4B8F-AA3D-1A980B77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626B4C06-CD4A-4ADC-B939-28E87E7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131226D0-A453-4F1A-AC44-480AD6B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CITE evidence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CDAE1666-6223-404C-AECB-0B04D7FA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DE8DE2D3-8DA2-4D43-AE26-293B057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5E7584B-F043-4683-A4B9-D943CAA7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APPLY criterion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51D8832E-FD1E-4EFD-AE9D-31C1AFD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F93B641D-9D70-4DC3-9FEC-6DB4AC26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BC71AE18-3213-46BC-9B22-2F5251F4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STATE interpretation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4335B0F4-0ACB-46EA-B598-191B11D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Make individual development in criteria use and judgement reasoning visible.</a:t>
            </a:r>
          </a:p>
        </p:txBody>
      </p:sp>
    </p:spTree>
    <p:extLst>
      <p:ext uri="{BB962C8B-B14F-4D97-AF65-F5344CB8AC3E}">
        <p14:creationId xmlns:p14="http://schemas.microsoft.com/office/powerpoint/2010/main" val="16396832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9BD255D-530D-4766-8FCB-856271C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584638f084143">
            <a:extLst>
              <a:ext uri="{96DAC541-7B7A-43D3-8B79-37D633B846F1}">
                <asvg:svgBlip xmlns:asvg="http://schemas.microsoft.com/office/drawing/2016/SVG/main" r:embed="Rfb3e47e91f564c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A0FC2C0-B768-4DD9-B8A4-A332764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8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5C8873-A127-4B93-919B-4F1583A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Next: Audit Quality, Fairness, Ethics, and Impact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E44D20E-26DE-40F4-B33B-6B9C06D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0F0D690-9F2E-4737-AD49-85CC070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 7, pp. 62–70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98AECF8-CD9A-4251-81FB-6DD61D0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7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6274726-4ECA-47E0-B6D9-BA20151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79EEAE87-17E6-460A-A52E-6BE88AF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E36EE421-EE4A-407F-BDA6-1699AD05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3C7B895-6510-4185-A77B-E050B257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Section 7, pp. 62–70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4EB8BD20-3C5E-4D70-B513-9C18FC9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525B52EB-3A35-4D96-9201-24DD576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4E27AD56-47E3-4AE0-AFA2-D6955C8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full judgement evidence trail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01BF74DA-30C1-43ED-B170-814CEAB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A0C24A06-C500-4311-83B5-BDECC77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DFD5EA46-E154-4C63-9733-9642B892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IDENTIFY: five quality risks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C99F57F2-FB1A-43F1-82B1-D87D1BC9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Prepare whole-system quality review and red-team critique.</a:t>
            </a:r>
          </a:p>
        </p:txBody>
      </p:sp>
    </p:spTree>
    <p:extLst>
      <p:ext uri="{BB962C8B-B14F-4D97-AF65-F5344CB8AC3E}">
        <p14:creationId xmlns:p14="http://schemas.microsoft.com/office/powerpoint/2010/main" val="189442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2026-07-13T15:31:29.7500000Z</dcterms:created>
  <dcterms:modified xsi:type="dcterms:W3CDTF">2026-07-13T15:31:29.7500000Z</dcterms:modified>
</coreProperties>
</file>