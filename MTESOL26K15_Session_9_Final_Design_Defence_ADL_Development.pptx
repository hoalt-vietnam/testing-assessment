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a419327f594ac9" /><Relationship Type="http://schemas.openxmlformats.org/officeDocument/2006/relationships/extended-properties" Target="/docProps/app.xml" Id="R81ac239cd82a4bd7" /><Relationship Type="http://schemas.openxmlformats.org/officeDocument/2006/relationships/officeDocument" Target="/ppt/presentation.xml" Id="R25e1577abb0e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923d7852d24c99"/>
  </p:sldMasterIdLst>
  <p:notesMasterIdLst>
    <p:notesMasterId xmlns:r="http://schemas.openxmlformats.org/officeDocument/2006/relationships" r:id="R420d730b483b4b34"/>
  </p:notesMasterIdLst>
  <p:sldIdLst>
    <p:sldId xmlns:r="http://schemas.openxmlformats.org/officeDocument/2006/relationships" id="256" r:id="R99b3bb64d1bd4857"/>
    <p:sldId xmlns:r="http://schemas.openxmlformats.org/officeDocument/2006/relationships" id="257" r:id="Rebca71107a504f9a"/>
    <p:sldId xmlns:r="http://schemas.openxmlformats.org/officeDocument/2006/relationships" id="258" r:id="R680dcbc420124554"/>
    <p:sldId xmlns:r="http://schemas.openxmlformats.org/officeDocument/2006/relationships" id="259" r:id="R91b71928bf334971"/>
    <p:sldId xmlns:r="http://schemas.openxmlformats.org/officeDocument/2006/relationships" id="260" r:id="R227eefb8645540c2"/>
    <p:sldId xmlns:r="http://schemas.openxmlformats.org/officeDocument/2006/relationships" id="261" r:id="Rdc39c02540a44928"/>
    <p:sldId xmlns:r="http://schemas.openxmlformats.org/officeDocument/2006/relationships" id="262" r:id="R9239cf67a98e4f90"/>
    <p:sldId xmlns:r="http://schemas.openxmlformats.org/officeDocument/2006/relationships" id="263" r:id="R839fae09aa4e4e7f"/>
    <p:sldId xmlns:r="http://schemas.openxmlformats.org/officeDocument/2006/relationships" id="264" r:id="R1bad2533262a44e6"/>
    <p:sldId xmlns:r="http://schemas.openxmlformats.org/officeDocument/2006/relationships" id="265" r:id="R165df01b555d48c2"/>
    <p:sldId xmlns:r="http://schemas.openxmlformats.org/officeDocument/2006/relationships" id="266" r:id="R799a8489b650497a"/>
    <p:sldId xmlns:r="http://schemas.openxmlformats.org/officeDocument/2006/relationships" id="267" r:id="Rceb9f07d69834755"/>
    <p:sldId xmlns:r="http://schemas.openxmlformats.org/officeDocument/2006/relationships" id="268" r:id="Rfff33570d514464c"/>
    <p:sldId xmlns:r="http://schemas.openxmlformats.org/officeDocument/2006/relationships" id="269" r:id="Rcbbeb6404f244150"/>
    <p:sldId xmlns:r="http://schemas.openxmlformats.org/officeDocument/2006/relationships" id="270" r:id="R79307bd9dee24456"/>
    <p:sldId xmlns:r="http://schemas.openxmlformats.org/officeDocument/2006/relationships" id="271" r:id="Rd085ccf1560d4c35"/>
    <p:sldId xmlns:r="http://schemas.openxmlformats.org/officeDocument/2006/relationships" id="272" r:id="R94699f0005754a4c"/>
    <p:sldId xmlns:r="http://schemas.openxmlformats.org/officeDocument/2006/relationships" id="273" r:id="R9c0e040a263c4dad"/>
    <p:sldId xmlns:r="http://schemas.openxmlformats.org/officeDocument/2006/relationships" id="274" r:id="Rc362dfdcb82b4db4"/>
    <p:sldId xmlns:r="http://schemas.openxmlformats.org/officeDocument/2006/relationships" id="275" r:id="R86cf1c3d3dde48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f9aab7af46403b" /><Relationship Type="http://schemas.openxmlformats.org/officeDocument/2006/relationships/slideMaster" Target="/ppt/slideMasters/slideMaster1.xml" Id="R3b923d7852d24c99" /><Relationship Type="http://schemas.openxmlformats.org/officeDocument/2006/relationships/notesMaster" Target="/ppt/notesMasters/notesMaster1.xml" Id="R420d730b483b4b34" /><Relationship Type="http://schemas.openxmlformats.org/officeDocument/2006/relationships/presProps" Target="/ppt/presProps.xml" Id="Rc3b89baf072f4924" /><Relationship Type="http://schemas.openxmlformats.org/officeDocument/2006/relationships/tableStyles" Target="/ppt/tableStyles.xml" Id="R97039f7fda4f4f8b" /><Relationship Type="http://schemas.openxmlformats.org/officeDocument/2006/relationships/slide" Target="/ppt/slides/slide1.xml" Id="R99b3bb64d1bd4857" /><Relationship Type="http://schemas.openxmlformats.org/officeDocument/2006/relationships/slide" Target="/ppt/slides/slide2.xml" Id="Rebca71107a504f9a" /><Relationship Type="http://schemas.openxmlformats.org/officeDocument/2006/relationships/slide" Target="/ppt/slides/slide3.xml" Id="R680dcbc420124554" /><Relationship Type="http://schemas.openxmlformats.org/officeDocument/2006/relationships/slide" Target="/ppt/slides/slide4.xml" Id="R91b71928bf334971" /><Relationship Type="http://schemas.openxmlformats.org/officeDocument/2006/relationships/slide" Target="/ppt/slides/slide5.xml" Id="R227eefb8645540c2" /><Relationship Type="http://schemas.openxmlformats.org/officeDocument/2006/relationships/slide" Target="/ppt/slides/slide6.xml" Id="Rdc39c02540a44928" /><Relationship Type="http://schemas.openxmlformats.org/officeDocument/2006/relationships/slide" Target="/ppt/slides/slide7.xml" Id="R9239cf67a98e4f90" /><Relationship Type="http://schemas.openxmlformats.org/officeDocument/2006/relationships/slide" Target="/ppt/slides/slide8.xml" Id="R839fae09aa4e4e7f" /><Relationship Type="http://schemas.openxmlformats.org/officeDocument/2006/relationships/slide" Target="/ppt/slides/slide9.xml" Id="R1bad2533262a44e6" /><Relationship Type="http://schemas.openxmlformats.org/officeDocument/2006/relationships/slide" Target="/ppt/slides/slide10.xml" Id="R165df01b555d48c2" /><Relationship Type="http://schemas.openxmlformats.org/officeDocument/2006/relationships/slide" Target="/ppt/slides/slide11.xml" Id="R799a8489b650497a" /><Relationship Type="http://schemas.openxmlformats.org/officeDocument/2006/relationships/slide" Target="/ppt/slides/slide12.xml" Id="Rceb9f07d69834755" /><Relationship Type="http://schemas.openxmlformats.org/officeDocument/2006/relationships/slide" Target="/ppt/slides/slide13.xml" Id="Rfff33570d514464c" /><Relationship Type="http://schemas.openxmlformats.org/officeDocument/2006/relationships/slide" Target="/ppt/slides/slide14.xml" Id="Rcbbeb6404f244150" /><Relationship Type="http://schemas.openxmlformats.org/officeDocument/2006/relationships/slide" Target="/ppt/slides/slide15.xml" Id="R79307bd9dee24456" /><Relationship Type="http://schemas.openxmlformats.org/officeDocument/2006/relationships/slide" Target="/ppt/slides/slide16.xml" Id="Rd085ccf1560d4c35" /><Relationship Type="http://schemas.openxmlformats.org/officeDocument/2006/relationships/slide" Target="/ppt/slides/slide17.xml" Id="R94699f0005754a4c" /><Relationship Type="http://schemas.openxmlformats.org/officeDocument/2006/relationships/slide" Target="/ppt/slides/slide18.xml" Id="R9c0e040a263c4dad" /><Relationship Type="http://schemas.openxmlformats.org/officeDocument/2006/relationships/slide" Target="/ppt/slides/slide19.xml" Id="Rc362dfdcb82b4db4" /><Relationship Type="http://schemas.openxmlformats.org/officeDocument/2006/relationships/slide" Target="/ppt/slides/slide20.xml" Id="R86cf1c3d3dde48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6feb8d43e0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8d383e9be94998" /><Relationship Type="http://schemas.openxmlformats.org/officeDocument/2006/relationships/notesMaster" Target="/ppt/notesMasters/notesMaster1.xml" Id="Rd900e000d43349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bf5a2239084431" /><Relationship Type="http://schemas.openxmlformats.org/officeDocument/2006/relationships/notesMaster" Target="/ppt/notesMasters/notesMaster1.xml" Id="R8a38213511a14e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aaeb672fa24924" /><Relationship Type="http://schemas.openxmlformats.org/officeDocument/2006/relationships/notesMaster" Target="/ppt/notesMasters/notesMaster1.xml" Id="Raa38f3f2dd7648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86017e3fe34576" /><Relationship Type="http://schemas.openxmlformats.org/officeDocument/2006/relationships/notesMaster" Target="/ppt/notesMasters/notesMaster1.xml" Id="Rd304a4fe012f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55e4a24b441d4" /><Relationship Type="http://schemas.openxmlformats.org/officeDocument/2006/relationships/notesMaster" Target="/ppt/notesMasters/notesMaster1.xml" Id="Red38aeae9bfd4a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362bbad5bd4e79" /><Relationship Type="http://schemas.openxmlformats.org/officeDocument/2006/relationships/notesMaster" Target="/ppt/notesMasters/notesMaster1.xml" Id="R155a0c5780144d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6d6071b9ce431f" /><Relationship Type="http://schemas.openxmlformats.org/officeDocument/2006/relationships/notesMaster" Target="/ppt/notesMasters/notesMaster1.xml" Id="R4c3ba4c85cac4a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3fc420247459b" /><Relationship Type="http://schemas.openxmlformats.org/officeDocument/2006/relationships/notesMaster" Target="/ppt/notesMasters/notesMaster1.xml" Id="Ra9be6ff52b7a4e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95a3f93ea44b3a" /><Relationship Type="http://schemas.openxmlformats.org/officeDocument/2006/relationships/notesMaster" Target="/ppt/notesMasters/notesMaster1.xml" Id="R33ac95bcb3a34f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23726b7ca04950" /><Relationship Type="http://schemas.openxmlformats.org/officeDocument/2006/relationships/notesMaster" Target="/ppt/notesMasters/notesMaster1.xml" Id="R79e7bae005c441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40e21cf4f34cad" /><Relationship Type="http://schemas.openxmlformats.org/officeDocument/2006/relationships/notesMaster" Target="/ppt/notesMasters/notesMaster1.xml" Id="R36f318a6897b4d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d01a4df1e14c59" /><Relationship Type="http://schemas.openxmlformats.org/officeDocument/2006/relationships/notesMaster" Target="/ppt/notesMasters/notesMaster1.xml" Id="R9983e59109b740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ef05c253864f0d" /><Relationship Type="http://schemas.openxmlformats.org/officeDocument/2006/relationships/notesMaster" Target="/ppt/notesMasters/notesMaster1.xml" Id="Rf72c68349dfa4d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f049151f2f4650" /><Relationship Type="http://schemas.openxmlformats.org/officeDocument/2006/relationships/notesMaster" Target="/ppt/notesMasters/notesMaster1.xml" Id="R5d55ff306ddb47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f71b03ec4a4bbb" /><Relationship Type="http://schemas.openxmlformats.org/officeDocument/2006/relationships/notesMaster" Target="/ppt/notesMasters/notesMaster1.xml" Id="R1f811f51e0aa4b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5c47bbb7c244a3" /><Relationship Type="http://schemas.openxmlformats.org/officeDocument/2006/relationships/notesMaster" Target="/ppt/notesMasters/notesMaster1.xml" Id="Rcd21bfb09bdd40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2e96189a4c4392" /><Relationship Type="http://schemas.openxmlformats.org/officeDocument/2006/relationships/notesMaster" Target="/ppt/notesMasters/notesMaster1.xml" Id="R55b18c8ff2dc4e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44fbb6c2094833" /><Relationship Type="http://schemas.openxmlformats.org/officeDocument/2006/relationships/notesMaster" Target="/ppt/notesMasters/notesMaster1.xml" Id="R4cc2e73e9a5b4c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ea6e15367d449e" /><Relationship Type="http://schemas.openxmlformats.org/officeDocument/2006/relationships/notesMaster" Target="/ppt/notesMasters/notesMaster1.xml" Id="Re3fca6c0920042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33d78d63ed4af7" /><Relationship Type="http://schemas.openxmlformats.org/officeDocument/2006/relationships/notesMaster" Target="/ppt/notesMasters/notesMaster1.xml" Id="R000eff98be4e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3cb46dbb4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0dfc21092459c" /><Relationship Type="http://schemas.openxmlformats.org/officeDocument/2006/relationships/slideLayout" Target="/ppt/slideLayouts/slideLayout1.xml" Id="Re8e370e6f7374d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370e6f7374d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8d5130eff4531" /><Relationship Type="http://schemas.openxmlformats.org/officeDocument/2006/relationships/notesSlide" Target="/ppt/notesSlides/notesSlide1.xml" Id="R944a90726b654a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1dfade4b641f5" /><Relationship Type="http://schemas.openxmlformats.org/officeDocument/2006/relationships/image" Target="/ppt/media/image.png" Id="R9a3b9f85c8324873" /><Relationship Type="http://schemas.openxmlformats.org/officeDocument/2006/relationships/image" Target="/ppt/media/image.svg" Id="R920a5bd78f1d4692" /><Relationship Type="http://schemas.openxmlformats.org/officeDocument/2006/relationships/notesSlide" Target="/ppt/notesSlides/notesSlide2.xml" Id="R259cebf013224b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c9085d33841c4" /><Relationship Type="http://schemas.openxmlformats.org/officeDocument/2006/relationships/image" Target="/ppt/media/image2.png" Id="Rc8aac906e2d44183" /><Relationship Type="http://schemas.openxmlformats.org/officeDocument/2006/relationships/image" Target="/ppt/media/image2.svg" Id="R9053a00be68d4264" /><Relationship Type="http://schemas.openxmlformats.org/officeDocument/2006/relationships/notesSlide" Target="/ppt/notesSlides/notesSlide3.xml" Id="Ra226fe0cb0e144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d282f3e674ade" /><Relationship Type="http://schemas.openxmlformats.org/officeDocument/2006/relationships/image" Target="/ppt/media/image3.png" Id="R57bbb318604b431d" /><Relationship Type="http://schemas.openxmlformats.org/officeDocument/2006/relationships/image" Target="/ppt/media/image3.svg" Id="R9b0f88088e2a468e" /><Relationship Type="http://schemas.openxmlformats.org/officeDocument/2006/relationships/notesSlide" Target="/ppt/notesSlides/notesSlide4.xml" Id="Rff4787dcd8b64e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e77dbfe0b4eee" /><Relationship Type="http://schemas.openxmlformats.org/officeDocument/2006/relationships/image" Target="/ppt/media/image4.png" Id="Rb5311b1ac2df4c78" /><Relationship Type="http://schemas.openxmlformats.org/officeDocument/2006/relationships/image" Target="/ppt/media/image4.svg" Id="R7e77fef060c34d78" /><Relationship Type="http://schemas.openxmlformats.org/officeDocument/2006/relationships/notesSlide" Target="/ppt/notesSlides/notesSlide5.xml" Id="R0e86ab18a4c047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a8321227491d" /><Relationship Type="http://schemas.openxmlformats.org/officeDocument/2006/relationships/image" Target="/ppt/media/image5.png" Id="Rc31da6b2ffd74471" /><Relationship Type="http://schemas.openxmlformats.org/officeDocument/2006/relationships/image" Target="/ppt/media/image5.svg" Id="R6b0969febb924b03" /><Relationship Type="http://schemas.openxmlformats.org/officeDocument/2006/relationships/notesSlide" Target="/ppt/notesSlides/notesSlide6.xml" Id="R45a6c2328ee644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89fe63d544a29" /><Relationship Type="http://schemas.openxmlformats.org/officeDocument/2006/relationships/image" Target="/ppt/media/image6.png" Id="R3c267a22d684470b" /><Relationship Type="http://schemas.openxmlformats.org/officeDocument/2006/relationships/image" Target="/ppt/media/image6.svg" Id="Rc32f2873c9a241ef" /><Relationship Type="http://schemas.openxmlformats.org/officeDocument/2006/relationships/notesSlide" Target="/ppt/notesSlides/notesSlide7.xml" Id="R38ecda8da0dd47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6404bbe9d4d73" /><Relationship Type="http://schemas.openxmlformats.org/officeDocument/2006/relationships/image" Target="/ppt/media/image7.png" Id="R63ec8572a5c84a88" /><Relationship Type="http://schemas.openxmlformats.org/officeDocument/2006/relationships/image" Target="/ppt/media/image7.svg" Id="R8cd57dc0840b42aa" /><Relationship Type="http://schemas.openxmlformats.org/officeDocument/2006/relationships/notesSlide" Target="/ppt/notesSlides/notesSlide8.xml" Id="Re4ea84316e2a4b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aed79c80f46db" /><Relationship Type="http://schemas.openxmlformats.org/officeDocument/2006/relationships/image" Target="/ppt/media/image8.png" Id="R9b207e0881d246ad" /><Relationship Type="http://schemas.openxmlformats.org/officeDocument/2006/relationships/image" Target="/ppt/media/image8.svg" Id="R3b48c14bd94b4fd3" /><Relationship Type="http://schemas.openxmlformats.org/officeDocument/2006/relationships/notesSlide" Target="/ppt/notesSlides/notesSlide9.xml" Id="Ra846e20944f84f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6ae735f4348d6" /><Relationship Type="http://schemas.openxmlformats.org/officeDocument/2006/relationships/image" Target="/ppt/media/image9.png" Id="R728affb4b305416b" /><Relationship Type="http://schemas.openxmlformats.org/officeDocument/2006/relationships/image" Target="/ppt/media/image9.svg" Id="R4afb95f2f9b746ac" /><Relationship Type="http://schemas.openxmlformats.org/officeDocument/2006/relationships/notesSlide" Target="/ppt/notesSlides/notesSlide10.xml" Id="R6e25364b79b440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f59f4987f4195" /><Relationship Type="http://schemas.openxmlformats.org/officeDocument/2006/relationships/image" Target="/ppt/media/image10.png" Id="R08ae94ca5c08496a" /><Relationship Type="http://schemas.openxmlformats.org/officeDocument/2006/relationships/image" Target="/ppt/media/image10.svg" Id="R59800b2945844f96" /><Relationship Type="http://schemas.openxmlformats.org/officeDocument/2006/relationships/notesSlide" Target="/ppt/notesSlides/notesSlide11.xml" Id="R9f9e0243990a45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dc530e57a414a" /><Relationship Type="http://schemas.openxmlformats.org/officeDocument/2006/relationships/image" Target="/ppt/media/image11.png" Id="Rc8fcbe457ac045b1" /><Relationship Type="http://schemas.openxmlformats.org/officeDocument/2006/relationships/image" Target="/ppt/media/image11.svg" Id="Re37892bd33d34148" /><Relationship Type="http://schemas.openxmlformats.org/officeDocument/2006/relationships/notesSlide" Target="/ppt/notesSlides/notesSlide12.xml" Id="Rcd85ef7233d546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647140c3f4665" /><Relationship Type="http://schemas.openxmlformats.org/officeDocument/2006/relationships/image" Target="/ppt/media/image12.png" Id="Raa24c41e0ab349a5" /><Relationship Type="http://schemas.openxmlformats.org/officeDocument/2006/relationships/image" Target="/ppt/media/image12.svg" Id="Rb3ae2670a8fd4ea8" /><Relationship Type="http://schemas.openxmlformats.org/officeDocument/2006/relationships/notesSlide" Target="/ppt/notesSlides/notesSlide13.xml" Id="R7e95eaa7af3f41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63fdf21e34070" /><Relationship Type="http://schemas.openxmlformats.org/officeDocument/2006/relationships/image" Target="/ppt/media/image13.png" Id="Ra6a43775a927447b" /><Relationship Type="http://schemas.openxmlformats.org/officeDocument/2006/relationships/image" Target="/ppt/media/image13.svg" Id="R4ccc3b1536324ed1" /><Relationship Type="http://schemas.openxmlformats.org/officeDocument/2006/relationships/notesSlide" Target="/ppt/notesSlides/notesSlide14.xml" Id="R5378f1be58334e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62bf6ece64445" /><Relationship Type="http://schemas.openxmlformats.org/officeDocument/2006/relationships/image" Target="/ppt/media/image14.png" Id="R9eeddca9ae8343aa" /><Relationship Type="http://schemas.openxmlformats.org/officeDocument/2006/relationships/image" Target="/ppt/media/image14.svg" Id="Re45316625e0f4a9e" /><Relationship Type="http://schemas.openxmlformats.org/officeDocument/2006/relationships/notesSlide" Target="/ppt/notesSlides/notesSlide15.xml" Id="R6e4c2a972c9e4d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8cac215a94382" /><Relationship Type="http://schemas.openxmlformats.org/officeDocument/2006/relationships/image" Target="/ppt/media/image15.png" Id="R01385739341f4516" /><Relationship Type="http://schemas.openxmlformats.org/officeDocument/2006/relationships/image" Target="/ppt/media/image15.svg" Id="R388d41d4f97b491a" /><Relationship Type="http://schemas.openxmlformats.org/officeDocument/2006/relationships/notesSlide" Target="/ppt/notesSlides/notesSlide16.xml" Id="R07bcc856e1e347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d483fa98044d4" /><Relationship Type="http://schemas.openxmlformats.org/officeDocument/2006/relationships/image" Target="/ppt/media/image16.png" Id="R2b952ecb09f64d97" /><Relationship Type="http://schemas.openxmlformats.org/officeDocument/2006/relationships/image" Target="/ppt/media/image16.svg" Id="R78abf79d2f824f1d" /><Relationship Type="http://schemas.openxmlformats.org/officeDocument/2006/relationships/notesSlide" Target="/ppt/notesSlides/notesSlide17.xml" Id="R52eecbe5e67e4d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52f6597a4c49" /><Relationship Type="http://schemas.openxmlformats.org/officeDocument/2006/relationships/image" Target="/ppt/media/image17.png" Id="Rac9ee06b44be40b2" /><Relationship Type="http://schemas.openxmlformats.org/officeDocument/2006/relationships/image" Target="/ppt/media/image17.svg" Id="R1521c239e6c14907" /><Relationship Type="http://schemas.openxmlformats.org/officeDocument/2006/relationships/notesSlide" Target="/ppt/notesSlides/notesSlide18.xml" Id="R40d8ecb010eb4b9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2096e6789488f" /><Relationship Type="http://schemas.openxmlformats.org/officeDocument/2006/relationships/image" Target="/ppt/media/image18.png" Id="Ref07cc8b0aec43fb" /><Relationship Type="http://schemas.openxmlformats.org/officeDocument/2006/relationships/image" Target="/ppt/media/image18.svg" Id="Rf84bf2310aaa48c2" /><Relationship Type="http://schemas.openxmlformats.org/officeDocument/2006/relationships/notesSlide" Target="/ppt/notesSlides/notesSlide19.xml" Id="Ra9898ee64fe44e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09ae50ec74fee" /><Relationship Type="http://schemas.openxmlformats.org/officeDocument/2006/relationships/image" Target="/ppt/media/image19.png" Id="R5f47590fae1c411a" /><Relationship Type="http://schemas.openxmlformats.org/officeDocument/2006/relationships/image" Target="/ppt/media/image19.svg" Id="R926fc1c420254ad2" /><Relationship Type="http://schemas.openxmlformats.org/officeDocument/2006/relationships/notesSlide" Target="/ppt/notesSlides/notesSlide20.xml" Id="Rb8539e80c75840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49BBBF6D-24F9-4501-85D8-B454EDD9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0207982A-CAB2-48BC-BEA5-CE8FD6CF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1AA84747-5E3F-4D57-A07C-A60FF31C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99CA8E5-0414-4840-8F15-91738584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C0BD0197-235A-4341-96DC-F55A2BFE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9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2BC264-ADE7-4934-953A-1D2E302E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DEFEND THE SYSTEM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TRACE THE DESIGNER’S DEVELOPMENT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4CDCF019-461E-479D-877D-2FFEC15B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Final quality lies in defensible decisions, adaptive transfer, and evidence of changed design reasoning.</a:t>
            </a:r>
          </a:p>
        </p:txBody>
      </p:sp>
      <p:sp>
        <p:nvSpPr>
          <p:cNvPr id="8" name="meta">
            <a:extLst xmlns:a="http://schemas.openxmlformats.org/drawingml/2006/main">
              <a:ext uri="{FF2B5EF4-FFF2-40B4-BE49-F238E27FC236}">
                <a16:creationId xmlns:a16="http://schemas.microsoft.com/office/drawing/2014/main" id="{1EBE703B-085E-46B3-B251-6786A6DC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9" name="instructor">
            <a:extLst xmlns:a="http://schemas.openxmlformats.org/drawingml/2006/main">
              <a:ext uri="{FF2B5EF4-FFF2-40B4-BE49-F238E27FC236}">
                <a16:creationId xmlns:a16="http://schemas.microsoft.com/office/drawing/2014/main" id="{079A3616-3EB1-482F-BD6C-C35200C2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0" name="reading">
            <a:extLst xmlns:a="http://schemas.openxmlformats.org/drawingml/2006/main">
              <a:ext uri="{FF2B5EF4-FFF2-40B4-BE49-F238E27FC236}">
                <a16:creationId xmlns:a16="http://schemas.microsoft.com/office/drawing/2014/main" id="{F0B5D8B6-6CEF-4A30-A382-E0E41D4C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 8, pp. 70–84</a:t>
            </a:r>
          </a:p>
        </p:txBody>
      </p:sp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98688C7D-EA98-457E-929A-6D867CE0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8653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9CCF0BF-BD0F-4228-AA3C-5DD17417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b9f85c8324873">
            <a:extLst>
              <a:ext uri="{96DAC541-7B7A-43D3-8B79-37D633B846F1}">
                <asvg:svgBlip xmlns:asvg="http://schemas.microsoft.com/office/drawing/2016/SVG/main" r:embed="R920a5bd78f1d46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9A60A11-3317-4C04-886F-6381D376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POST-COURSE PERFORMANCE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683BE9-0DA8-4E40-9522-8B6C9D48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Post-Course ADL Design Challenge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564964E-D313-4FC6-9D58-2212E084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B967F68-AE25-428A-BA5C-226F62B4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T1 performance task; parallel to Session 1 baseline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5F2A283-4E7B-4F5A-9C87-C467023B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7E26118-06B1-4C7A-8652-1D66A1A8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F39A0CBC-A401-44FB-A7B8-08CECA3C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DA53BD51-4D02-4184-8302-406F6A14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Generate an independent end-point sample of assessment design reasoning under standardised conditions.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E5EEDB89-F9AE-4405-8464-B459EF3A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A5AD3F21-9CAE-4AAD-8780-BCF64A42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065EEF4E-C882-4176-B593-DFC75F7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FRAME context and decision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93CFC567-21DB-491A-A591-3F8ADAAB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0D3BDC4D-07B0-4412-B3EE-9A423F84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14CA0DB0-A84D-4C73-AD51-3B57F49A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REPRESENT construct and evidence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C512A2D4-2DE8-4798-BCC6-F4673834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3412C254-7612-4D9D-9870-EE311F7D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BAB605EE-4A5E-4873-A541-B9D697A1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DESIGN task, scoring, and use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A8727B28-CD8B-4249-95A3-8FFA6687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6F8C714F-820C-429F-8D6E-C4ADD8E5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FBC88AB8-A1B7-4BD6-A7DF-D33AAA1D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JUSTIFY quality and trade-offs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DAEB4187-7BC8-482E-AB46-7426DEA1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FD87EEA8-C32E-4673-84D6-FA01F3F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9CD97B49-942F-4A36-A2CB-CF38FA1D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must be known before designing?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evidence supports the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limitations or risks remain?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FE9B3868-B533-47AD-BF33-AD436E86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34C9CDBF-2CE0-4DF5-8A0B-E3DFFC32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T1 ADL Design Challenge.</a:t>
            </a:r>
          </a:p>
        </p:txBody>
      </p:sp>
    </p:spTree>
    <p:extLst>
      <p:ext uri="{BB962C8B-B14F-4D97-AF65-F5344CB8AC3E}">
        <p14:creationId xmlns:p14="http://schemas.microsoft.com/office/powerpoint/2010/main" val="245351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87FB619-13E1-4BBF-AC30-36198CBB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ac906e2d44183">
            <a:extLst>
              <a:ext uri="{96DAC541-7B7A-43D3-8B79-37D633B846F1}">
                <asvg:svgBlip xmlns:asvg="http://schemas.microsoft.com/office/drawing/2016/SVG/main" r:embed="R9053a00be68d42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579752B-FD0E-4730-8225-6C682509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PEDAGOGICAL ALIGNMENT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417910-8C63-42E6-B919-A593DCB9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Teaching, Learning, and Assessment Must Form One Coherent Ecology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B355B1B-52C7-41BB-89BC-EA315249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C913144-2D4F-4D77-B6EE-AC583763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8.1.1, pp. 71–74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C7F57394-7BD7-4975-B5E1-AB0184C9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2BE93A9D-7FA9-4C25-BBED-F2888683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A6A35B95-0272-41F5-9F47-0F32E39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50D96B31-3B44-4A6A-BF68-77ED080D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2FAF2A64-2F18-4680-A272-212C1D8F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9568D3A6-4935-4C12-9A80-C6D6FE70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LEARNING OUTCOME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27BB52C2-BDE0-4A16-8EC6-FE3E3F0D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C8010B8E-318F-4791-A599-C0821A8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5CF89C41-BEED-4F74-9916-53C9EAF4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LEARNING OPPORTUNITY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B5400A73-CDEF-42D0-A323-AC70CB29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8D6A47A2-95BE-44EC-858F-63675D4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BA01F70C-6E71-4900-9D97-CA97D20A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FORMATIVE EVIDENCE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538E4B6A-01BA-4965-BB1F-992CEAB3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A3D791A5-DF1D-4526-B122-56DF03F8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2BCB7C10-E950-4BAA-873F-4D1C50F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SUMMATIVE JUDGEMENT / USE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7B9B6094-6751-4F38-8AFC-8262417B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Consolidate alignment among outcomes, learning opportunities, formative evidence, summative judgement, and use.</a:t>
            </a:r>
          </a:p>
        </p:txBody>
      </p:sp>
    </p:spTree>
    <p:extLst>
      <p:ext uri="{BB962C8B-B14F-4D97-AF65-F5344CB8AC3E}">
        <p14:creationId xmlns:p14="http://schemas.microsoft.com/office/powerpoint/2010/main" val="1291707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9128AEF-4D5F-4E9A-993D-5D8AB3E2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bb318604b431d">
            <a:extLst>
              <a:ext uri="{96DAC541-7B7A-43D3-8B79-37D633B846F1}">
                <asvg:svgBlip xmlns:asvg="http://schemas.microsoft.com/office/drawing/2016/SVG/main" r:embed="R9b0f88088e2a46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7117B9C-F51F-4F30-8495-DB5A5FC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TEACHER ENQUIRY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CA5436-4DBF-4976-9867-85D5EAB5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Assessment Designers Are Also Teacher-Researchers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A4A82F3-B7B6-4C6D-8F1E-DB6E629F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FADFD21-88A7-478F-B0B3-5EA34351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8.2, pp. 77–81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52DEAF4-0B34-4607-A494-4E8F628F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2733719-410F-4477-92EC-CAA7F8F1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4E15A502-B30F-4B86-B885-59D0AF18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87C487DB-EEEF-4D29-B769-A9920CA9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470BC70B-78EF-45CC-BE05-5302929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EB7A926B-6F92-4E3F-AA95-1ABC1607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LOCAL problem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79A45A22-5FAE-41B6-B14F-C19010F9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2C499636-DCD4-4507-AEC7-5AE05D4C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2C4C4822-2A5B-47B4-946F-82C8AE2C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ANSWERABLE question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D39EB7AF-E04B-40A9-B4CE-579E4E1F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2DF7AB8E-8D46-4336-8E28-ECBD12DC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7A3A4BAF-9A8B-48D8-9180-7A748DE5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ETHICAL evidence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69837EA4-B1CD-4AE1-9DE2-CD39517E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A78EE406-26B5-4A11-84B6-F6193354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9A06E297-79E7-4DDC-B892-C4268524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ACTION and learning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86E01AE3-46EB-4846-9D6D-546DDE5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Position systematic enquiry as the mechanism for continued assessment improvement.</a:t>
            </a:r>
          </a:p>
        </p:txBody>
      </p:sp>
    </p:spTree>
    <p:extLst>
      <p:ext uri="{BB962C8B-B14F-4D97-AF65-F5344CB8AC3E}">
        <p14:creationId xmlns:p14="http://schemas.microsoft.com/office/powerpoint/2010/main" val="782321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3BC5BC5-AD6D-4A15-9157-01367411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11b1ac2df4c78">
            <a:extLst>
              <a:ext uri="{96DAC541-7B7A-43D3-8B79-37D633B846F1}">
                <asvg:svgBlip xmlns:asvg="http://schemas.microsoft.com/office/drawing/2016/SVG/main" r:embed="R7e77fef060c34d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70A6F6D-5C5C-46E0-A1B8-00EF937F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RESEARCH FRONTIERS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823497-3240-4F2A-B291-29E4AB96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Six Enquiry Frontiers Extend the Designer’s Repertoire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729480C-7707-4BC9-B18C-FD093BD8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00369D4C-D7BC-4E85-A0B2-E3D0E85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8.2, pp. 77–81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E928504-A97E-4513-9788-F2692B1C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798073D-ABFE-403E-8E7D-E23EE1D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2AA62A99-0CA1-49DD-85D1-BF814509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F31CE110-CEC5-4021-BB33-FB6F42EA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034F9FD4-0478-4370-BBAB-74AB5529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LEARNING &amp; feedback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DADCAA8A-D7C2-434A-8B89-4A142285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89071A63-D883-4833-9598-CEA4D56D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C4430C7D-9873-46D3-ADFA-74AFC338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SOCIAL / MULTILINGUAL interaction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3CEE381C-93DF-43F4-884A-49BF6296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8530EFE5-5368-4C6A-AB5B-924D41D4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DE5AA18-13AE-45DF-BCF2-0632719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INTEGRATED / MULTIMODAL skills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8BEE03E8-9130-4DA5-9C05-85985F5F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Connect course projects to contemporary research questions in language assessment.</a:t>
            </a:r>
          </a:p>
        </p:txBody>
      </p:sp>
    </p:spTree>
    <p:extLst>
      <p:ext uri="{BB962C8B-B14F-4D97-AF65-F5344CB8AC3E}">
        <p14:creationId xmlns:p14="http://schemas.microsoft.com/office/powerpoint/2010/main" val="1031341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6FD43BA-2F42-4DB3-9683-2D8D14F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da6b2ffd74471">
            <a:extLst>
              <a:ext uri="{96DAC541-7B7A-43D3-8B79-37D633B846F1}">
                <asvg:svgBlip xmlns:asvg="http://schemas.microsoft.com/office/drawing/2016/SVG/main" r:embed="R6b0969febb924b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3A7F40A-8877-4C2B-ADAD-7B8BA7A3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TECHNOLOGY &amp; AI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6D719F-E2ED-4685-93B6-0150E48D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Technology Changes What Is Assessed—not Only How It Is Delivered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A5F00D2-62ED-4DCC-AC3A-E1DACD47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10317FD-E722-449F-8B40-059FD10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8.2, pp. 79–80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1DB7841-A7E8-408F-AAC4-571DDAE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75734A1-E62F-43DD-9500-CD73071F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94B5D4D6-4313-489E-A709-98A42BF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D36BF0E6-9442-46A1-96ED-D1EB4B1F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Evaluate technology and AI through construct, access, evidence, integrity, scoring, and impact.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A009A663-6EC0-46EC-AEAD-EE1A6238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3CB0E320-1CD4-4AF5-8BDC-4D6D25C1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F4D94EE6-9DA1-4C57-A3F4-B014EF38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CONSTRUCT change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37399CF4-88EF-4F1E-AC5A-BA38A6B6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C16D8045-D7A6-4B7D-B4E2-5CA425D0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3741C2BA-915B-42E4-ADD5-C455C18B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ACCESS and digital literacy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DA8338A8-93D2-4B98-BCD6-950D4212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0AEBE521-977C-4430-9C80-9D92E8E5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D017132A-6885-4F22-8ED0-48686A14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AUTHORSHIP / integrity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47BF95DF-3F3A-4BA8-AFD3-61A576A5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3BC61225-E331-43A3-B608-FF78CD0E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34024E4C-186A-4EBB-92BC-5AABACB7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SCORING / accountability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7759072C-F693-4180-B451-CA8E1BC2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601F9E2D-505F-46B8-9342-174EB250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7BB5C8A2-28D7-48B9-87E4-518347E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Is AI use construct-relevant in the target domain?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evidence of learner contribution is needed?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Who is accountable for an automated decision?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C60B59F8-A9D9-44B7-A7B5-39A6F14D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0946F85C-76AD-4514-9B19-02E06D0D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Technology/AI Assessment Position.</a:t>
            </a:r>
          </a:p>
        </p:txBody>
      </p:sp>
    </p:spTree>
    <p:extLst>
      <p:ext uri="{BB962C8B-B14F-4D97-AF65-F5344CB8AC3E}">
        <p14:creationId xmlns:p14="http://schemas.microsoft.com/office/powerpoint/2010/main" val="258226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0435A80-1364-4A44-B8EE-BCB002C6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67a22d684470b">
            <a:extLst>
              <a:ext uri="{96DAC541-7B7A-43D3-8B79-37D633B846F1}">
                <asvg:svgBlip xmlns:asvg="http://schemas.microsoft.com/office/drawing/2016/SVG/main" r:embed="Rc32f2873c9a241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ED1C594-C27A-4BE9-BC67-0A233A53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PROFESSIONAL DEVELOPMENT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391F49-15B3-42C7-9F4D-BAB8F615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Professional Development Is a Continuing Evidence Practice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235C5C7-7FC7-4779-89EB-ED98A4F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B6C93AF-F8B0-4278-8A4C-8D8913A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8.3, pp. 81–83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68DFEF03-1C79-47E0-BFAA-43A67490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E4B6C63-AFF3-4284-AB2B-790D2957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969EC6B0-D59E-42FE-A7EC-4A198CD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A9B7E1FB-A873-4DC9-9BA4-B792C1E9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Design a sustainable pathway for continued assessment learning and collaboration.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D125EA51-B0C3-451B-A55B-C9F0E0BB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FCFB3850-BF6E-476A-A84A-03F6AD8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3FD0AC0D-FAE3-49BB-842F-04B2E6FA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QUESTION practice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1B4A92F3-EDAE-42A9-9920-017205A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23A596EE-06D1-4B8A-81AF-1667145E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4163F805-39BA-4CCF-8612-7077EE77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READ selectively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7812CB4D-9B3B-4819-ADC3-9C2A40F7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D32B52AC-6FE0-47E8-9FCB-C3CB2627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EF8A682C-19FE-4596-9BB7-AC8A5285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DESIGN and critique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8F3B9EA9-F34B-4067-9C7F-5A94FBD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BDD1CB79-6767-4070-911C-1A3F3002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90DCF0F0-A17E-4954-AB7E-1E6A98A6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PILOT • document • share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6CC64067-F43B-44B1-B7B2-93E6D5D5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ECA78EF-F88F-4EDB-A531-018C98EA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3B7B4183-9337-4318-A06E-03FBA6FB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capability needs continued deliberate practice?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Who could become your critical friend after the course?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8ACAF639-3F14-454F-8CC9-1D6D98A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249C8CDF-DFE9-43F4-A6AF-8EDEFE3E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Professional Development Commitment.</a:t>
            </a:r>
          </a:p>
        </p:txBody>
      </p:sp>
    </p:spTree>
    <p:extLst>
      <p:ext uri="{BB962C8B-B14F-4D97-AF65-F5344CB8AC3E}">
        <p14:creationId xmlns:p14="http://schemas.microsoft.com/office/powerpoint/2010/main" val="1230766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30954693-D727-4592-B8B8-70973DB8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c8572a5c84a88">
            <a:extLst>
              <a:ext uri="{96DAC541-7B7A-43D3-8B79-37D633B846F1}">
                <asvg:svgBlip xmlns:asvg="http://schemas.microsoft.com/office/drawing/2016/SVG/main" r:embed="R8cd57dc0840b42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2E0120C-2172-484C-AC03-2EBC937C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DESIGN DOSSIER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34FBE2-894A-4349-9660-E130923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The Design Dossier Must Show Decisions, Evidence, and Change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50D5F50-6A12-49C4-A2C7-959BB37D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3DD5FAE8-DF0C-48D2-8DCE-D3607125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final-dossier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8BEC0D4-B44C-4C85-B388-18128D93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FA36774-1487-4340-8791-97DA56F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08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8AB8F926-251F-4D9E-ACE6-D3851951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3E348C53-D7AD-4E32-BF15-2E8E872B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086C0F27-D7D7-47EF-A8F4-9ADA9F40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CONTEXT &amp; CLAIMS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6F0F0B94-0618-428C-8975-A5ED2C1D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DESIGN ARTIFACTS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7400689B-5BA4-4D3C-B025-B164E366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EC10DF7C-C73B-488A-99F0-E7C5B228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3CB81F78-F438-4A53-8B85-83379E4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2E331014-2372-48F9-A889-7433034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EVIDENCE &amp; CRITIQUE</a:t>
            </a:r>
          </a:p>
        </p:txBody>
      </p:sp>
    </p:spTree>
    <p:extLst>
      <p:ext uri="{BB962C8B-B14F-4D97-AF65-F5344CB8AC3E}">
        <p14:creationId xmlns:p14="http://schemas.microsoft.com/office/powerpoint/2010/main" val="18300270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5568E82-F505-4BFF-B99C-F16AC84F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07e0881d246ad">
            <a:extLst>
              <a:ext uri="{96DAC541-7B7A-43D3-8B79-37D633B846F1}">
                <asvg:svgBlip xmlns:asvg="http://schemas.microsoft.com/office/drawing/2016/SVG/main" r:embed="R3b48c14bd94b4f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E9780AA-0BC5-4243-B612-409040A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DESIGN DEFENCE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849589-C9DD-408F-BBCA-50125373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A Strong Defence Is a Claim–Evidence–Limitation Argument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CED5C4D-B033-4589-87D1-AF4949FD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DC509A7-64CD-412A-8796-756DDE73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final-defence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3E6F0AB-D6A8-4D22-B057-85C74681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ACD8E90-8D29-410B-B054-A93033D2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73E813F8-9386-4BD5-B86F-C0013D97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E53FA77F-A12E-4BD8-91AC-3A43DDDF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E8EAED30-9D89-4419-B637-2F028E78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8CFD8843-CD2D-4891-9DB3-6C334DD6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PROBLEM &amp; STAKES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0A8D5CFD-E491-4FD5-9BE5-82B8D3B4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C0490CFD-3160-47B6-B848-A9CA1778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BA19123D-734A-4BD4-B236-4B3721BB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DESIGN LOGIC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2EFF9E07-0E27-4298-8587-A50AE12A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48067E1E-2457-48C7-ACBF-7102552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6B94AE49-2AB1-4A39-94D2-C8B484FD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EVIDENCE &amp; REVISION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0577633D-527B-41CA-8C4A-73A46862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E60D28E4-DDE5-4CC7-ADBB-D2A4FC62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CBD1A7EA-A2CE-4436-B1DD-CA5C1C1D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USE • LIMIT • NEXT TEST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22ED62E5-4D37-485B-8250-B851E6A5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Structure the presentation around the assessment problem, solution logic, evidence, trade-offs, and limits.</a:t>
            </a:r>
          </a:p>
        </p:txBody>
      </p:sp>
    </p:spTree>
    <p:extLst>
      <p:ext uri="{BB962C8B-B14F-4D97-AF65-F5344CB8AC3E}">
        <p14:creationId xmlns:p14="http://schemas.microsoft.com/office/powerpoint/2010/main" val="17192692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2EB8FD7-28D2-4AAA-B5C0-94E9801B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affb4b305416b">
            <a:extLst>
              <a:ext uri="{96DAC541-7B7A-43D3-8B79-37D633B846F1}">
                <asvg:svgBlip xmlns:asvg="http://schemas.microsoft.com/office/drawing/2016/SVG/main" r:embed="R4afb95f2f9b746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1617E1D-67DC-471B-B93C-A80076DA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ADL REVIEW LENSES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DA0974-3A7E-471C-AF45-FA4583F5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Review the Defence through Five ADL Lenses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BA3EA4D-87A0-48D3-B84C-F7635F2E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D3E9716-B313-4ADF-8DFF-5D28BBB5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final-review framework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B710B7B-6A70-420A-B333-350EB580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B5133A1-6277-4960-8430-834C958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0DF18E43-A746-477E-81EA-E8300C3E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ACC69DCF-DB1B-4764-9EEF-AE077054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89E334CD-D588-45A7-8412-AAD0CD82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FRAME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E0E58D9F-AAB4-4116-BB2B-C003D539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8A7184CB-BC92-4E37-ADBC-35A3A6B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D89E9C42-E030-4AD9-8918-B42813F8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REPRESENT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0B68F2EA-E040-4F4E-A91C-721061F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760B9546-05FE-4154-BC46-3AC4D9D4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4D0E83DE-2B36-48E1-85FD-18440E09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GENERATE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D567B669-5AE8-4253-B19D-7E4127B2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Provide common criteria for evaluating integrated assessment design reasoning.</a:t>
            </a:r>
          </a:p>
        </p:txBody>
      </p:sp>
    </p:spTree>
    <p:extLst>
      <p:ext uri="{BB962C8B-B14F-4D97-AF65-F5344CB8AC3E}">
        <p14:creationId xmlns:p14="http://schemas.microsoft.com/office/powerpoint/2010/main" val="16088237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AC1175B-7BEC-461F-BD9D-C128339C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e94ca5c08496a">
            <a:extLst>
              <a:ext uri="{96DAC541-7B7A-43D3-8B79-37D633B846F1}">
                <asvg:svgBlip xmlns:asvg="http://schemas.microsoft.com/office/drawing/2016/SVG/main" r:embed="R59800b2945844f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904FBA9-9D39-4222-9486-530AF091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FINAL DEFENCE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1DAC62-C47E-48A0-8655-9FFCD3B5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Final Design Defence: Round 1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B5BB9C8-D3BA-4653-AD0C-A1B891F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A1BF0B10-F556-44F1-8E02-09812004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team defence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92F8BA86-7BE5-4B4C-8499-89CAFD2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FF17F5F-E3F4-470B-99A4-53117E2B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9CA0F81E-24EF-4E3D-8DD5-71CC0853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AC34286F-5A81-4841-8E80-704B437C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84940CDE-A4B0-4DD2-B2C3-06DCFC5F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PRESENT claim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0DD1F710-C208-4606-B045-5ECC389C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CITE evidence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73718898-B260-485C-A0B1-732A62BA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A696365F-C2C7-4CBC-B45B-75B59B8E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2FAB8ED8-5D49-4A8A-BB10-213614D5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551874B4-C008-482C-9CEF-825B0ABC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RESPOND to challenge</a:t>
            </a:r>
          </a:p>
        </p:txBody>
      </p:sp>
    </p:spTree>
    <p:extLst>
      <p:ext uri="{BB962C8B-B14F-4D97-AF65-F5344CB8AC3E}">
        <p14:creationId xmlns:p14="http://schemas.microsoft.com/office/powerpoint/2010/main" val="440899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3C3AED6-422C-4271-BFB2-546B2E07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cbe457ac045b1">
            <a:extLst>
              <a:ext uri="{96DAC541-7B7A-43D3-8B79-37D633B846F1}">
                <asvg:svgBlip xmlns:asvg="http://schemas.microsoft.com/office/drawing/2016/SVG/main" r:embed="Re37892bd33d341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C64DF8C-123E-4559-8325-6111E1A8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FINAL DEFENCE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13CFF0-8079-4ACF-95FA-9AB65708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Final Design Defence: Round 2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9B56A09-0C5C-4FAE-997D-CC77E1AC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5D8B181-AD4B-4E24-A6D7-3242450D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team defence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48F5FD7-4AB4-4F4D-AE14-F97411D6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136F665-A406-4193-A6D4-00B7451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9CDFA1C8-A0F8-4963-80C7-9CA5630D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10448801-2B7F-4F68-A1C1-2C60FE68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Enable the remaining four teams to present and defend Prototype 3 under the same protocol.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A57EC8E5-CEE6-498D-9E7F-9F91BA82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576BA279-AD68-4434-BA0E-D915719E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06923CE0-B539-461B-849F-13C1304E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PRESENT claim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0A65E23D-3526-4FC8-8067-6E7E4A3F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8DCD3F9D-B965-4405-BBDF-A8F38C7F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3F186C46-BEE2-4D40-BB60-4CC465A1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CITE evidence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5E0DB78E-933A-4ADC-834D-9C949234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4FA6E99D-90E4-4E57-88C3-E5E0BD16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C93BD134-E8AE-428F-96D3-49A6C22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RESPOND to challenge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1FAB257B-8377-49CB-A2D9-9809E68F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A491E700-699A-4399-A893-3EA51B40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D17245B4-1026-4CCF-8634-9AFD5489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ACKNOWLEDGE limit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44988B9-5A6E-4598-B6F6-9CB8AAE8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C61DD36E-2940-47B4-9FD8-3F722FDB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9F6652C6-C4BE-4C11-BE77-93BC642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Which assumption is most vulnerable?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How does the system protect an affected learner?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What evidence would be collected next?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24285252-C054-4D0F-9924-F66ADC72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67F3332B-0223-4DFC-94EA-24DDE8C2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Final Defence Evidence: Teams 5–8.</a:t>
            </a:r>
          </a:p>
        </p:txBody>
      </p:sp>
    </p:spTree>
    <p:extLst>
      <p:ext uri="{BB962C8B-B14F-4D97-AF65-F5344CB8AC3E}">
        <p14:creationId xmlns:p14="http://schemas.microsoft.com/office/powerpoint/2010/main" val="943836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831FE90-3B51-4C92-8FD1-50BF1B9F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4c41e0ab349a5">
            <a:extLst>
              <a:ext uri="{96DAC541-7B7A-43D3-8B79-37D633B846F1}">
                <asvg:svgBlip xmlns:asvg="http://schemas.microsoft.com/office/drawing/2016/SVG/main" r:embed="Rb3ae2670a8fd4e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A667F6D-8710-4D36-98B6-C6FECD67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DEFENCE RESPONSE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DF4C21-EA55-463E-898B-AED721B7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Respond to the Panel with a Final Decision Memo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AD7E409-6467-4B0D-B7B0-F3763779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A8BB639-07AD-4408-8DD2-D584476E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post-defence synthesis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1C12FDC-AE31-4694-849D-B7EF1DC9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21A0E55-DB77-4365-8BFA-9D20CB82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13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B8F67633-3772-4B6D-877E-57C6BD20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D5EECDFF-707B-4700-B5B1-49F7DA17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Document how teams accept, qualify, reject, or defer panel challenges.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18FD63DB-4272-4D2F-B968-862C5D9C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915B4F90-D526-466B-9DA5-91007397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CF288590-A65D-48B3-949D-01086ADD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CHALLENGE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E5B0888D-0EA7-4807-94DF-A34D38FD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4E963E56-B825-448F-A82C-3EBABFB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8F3DCED4-58C9-4547-9C30-472B9DCC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EVIDENCE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AAAACA56-6F86-4894-AFD3-55B3DFEF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1CACA48E-F0DE-40F4-8F2E-4F1ABDBB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EBA43C58-3243-4674-AF82-10242E71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DECISION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12B075B6-8248-4A8C-B005-B2B0D542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53AFCB2A-C1D3-4880-BB4B-2A3CF930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7C4D0D9F-8674-451C-A8AD-49B9528F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REVISION / USE BOUNDARY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CC9D4A51-4B2E-45C0-B561-205510D5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CC157277-E5F8-4B3B-A41D-C8C83E4F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63180382-E446-42BC-916A-371C248D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challenge changes the system?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only requires clearer communication?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will be monitored after implementation?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A70D8741-5302-4589-BD47-F1FE447D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7F01F43F-A7A6-48B8-91D1-A6C5B2AA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Final Decision Memo.</a:t>
            </a:r>
          </a:p>
        </p:txBody>
      </p:sp>
    </p:spTree>
    <p:extLst>
      <p:ext uri="{BB962C8B-B14F-4D97-AF65-F5344CB8AC3E}">
        <p14:creationId xmlns:p14="http://schemas.microsoft.com/office/powerpoint/2010/main" val="14289213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0D40F5D-5712-4191-BE70-49DC42E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43775a927447b">
            <a:extLst>
              <a:ext uri="{96DAC541-7B7A-43D3-8B79-37D633B846F1}">
                <asvg:svgBlip xmlns:asvg="http://schemas.microsoft.com/office/drawing/2016/SVG/main" r:embed="R4ccc3b1536324e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DF1587E-B46C-4E68-AC24-3D36204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TRANSFER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D801AB-B330-47AD-9544-35B6D59C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Transfer Challenge: Redesign under a Changed Context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FF398BA-E38F-4FC4-BD78-AE90794D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AB33ADC-0EF6-4BC8-973E-B54C9A8B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near-transfer design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9E20EE6-8314-41D9-BB28-1AA08744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13C0502-655C-486A-BE0A-82A19C6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5982A693-7A38-4162-90D3-53BE252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60E1965F-2C39-4C5F-9DC3-BB425EAE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Test whether teams can adapt design reasoning when learners, stakes, resources, or technology change.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B5FC4280-DAA5-4F81-8B47-FDA6EC84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80FE8808-A6C5-49AD-9BDD-B8B9D135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2EABE0D8-D4BB-42CF-B0D6-29A1A2E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PRESERVE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6330409E-5016-477E-AC51-05DB77E9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21DAF6B8-F20B-44C3-863A-C9A0821E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E5F3C997-F68A-4F58-8E40-32F98AA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INVALIDATE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0E5D161-65EE-4E46-9B7E-C9EBC82F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2824F125-9B36-4C10-B65A-813A16FA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F0A17F76-2CA7-4365-98B6-022B60FB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REDESIGN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6EBCD1C4-437A-4236-8D67-0964C9A1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12F9859A-5469-4C28-A74E-9C402BD9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0AF3A8F9-BD3F-4FEA-BB6E-BD33ECD8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JUSTIFY transfer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A368596E-0B0B-4E8F-8E95-C57190CB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27687BC-D049-49F1-97C4-28A9635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44A2B461-DE96-4924-91BE-D8FBE050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design principle transfers?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Which feature was context-bound?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new consequence appears?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C14B22E2-5A15-47EA-99EB-D34C0CFA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08C469A1-A9B9-4562-852D-EF5EF072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Team ADL Transfer Map.</a:t>
            </a:r>
          </a:p>
        </p:txBody>
      </p:sp>
    </p:spTree>
    <p:extLst>
      <p:ext uri="{BB962C8B-B14F-4D97-AF65-F5344CB8AC3E}">
        <p14:creationId xmlns:p14="http://schemas.microsoft.com/office/powerpoint/2010/main" val="20675387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6F62E6A-C0DD-41D0-A04C-8D4B620F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ddca9ae8343aa">
            <a:extLst>
              <a:ext uri="{96DAC541-7B7A-43D3-8B79-37D633B846F1}">
                <asvg:svgBlip xmlns:asvg="http://schemas.microsoft.com/office/drawing/2016/SVG/main" r:embed="Re45316625e0f4a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3DF85AEF-F388-4BC4-BBE3-B13D6AE4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ARTIFACT TIMELINE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011C22-7614-4F7C-AFFA-6F82E858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Trace Development across the Artifact Timeline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149C707-624B-45FA-BF8F-5CDA467E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99FC765-0616-4E31-9738-ACEC554B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longitudinal reflection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BA5B2BD-B44D-497B-BF1B-0455AAA2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7429B47-7042-4C91-A635-8496B11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19F13908-31C6-46D5-9135-D241E9FA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BF44B075-3870-49C2-A7AE-6FC52CA0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6D15D3AD-8112-4576-BE07-7D1DB082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310FE43F-AEA3-44AD-85A4-D1FE8C46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EARLIER assumption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F431F3EE-CF09-4D8F-A530-84FDFDD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A9671ADB-3D68-4855-92CB-771F8E8C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F293B9DA-CB87-4369-8B09-5A583D8C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TRIGGER / resource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82C9FD9D-1144-43E4-9E3C-49683FB8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6D8BA84E-2CBC-4CD9-8042-DF26549B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0A7960A6-9D21-46FA-8F94-BE31FAC0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REVISED reasoning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7AFAAADD-4AEF-4362-9A0C-3FBEA248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45FC4327-8A9F-4B99-9F10-C5F64C78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6F47088A-8C3B-4294-9DC7-C8726D1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EVIDENCE and tension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F4FBC306-6FA3-49CF-8F86-EE62EBBE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Use versioned artifacts to identify substantive changes in design reasoning.</a:t>
            </a:r>
          </a:p>
        </p:txBody>
      </p:sp>
    </p:spTree>
    <p:extLst>
      <p:ext uri="{BB962C8B-B14F-4D97-AF65-F5344CB8AC3E}">
        <p14:creationId xmlns:p14="http://schemas.microsoft.com/office/powerpoint/2010/main" val="17779293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69C38F1-3075-4292-872D-B7FE5386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85739341f4516">
            <a:extLst>
              <a:ext uri="{96DAC541-7B7A-43D3-8B79-37D633B846F1}">
                <asvg:svgBlip xmlns:asvg="http://schemas.microsoft.com/office/drawing/2016/SVG/main" r:embed="R388d41d4f97b49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C589184-EF41-493C-8A5F-468B3052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ADL SYNTHESIS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47FAF6-6919-45C8-88C7-D10C5644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ADL Appears as Coordinated, Situated Design Capability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5557136-11B2-4A74-8872-E864C516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996E571-6BCA-418A-B386-BEA7363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theoretical synthesis extending Phakiti &amp; Leung (2024)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10C3887-5B10-4FA8-BA29-49B94B4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02896E6-498A-43CF-BCFE-2DAD6B8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07D4E3F3-B8E9-44EF-973D-1372ABDC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F030A598-5C97-4551-B6A3-2E8A2BD0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E3C7AD28-96EC-43A1-8AB7-C0B4F0A5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23880BFE-8C02-4D90-80E5-A95F8696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FRAME &amp; REPRESENT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F2A25387-F4CF-454D-A11E-791A605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CFA0DC3A-B66E-43CA-9090-AD2EBDA6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FCD417C5-DFC8-467B-9F7E-4A881694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GENERATE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F953EB57-CF10-4893-9270-E5E172CC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72F97A38-5740-4A2A-9D57-EBC088AE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F399DC3A-AB1D-4CE7-8657-4ED69F36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EVALUATE &amp; JUSTIFY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6A5EA5DD-C24D-49A6-8048-8685EE86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D307110B-936E-4561-81AD-D4763676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B2488EED-D413-4418-8E94-7550E14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REDESIGN • REFLECT • TRANSFER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D332CF89-C628-43B1-B316-C7BFCAB0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Consolidate a provisional conceptual model of Assessment Design Literacy.</a:t>
            </a:r>
          </a:p>
        </p:txBody>
      </p:sp>
    </p:spTree>
    <p:extLst>
      <p:ext uri="{BB962C8B-B14F-4D97-AF65-F5344CB8AC3E}">
        <p14:creationId xmlns:p14="http://schemas.microsoft.com/office/powerpoint/2010/main" val="2094085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D2E3D44-9A5E-4FDD-A2EE-9420030C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52ecb09f64d97">
            <a:extLst>
              <a:ext uri="{96DAC541-7B7A-43D3-8B79-37D633B846F1}">
                <asvg:svgBlip xmlns:asvg="http://schemas.microsoft.com/office/drawing/2016/SVG/main" r:embed="R78abf79d2f824f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45D9E38-4677-468A-B607-1966619D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INDIVIDUAL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E8307B-EC3B-437E-9654-A0DD63A6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Write the Individual ADL Development Narrative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810FC2E-8EA5-4FC7-B314-45E66284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21CE1F6-F25E-42B6-9606-31D8B1E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final individual research and learning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6F0B956-AF33-4104-929B-2E574C52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463CB8E-A83E-440D-83E2-E1EC4BA0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C167CDA6-330C-4B0F-9BAA-8BFDDD70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077C2607-9087-42E6-8A21-5D50135F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Elicit a concise, artifact-grounded account of change, mechanism, and remaining need.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235C5BE9-5E5A-4A2B-BFA5-6694E762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4B69551A-833C-42FD-ABE0-1904D074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DE77E23-4F3E-43BF-B014-958AD71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DEVELOPMENT claim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932AF705-2E4B-42C7-B5C5-DE17AD31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F0C139E-9790-4FC9-AEE0-28ACF318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C4BA53CC-F21A-417B-8839-FC5B6829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THREE artifact warrants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922DE458-8D09-45E4-879E-4A9AE846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FD3E133F-78C5-46B4-B661-5F9B08FD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6FED6111-9B43-42F3-80F4-937E4750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CHANGE mechanism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89F60E64-F443-414E-BC31-64D1D515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697CB4E3-F6A3-4144-BC10-2AD73F5E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EE2079F4-16B6-46A4-BEA4-1609DF19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LIMIT and transfer commitment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BF5A65F5-5AE2-4195-B7E3-58B59631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4689DF00-0A6F-4248-9F95-04D5F6F9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AD20D978-31F4-40DD-ABC9-A46FCD1D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What changed in the structure of your reasoning?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What evidence challenges your own narrative?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What remains fragile?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529F2265-1443-45AD-BBFA-F795ED9C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01756FA2-2D21-4383-8FC0-F1D4BBAD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Individual ADL Development Narrative.</a:t>
            </a:r>
          </a:p>
        </p:txBody>
      </p:sp>
    </p:spTree>
    <p:extLst>
      <p:ext uri="{BB962C8B-B14F-4D97-AF65-F5344CB8AC3E}">
        <p14:creationId xmlns:p14="http://schemas.microsoft.com/office/powerpoint/2010/main" val="4136592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4CD23B6-F644-4DED-8DF8-0E555832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ee06b44be40b2">
            <a:extLst>
              <a:ext uri="{96DAC541-7B7A-43D3-8B79-37D633B846F1}">
                <asvg:svgBlip xmlns:asvg="http://schemas.microsoft.com/office/drawing/2016/SVG/main" r:embed="R1521c239e6c149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ED9D464-CEC7-4CB9-9C0D-85A69713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REFLECTIVE DIALOGUE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979AE4-30E1-438B-81AC-2ABFC1AD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Structured Pair Dialogue: How Did Change Happen?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FE4C873-DB59-4D8B-8CBF-6EFB6D48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5D3642D2-DB8F-4CC8-9281-741FF74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reflective dialogue; research use subject to approval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8E995AC-4E66-4134-A4A2-2798FEA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0BF9AE8-C613-43E8-BFBD-CF90F010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3AD87618-D073-4FE5-B44C-8DA460F8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082B19B6-29B9-4B36-AB23-C25902D7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Surface developmental mechanisms, tensions, and contextual influences through peer interviewing.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7779AEE0-1085-4B22-B821-64486BFD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EA7DF9F0-7538-4301-9730-AF23748C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A02AE056-1CAB-4D22-8E98-6EAD6A6A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ASK neutrally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977AD102-64E9-43A6-AF20-D1B895CB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9A16F0F6-CAFD-4E34-89AA-21F26D1C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A89D3590-19FB-4D9C-A999-38A86771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PROBE artifact evidence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B725BBD6-67FF-47ED-AB3B-E07F8EC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0E9F9EA1-D124-4DA7-9B0D-76C3951F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820041BE-B88D-4252-9E71-6564DD0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NOTICE contradiction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60AF4FC4-2D22-4349-9C47-BA73FE7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A9ACB300-59C1-4A79-8F9E-0F586341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1FA66110-F610-4A7E-82B0-DEEADEE6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WRITE post-dialogue memo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FDEFE3A6-FE67-4ADD-950D-0F6465E2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95A7B51-C284-4B7A-AC1F-D9802660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940B6CD7-3235-4DF6-9E2C-BD5CAC67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event changed a design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alternative explanation exists?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did collaboration hide or reveal?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AC829138-9859-4BC9-B871-1073C9E3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2ECE65AF-0C98-4290-9788-07C62723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Post-Dialogue Reflection Memo.</a:t>
            </a:r>
          </a:p>
        </p:txBody>
      </p:sp>
    </p:spTree>
    <p:extLst>
      <p:ext uri="{BB962C8B-B14F-4D97-AF65-F5344CB8AC3E}">
        <p14:creationId xmlns:p14="http://schemas.microsoft.com/office/powerpoint/2010/main" val="4231452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0163F59-B75A-4828-85A6-ED753844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7cc8b0aec43fb">
            <a:extLst>
              <a:ext uri="{96DAC541-7B7A-43D3-8B79-37D633B846F1}">
                <asvg:svgBlip xmlns:asvg="http://schemas.microsoft.com/office/drawing/2016/SVG/main" r:embed="Rf84bf2310aaa48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1C1A4A4-9E33-4580-94F8-06C08F34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PROFESSIONAL TRANSFER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F5E323-F3AE-421C-8E64-84D298A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Leave with a 90-Day Assessment Design Practice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C308C71-C7BF-496F-909A-6DF0451F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6D442359-B6DE-40C3-8888-07E42E88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Professional development synthesis; Section 8.3, pp. 81–83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0B749B5D-6233-44B8-A5D2-61D6ACE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6AC3E5F-EC4C-4890-A59E-EDF89F0B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19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32329280-8DE4-44B5-A1BE-F404C4F3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14818E85-D5F6-44F2-AEC7-A5BE141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C6173178-E884-4CBF-8FF6-8968EDE9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ONE authentic problem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3AB860DC-1B2A-4CD5-B97D-6EE41D1A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4358B0F5-BB92-432C-8F35-4727271A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DA49E494-21E2-4281-AC98-729A902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ONE design experiment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7D4B9281-F228-491C-A266-7A220374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BB9C9E90-A5EC-4BB4-885F-5F924674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105C09A-606B-4C44-91F1-6F75D89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ONE evidence source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83AAD4D4-40F9-410E-BA7C-33364673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Convert course learning into a feasible enquiry-and-design cycle in professional practice.</a:t>
            </a:r>
          </a:p>
        </p:txBody>
      </p:sp>
    </p:spTree>
    <p:extLst>
      <p:ext uri="{BB962C8B-B14F-4D97-AF65-F5344CB8AC3E}">
        <p14:creationId xmlns:p14="http://schemas.microsoft.com/office/powerpoint/2010/main" val="6048295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B8E20A8-D0D2-41A6-B2F1-2748AF5B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7590fae1c411a">
            <a:extLst>
              <a:ext uri="{96DAC541-7B7A-43D3-8B79-37D633B846F1}">
                <asvg:svgBlip xmlns:asvg="http://schemas.microsoft.com/office/drawing/2016/SVG/main" r:embed="R926fc1c420254a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BE452DF-B19C-4110-B04C-0B7A20D6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COURSE CLOSE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AA2F6C-3ADF-4CEA-BC8A-CDB861CB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The Course Ends; the Design Cycle Continues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A38E88B-DE05-4335-B547-7BDD155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B295D31-BA81-496E-8282-F5008D1C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8.4, pp. 83–84; course synthesis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015E1DB5-2715-4A07-A46F-92B4C0C7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9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E7CACE6-2EEB-4DB3-9917-9B3E573A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BCFDB25B-E010-4602-B489-133BBEB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A690CC7A-02A5-4325-A9CC-314AA67F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674499E4-F949-4CD9-9E99-B2CC484F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CONTEXT before format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E3C0895C-FF81-4958-9226-FB2F6EC8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A7FE9C6B-3763-4DA4-98A6-E2D1383B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E6B22128-0D24-4FD9-8157-C4807C76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EVIDENCE before score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5AF76553-1089-45ED-ADF7-80AC604C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343F2A32-13E4-4725-8571-40122B58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CA291EE5-A9BD-4D58-8327-78DC7ABB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JUSTIFICATION before certainty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093D3AE0-3BA9-49CB-BA3B-F56CD1C5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Resolve the test-user-to-assessment-designer trajectory and close with responsibility rather than mastery claims.</a:t>
            </a:r>
          </a:p>
        </p:txBody>
      </p:sp>
    </p:spTree>
    <p:extLst>
      <p:ext uri="{BB962C8B-B14F-4D97-AF65-F5344CB8AC3E}">
        <p14:creationId xmlns:p14="http://schemas.microsoft.com/office/powerpoint/2010/main" val="285237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2026-07-13T15:46:57.4490000Z</dcterms:created>
  <dcterms:modified xsi:type="dcterms:W3CDTF">2026-07-13T15:46:57.4490000Z</dcterms:modified>
</coreProperties>
</file>