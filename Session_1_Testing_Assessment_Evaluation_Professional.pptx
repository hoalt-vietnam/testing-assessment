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2D5E"/>
          </a:solidFill>
          <a:ln w="12700">
            <a:solidFill>
              <a:srgbClr val="082D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32004" cy="6858000"/>
          </a:xfrm>
          <a:prstGeom prst="rect">
            <a:avLst/>
          </a:prstGeom>
          <a:solidFill>
            <a:srgbClr val="D7A442"/>
          </a:solidFill>
          <a:ln w="12700">
            <a:solidFill>
              <a:srgbClr val="D7A4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502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 RIA–VUNG TAU UNIVERSITY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86384" y="82296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82D5E"/>
                </a:solidFill>
              </a:rPr>
              <a:t>A TOUCH OF EXCELLENCE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8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and Assessment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08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English Language Teaching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777240" y="2971800"/>
            <a:ext cx="4572000" cy="0"/>
          </a:xfrm>
          <a:prstGeom prst="line">
            <a:avLst/>
          </a:prstGeom>
          <a:noFill/>
          <a:ln w="12700">
            <a:solidFill>
              <a:srgbClr val="12549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71800" y="2962656"/>
            <a:ext cx="347472" cy="0"/>
          </a:xfrm>
          <a:prstGeom prst="line">
            <a:avLst/>
          </a:prstGeom>
          <a:noFill/>
          <a:ln w="38100">
            <a:solidFill>
              <a:srgbClr val="D7A4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3246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8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MTESOL Course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08760" y="40233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D5E"/>
                </a:solidFill>
              </a:rPr>
              <a:t>Le Thanh Hoa, PhD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4315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82D5E"/>
                </a:solidFill>
              </a:rPr>
              <a:t>Course Instructor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4846320"/>
            <a:ext cx="5577840" cy="0"/>
          </a:xfrm>
          <a:prstGeom prst="line">
            <a:avLst/>
          </a:prstGeom>
          <a:noFill/>
          <a:ln w="10160">
            <a:solidFill>
              <a:srgbClr val="1254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07492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082D5E"/>
                </a:solidFill>
              </a:rPr>
              <a:t>Institute of Graduate Studies, Ba Ria–Vung Tau University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2011680" y="5797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82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to the course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32520" y="2743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2D5E"/>
                </a:solidFill>
              </a:rPr>
              <a:t>ASSESSMENT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823960" y="3127248"/>
            <a:ext cx="2011680" cy="0"/>
          </a:xfrm>
          <a:prstGeom prst="line">
            <a:avLst/>
          </a:prstGeom>
          <a:noFill/>
          <a:ln w="12700">
            <a:solidFill>
              <a:srgbClr val="D7A4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34290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82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☑ Construct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641080" y="3776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82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☑ Task evidence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8641080" y="41239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82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☑ Scoring criteria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8641080" y="44714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82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☑ Fairness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8641080" y="48188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82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☑ Feedback</a:t>
            </a:r>
            <a:endParaRPr lang="en-US" sz="12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2D5E"/>
          </a:solidFill>
          <a:ln w="12700">
            <a:solidFill>
              <a:srgbClr val="082D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32004" cy="6858000"/>
          </a:xfrm>
          <a:prstGeom prst="rect">
            <a:avLst/>
          </a:prstGeom>
          <a:solidFill>
            <a:srgbClr val="D7A442"/>
          </a:solidFill>
          <a:ln w="12700">
            <a:solidFill>
              <a:srgbClr val="D7A4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AIMS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46120" y="896112"/>
            <a:ext cx="5715000" cy="0"/>
          </a:xfrm>
          <a:prstGeom prst="line">
            <a:avLst/>
          </a:prstGeom>
          <a:noFill/>
          <a:ln w="12700">
            <a:solidFill>
              <a:srgbClr val="D7A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024128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C6670"/>
                </a:solidFill>
              </a:rPr>
              <a:t>What students should be able to do by the end of the course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868680" y="14264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14904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40280" y="1453896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Understand key concepts and principles in language testing and assessment.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2240280" y="1856232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299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20939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205740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Distinguish between different purposes of assessment and their appropriate uses.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2240280" y="2459736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6334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🧩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26974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40280" y="2660904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Analyse links between learning outcomes, constructs, tasks, evidence, scoring, and feedback.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2240280" y="3063240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2369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91640" y="33009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40280" y="326440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Design fair and context-sensitive English language assessment tasks for specific learners.</a:t>
            </a:r>
            <a:endParaRPr lang="en-US" sz="1520" dirty="0"/>
          </a:p>
        </p:txBody>
      </p:sp>
      <p:sp>
        <p:nvSpPr>
          <p:cNvPr id="22" name="Shape 20"/>
          <p:cNvSpPr/>
          <p:nvPr/>
        </p:nvSpPr>
        <p:spPr>
          <a:xfrm>
            <a:off x="2240280" y="3666744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8404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91640" y="39044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40280" y="386791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Develop clear scoring criteria and rating scales for language performance.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2240280" y="4270248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4439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91640" y="45079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240280" y="4471416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Use assessment results to support learning, feedback, and teaching decisions.</a:t>
            </a:r>
            <a:endParaRPr lang="en-US" sz="1520" dirty="0"/>
          </a:p>
        </p:txBody>
      </p:sp>
      <p:sp>
        <p:nvSpPr>
          <p:cNvPr id="30" name="Shape 28"/>
          <p:cNvSpPr/>
          <p:nvPr/>
        </p:nvSpPr>
        <p:spPr>
          <a:xfrm>
            <a:off x="2240280" y="4873752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0474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691640" y="51114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240280" y="507492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Reflect critically and build an assessment design portfolio demonstrating professional growth.</a:t>
            </a:r>
            <a:endParaRPr lang="en-US" sz="1520" dirty="0"/>
          </a:p>
        </p:txBody>
      </p:sp>
      <p:sp>
        <p:nvSpPr>
          <p:cNvPr id="34" name="Shape 32"/>
          <p:cNvSpPr/>
          <p:nvPr/>
        </p:nvSpPr>
        <p:spPr>
          <a:xfrm>
            <a:off x="2240280" y="5477256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6126480"/>
            <a:ext cx="10835640" cy="0"/>
          </a:xfrm>
          <a:prstGeom prst="line">
            <a:avLst/>
          </a:prstGeom>
          <a:noFill/>
          <a:ln w="12700">
            <a:solidFill>
              <a:srgbClr val="082D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62544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Le Thanh Hoa, PhD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Course Instructor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3794760" y="62910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D5E"/>
                </a:solidFill>
              </a:rPr>
              <a:t>Testing and Assessment in English Language Teaching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189720" y="6291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A442"/>
                </a:solidFill>
              </a:rPr>
              <a:t>MTESOL Course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607040" y="647395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670"/>
                </a:solidFill>
              </a:rPr>
              <a:t>Session 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77240" y="5943600"/>
            <a:ext cx="10652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B7785"/>
                </a:solidFill>
              </a:rPr>
              <a:t>Core reading: Phakiti &amp; Leung (2024), Assessment for Language Teaching.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2D5E"/>
          </a:solidFill>
          <a:ln w="12700">
            <a:solidFill>
              <a:srgbClr val="082D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32004" cy="6858000"/>
          </a:xfrm>
          <a:prstGeom prst="rect">
            <a:avLst/>
          </a:prstGeom>
          <a:solidFill>
            <a:srgbClr val="D7A442"/>
          </a:solidFill>
          <a:ln w="12700">
            <a:solidFill>
              <a:srgbClr val="D7A4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PATH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46120" y="896112"/>
            <a:ext cx="5715000" cy="0"/>
          </a:xfrm>
          <a:prstGeom prst="line">
            <a:avLst/>
          </a:prstGeom>
          <a:noFill/>
          <a:ln w="12700">
            <a:solidFill>
              <a:srgbClr val="D7A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024128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C6670"/>
                </a:solidFill>
              </a:rPr>
              <a:t>Session 1: Foundations for assessment design literacy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868680" y="14264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💭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14904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40280" y="1453896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Start from experience: what “assessment” usually means to teachers and learners.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2240280" y="1856232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396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🔎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22037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216712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Clarify three core terms: testing, assessment, and evaluation.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2240280" y="2569464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8529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🧭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29169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40280" y="288036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Identify major purposes of language assessment in ELT contexts.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2240280" y="3282696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566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91640" y="36301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40280" y="359359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Discuss the power, consequences, and ethical responsibility of assessment.</a:t>
            </a:r>
            <a:endParaRPr lang="en-US" sz="1520" dirty="0"/>
          </a:p>
        </p:txBody>
      </p:sp>
      <p:sp>
        <p:nvSpPr>
          <p:cNvPr id="22" name="Shape 20"/>
          <p:cNvSpPr/>
          <p:nvPr/>
        </p:nvSpPr>
        <p:spPr>
          <a:xfrm>
            <a:off x="2240280" y="3995928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2793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🛠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91640" y="4343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40280" y="4306824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Move from being test users towards becoming assessment designers.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2240280" y="4709160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349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82D5E"/>
                </a:solidFill>
              </a:rPr>
              <a:t>Key shift: assessment is not only about scores; it is about evidence, learning, fairness, and decisions.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85800" y="6126480"/>
            <a:ext cx="10835640" cy="0"/>
          </a:xfrm>
          <a:prstGeom prst="line">
            <a:avLst/>
          </a:prstGeom>
          <a:noFill/>
          <a:ln w="12700">
            <a:solidFill>
              <a:srgbClr val="082D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62544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Le Thanh Hoa, PhD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Course Instructor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3794760" y="62910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D5E"/>
                </a:solidFill>
              </a:rPr>
              <a:t>Testing and Assessment in English Language Teaching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89720" y="6291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A442"/>
                </a:solidFill>
              </a:rPr>
              <a:t>MTESOL Course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607040" y="647395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670"/>
                </a:solidFill>
              </a:rPr>
              <a:t>Session 1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2D5E"/>
          </a:solidFill>
          <a:ln w="12700">
            <a:solidFill>
              <a:srgbClr val="082D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32004" cy="6858000"/>
          </a:xfrm>
          <a:prstGeom prst="rect">
            <a:avLst/>
          </a:prstGeom>
          <a:solidFill>
            <a:srgbClr val="D7A442"/>
          </a:solidFill>
          <a:ln w="12700">
            <a:solidFill>
              <a:srgbClr val="D7A4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TESTING, ASSESSMENT, EVALUATION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46120" y="896112"/>
            <a:ext cx="5715000" cy="0"/>
          </a:xfrm>
          <a:prstGeom prst="line">
            <a:avLst/>
          </a:prstGeom>
          <a:noFill/>
          <a:ln w="12700">
            <a:solidFill>
              <a:srgbClr val="D7A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024128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C6670"/>
                </a:solidFill>
              </a:rPr>
              <a:t>Three connected but different concepts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2103120" y="14173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7A442"/>
                </a:solidFill>
              </a:rPr>
              <a:t>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1874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D5E"/>
                </a:solidFill>
              </a:rPr>
              <a:t>Testing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286000"/>
            <a:ext cx="242316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560320"/>
            <a:ext cx="27432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0B1B32"/>
                </a:solidFill>
              </a:rPr>
              <a:t>A formal or structured procedure to measure language performance.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188720" y="36576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i="1" dirty="0">
                <a:solidFill>
                  <a:srgbClr val="5C6670"/>
                </a:solidFill>
              </a:rPr>
              <a:t>Example: a 45-minute grammar and reading test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5806440" y="14173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7A442"/>
                </a:solidFill>
              </a:rPr>
              <a:t>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D5E"/>
                </a:solidFill>
              </a:rPr>
              <a:t>Assessment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74920" y="2286000"/>
            <a:ext cx="242316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560320"/>
            <a:ext cx="27432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0B1B32"/>
                </a:solidFill>
              </a:rPr>
              <a:t>A broader process of collecting and using evidence about learning.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892040" y="36576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i="1" dirty="0">
                <a:solidFill>
                  <a:srgbClr val="5C6670"/>
                </a:solidFill>
              </a:rPr>
              <a:t>Example: feedback on a speaking task or portfolio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9509760" y="14173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7A442"/>
                </a:solidFill>
              </a:rPr>
              <a:t>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549640" y="1874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D5E"/>
                </a:solidFill>
              </a:rPr>
              <a:t>Evaluation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778240" y="2286000"/>
            <a:ext cx="242316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2560320"/>
            <a:ext cx="27432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0B1B32"/>
                </a:solidFill>
              </a:rPr>
              <a:t>A judgement about the value or effectiveness of a course, programme, or system.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595360" y="36576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i="1" dirty="0">
                <a:solidFill>
                  <a:srgbClr val="5C6670"/>
                </a:solidFill>
              </a:rPr>
              <a:t>Example: reviewing whether a course improved speaking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1965960" y="50749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2D5E"/>
                </a:solidFill>
              </a:rPr>
              <a:t>Simple rule: all tests are assessments, but not all assessments are tests.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943600"/>
            <a:ext cx="10652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B7785"/>
                </a:solidFill>
              </a:rPr>
              <a:t>Based on Phakiti &amp; Leung (2024): assessment as a superordinate term; testing as a specific instrument.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85800" y="6126480"/>
            <a:ext cx="10835640" cy="0"/>
          </a:xfrm>
          <a:prstGeom prst="line">
            <a:avLst/>
          </a:prstGeom>
          <a:noFill/>
          <a:ln w="12700">
            <a:solidFill>
              <a:srgbClr val="082D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62544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Le Thanh Hoa, PhD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Course Instructor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3794760" y="62910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D5E"/>
                </a:solidFill>
              </a:rPr>
              <a:t>Testing and Assessment in English Language Teaching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89720" y="6291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A442"/>
                </a:solidFill>
              </a:rPr>
              <a:t>MTESOL Course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607040" y="647395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670"/>
                </a:solidFill>
              </a:rPr>
              <a:t>Session 1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2D5E"/>
          </a:solidFill>
          <a:ln w="12700">
            <a:solidFill>
              <a:srgbClr val="082D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32004" cy="6858000"/>
          </a:xfrm>
          <a:prstGeom prst="rect">
            <a:avLst/>
          </a:prstGeom>
          <a:solidFill>
            <a:srgbClr val="D7A442"/>
          </a:solidFill>
          <a:ln w="12700">
            <a:solidFill>
              <a:srgbClr val="D7A4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IS BROADER THAN TESTING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46120" y="896112"/>
            <a:ext cx="5715000" cy="0"/>
          </a:xfrm>
          <a:prstGeom prst="line">
            <a:avLst/>
          </a:prstGeom>
          <a:noFill/>
          <a:ln w="12700">
            <a:solidFill>
              <a:srgbClr val="D7A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024128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C6670"/>
                </a:solidFill>
              </a:rPr>
              <a:t>Assessment can be formal or informal, planned or embedded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82D5E"/>
                </a:solidFill>
              </a:rPr>
              <a:t>ASSESSMENT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508760" y="2606040"/>
            <a:ext cx="2011680" cy="0"/>
          </a:xfrm>
          <a:prstGeom prst="line">
            <a:avLst/>
          </a:prstGeom>
          <a:noFill/>
          <a:ln w="16510">
            <a:solidFill>
              <a:srgbClr val="D7A4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8620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70"/>
                </a:solidFill>
              </a:rPr>
              <a:t>Evidence for learning, feedback, decisions, and improvement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549B"/>
                </a:solidFill>
              </a:rPr>
              <a:t>TESTING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14630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82D5E"/>
                </a:solidFill>
              </a:rPr>
              <a:t>Observation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498080" y="14630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B32"/>
                </a:solidFill>
              </a:rPr>
              <a:t>Teacher notices speaking difficulties during pair work.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486400" y="1874520"/>
            <a:ext cx="512064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2402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82D5E"/>
                </a:solidFill>
              </a:rPr>
              <a:t>Feedback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498080" y="22402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B32"/>
                </a:solidFill>
              </a:rPr>
              <a:t>Teacher gives oral or written guidance to improve learning.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486400" y="2651760"/>
            <a:ext cx="512064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30175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82D5E"/>
                </a:solidFill>
              </a:rPr>
              <a:t>Portfolio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7498080" y="3017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B32"/>
                </a:solidFill>
              </a:rPr>
              <a:t>Students collect drafts, tasks, and reflections over time.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486400" y="3429000"/>
            <a:ext cx="512064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37947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82D5E"/>
                </a:solidFill>
              </a:rPr>
              <a:t>Self/Peer assessment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498080" y="37947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B32"/>
                </a:solidFill>
              </a:rPr>
              <a:t>Students use criteria to judge and improve work.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5486400" y="4206240"/>
            <a:ext cx="512064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3892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82D5E"/>
                </a:solidFill>
              </a:rPr>
              <a:t>Assessment can happen when teachers ask questions, observe, score, give feedback, or use evidence to adjust teaching.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777240" y="5943600"/>
            <a:ext cx="10652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B7785"/>
                </a:solidFill>
              </a:rPr>
              <a:t>Phakiti &amp; Leung (2024), Sections 1–2.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685800" y="6126480"/>
            <a:ext cx="10835640" cy="0"/>
          </a:xfrm>
          <a:prstGeom prst="line">
            <a:avLst/>
          </a:prstGeom>
          <a:noFill/>
          <a:ln w="12700">
            <a:solidFill>
              <a:srgbClr val="082D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62544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Le Thanh Hoa, PhD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Course Instructor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3794760" y="62910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D5E"/>
                </a:solidFill>
              </a:rPr>
              <a:t>Testing and Assessment in English Language Teaching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89720" y="6291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A442"/>
                </a:solidFill>
              </a:rPr>
              <a:t>MTESOL Course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607040" y="647395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670"/>
                </a:solidFill>
              </a:rPr>
              <a:t>Session 1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2D5E"/>
          </a:solidFill>
          <a:ln w="12700">
            <a:solidFill>
              <a:srgbClr val="082D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32004" cy="6858000"/>
          </a:xfrm>
          <a:prstGeom prst="rect">
            <a:avLst/>
          </a:prstGeom>
          <a:solidFill>
            <a:srgbClr val="D7A442"/>
          </a:solidFill>
          <a:ln w="12700">
            <a:solidFill>
              <a:srgbClr val="D7A4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PURPOSES OF LANGUAGE ASSESSMENT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46120" y="896112"/>
            <a:ext cx="5715000" cy="0"/>
          </a:xfrm>
          <a:prstGeom prst="line">
            <a:avLst/>
          </a:prstGeom>
          <a:noFill/>
          <a:ln w="12700">
            <a:solidFill>
              <a:srgbClr val="D7A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024128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C6670"/>
                </a:solidFill>
              </a:rPr>
              <a:t>The same assessment may serve more than one purpose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868680" y="14264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🧭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14904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40280" y="1453896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Formative — Support learning through feedback and next steps.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2240280" y="1856232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848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📌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2112264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Summative — Summarise achievement at the end of a period.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2240280" y="2514600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7432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28072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40280" y="277063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Diagnostic — Identify strengths, weaknesses, and support needs.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2240280" y="3172968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4015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🗂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91640" y="34655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40280" y="342900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Placement — Place learners into an appropriate level or course.</a:t>
            </a:r>
            <a:endParaRPr lang="en-US" sz="1520" dirty="0"/>
          </a:p>
        </p:txBody>
      </p:sp>
      <p:sp>
        <p:nvSpPr>
          <p:cNvPr id="22" name="Shape 20"/>
          <p:cNvSpPr/>
          <p:nvPr/>
        </p:nvSpPr>
        <p:spPr>
          <a:xfrm>
            <a:off x="2240280" y="3831336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0599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91640" y="4123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40280" y="408736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Gatekeeping — Select or certify learners for entry, progression, or employment.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2240280" y="4489704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5074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82D5E"/>
                </a:solidFill>
              </a:rPr>
              <a:t>Teaching question: Can a midterm test be both summative and formative?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77240" y="5943600"/>
            <a:ext cx="10652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B7785"/>
                </a:solidFill>
              </a:rPr>
              <a:t>Phakiti &amp; Leung (2024), Section 2.3.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685800" y="6126480"/>
            <a:ext cx="10835640" cy="0"/>
          </a:xfrm>
          <a:prstGeom prst="line">
            <a:avLst/>
          </a:prstGeom>
          <a:noFill/>
          <a:ln w="12700">
            <a:solidFill>
              <a:srgbClr val="082D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62544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Le Thanh Hoa, PhD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Course Instructor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3794760" y="62910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D5E"/>
                </a:solidFill>
              </a:rPr>
              <a:t>Testing and Assessment in English Language Teaching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89720" y="6291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A442"/>
                </a:solidFill>
              </a:rPr>
              <a:t>MTESOL Course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607040" y="647395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670"/>
                </a:solidFill>
              </a:rPr>
              <a:t>Session 1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2D5E"/>
          </a:solidFill>
          <a:ln w="12700">
            <a:solidFill>
              <a:srgbClr val="082D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32004" cy="6858000"/>
          </a:xfrm>
          <a:prstGeom prst="rect">
            <a:avLst/>
          </a:prstGeom>
          <a:solidFill>
            <a:srgbClr val="D7A442"/>
          </a:solidFill>
          <a:ln w="12700">
            <a:solidFill>
              <a:srgbClr val="D7A4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FORMATIVE AND SUMMATIVE ASSESSMENT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46120" y="896112"/>
            <a:ext cx="5715000" cy="0"/>
          </a:xfrm>
          <a:prstGeom prst="line">
            <a:avLst/>
          </a:prstGeom>
          <a:noFill/>
          <a:ln w="12700">
            <a:solidFill>
              <a:srgbClr val="D7A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024128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C6670"/>
                </a:solidFill>
              </a:rPr>
              <a:t>Different functions, but interconnected in classroom practice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2D5E"/>
                </a:solidFill>
              </a:rPr>
              <a:t>FORMATIVE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82D5E"/>
                </a:solidFill>
              </a:rPr>
              <a:t>ASSESSMENT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2286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A442"/>
                </a:solidFill>
              </a:rPr>
              <a:t>Assessment for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2788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B32"/>
                </a:solidFill>
              </a:rPr>
              <a:t>• checks understanding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B32"/>
                </a:solidFill>
              </a:rPr>
              <a:t>• identifies gaps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B32"/>
                </a:solidFill>
              </a:rPr>
              <a:t>• gives feedback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B32"/>
                </a:solidFill>
              </a:rPr>
              <a:t>• adjusts teaching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0" y="16002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2D5E"/>
                </a:solidFill>
              </a:rPr>
              <a:t>SUMMATIVE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82D5E"/>
                </a:solidFill>
              </a:rPr>
              <a:t>ASSESSMENT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0" y="2286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A442"/>
                </a:solidFill>
              </a:rPr>
              <a:t>Assessment of learning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0" y="2788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B32"/>
                </a:solidFill>
              </a:rPr>
              <a:t>• summarises achievement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B32"/>
                </a:solidFill>
              </a:rPr>
              <a:t>• awards scores or grades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B32"/>
                </a:solidFill>
              </a:rPr>
              <a:t>• certifies progress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B32"/>
                </a:solidFill>
              </a:rPr>
              <a:t>• informs decisions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49240" y="2697480"/>
            <a:ext cx="1188720" cy="0"/>
          </a:xfrm>
          <a:prstGeom prst="line">
            <a:avLst/>
          </a:prstGeom>
          <a:noFill/>
          <a:ln w="25400">
            <a:solidFill>
              <a:srgbClr val="D7A44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37960" y="2926080"/>
            <a:ext cx="-1188720" cy="0"/>
          </a:xfrm>
          <a:prstGeom prst="line">
            <a:avLst/>
          </a:prstGeom>
          <a:noFill/>
          <a:ln w="25400">
            <a:solidFill>
              <a:srgbClr val="D7A442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371600" y="48920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82D5E"/>
                </a:solidFill>
              </a:rPr>
              <a:t>Interconnected: a summative test can become formative when results are used for feedback and further learning.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777240" y="5943600"/>
            <a:ext cx="10652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B7785"/>
                </a:solidFill>
              </a:rPr>
              <a:t>Phakiti &amp; Leung (2024), Section 4.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685800" y="6126480"/>
            <a:ext cx="10835640" cy="0"/>
          </a:xfrm>
          <a:prstGeom prst="line">
            <a:avLst/>
          </a:prstGeom>
          <a:noFill/>
          <a:ln w="12700">
            <a:solidFill>
              <a:srgbClr val="082D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62544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Le Thanh Hoa, PhD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Course Instructor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3794760" y="62910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D5E"/>
                </a:solidFill>
              </a:rPr>
              <a:t>Testing and Assessment in English Language Teaching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89720" y="6291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A442"/>
                </a:solidFill>
              </a:rPr>
              <a:t>MTESOL Course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607040" y="647395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670"/>
                </a:solidFill>
              </a:rPr>
              <a:t>Session 1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2D5E"/>
          </a:solidFill>
          <a:ln w="12700">
            <a:solidFill>
              <a:srgbClr val="082D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32004" cy="6858000"/>
          </a:xfrm>
          <a:prstGeom prst="rect">
            <a:avLst/>
          </a:prstGeom>
          <a:solidFill>
            <a:srgbClr val="D7A442"/>
          </a:solidFill>
          <a:ln w="12700">
            <a:solidFill>
              <a:srgbClr val="D7A4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AND CONSEQUENCES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46120" y="896112"/>
            <a:ext cx="5715000" cy="0"/>
          </a:xfrm>
          <a:prstGeom prst="line">
            <a:avLst/>
          </a:prstGeom>
          <a:noFill/>
          <a:ln w="12700">
            <a:solidFill>
              <a:srgbClr val="D7A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024128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C6670"/>
                </a:solidFill>
              </a:rPr>
              <a:t>Assessment is never neutral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82D5E"/>
                </a:solidFill>
              </a:rPr>
              <a:t>support learning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342900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feedback, confidence, self-regulation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05840" y="1819656"/>
            <a:ext cx="466344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4173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82D5E"/>
                </a:solidFill>
              </a:rPr>
              <a:t>create anxiety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891540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pressure, fear, low confidence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1819656"/>
            <a:ext cx="466344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3774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82D5E"/>
                </a:solidFill>
              </a:rPr>
              <a:t>open opportunities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342900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placement, progression, certification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2779776"/>
            <a:ext cx="466344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3774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82D5E"/>
                </a:solidFill>
              </a:rPr>
              <a:t>narrow teaching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891540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teaching only to the test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2779776"/>
            <a:ext cx="466344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3375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82D5E"/>
                </a:solidFill>
              </a:rPr>
              <a:t>improve teaching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342900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evidence for adjusting lessons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05840" y="3739896"/>
            <a:ext cx="466344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3375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82D5E"/>
                </a:solidFill>
              </a:rPr>
              <a:t>be unfair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891540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bias, poor alignment, unequal access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3739896"/>
            <a:ext cx="466344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498348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82D5E"/>
                </a:solidFill>
              </a:rPr>
              <a:t>Professional responsibility: design assessments that generate useful evidence and minimise harm.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77240" y="5943600"/>
            <a:ext cx="10652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6B7785"/>
                </a:solidFill>
              </a:rPr>
              <a:t>Phakiti &amp; Leung (2024), Section 2.1 and Section 7.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85800" y="6126480"/>
            <a:ext cx="10835640" cy="0"/>
          </a:xfrm>
          <a:prstGeom prst="line">
            <a:avLst/>
          </a:prstGeom>
          <a:noFill/>
          <a:ln w="12700">
            <a:solidFill>
              <a:srgbClr val="082D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62544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Le Thanh Hoa, PhD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Course Instructor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3794760" y="62910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D5E"/>
                </a:solidFill>
              </a:rPr>
              <a:t>Testing and Assessment in English Language Teaching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189720" y="6291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A442"/>
                </a:solidFill>
              </a:rPr>
              <a:t>MTESOL Course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607040" y="647395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670"/>
                </a:solidFill>
              </a:rPr>
              <a:t>Session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2D5E"/>
          </a:solidFill>
          <a:ln w="12700">
            <a:solidFill>
              <a:srgbClr val="082D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32004" cy="6858000"/>
          </a:xfrm>
          <a:prstGeom prst="rect">
            <a:avLst/>
          </a:prstGeom>
          <a:solidFill>
            <a:srgbClr val="D7A442"/>
          </a:solidFill>
          <a:ln w="12700">
            <a:solidFill>
              <a:srgbClr val="D7A4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IN-CLASS ACTIVITY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46120" y="896112"/>
            <a:ext cx="5715000" cy="0"/>
          </a:xfrm>
          <a:prstGeom prst="line">
            <a:avLst/>
          </a:prstGeom>
          <a:noFill/>
          <a:ln w="12700">
            <a:solidFill>
              <a:srgbClr val="D7A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024128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C6670"/>
                </a:solidFill>
              </a:rPr>
              <a:t>Classify each situation and justify your decision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868680" y="14264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14904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40280" y="1453896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Students take a 45-minute grammar and reading exam.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2240280" y="1856232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299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20939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205740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A teacher observes pair discussion and gives feedback.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2240280" y="2459736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6334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26974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40280" y="2660904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A department reviews final scores to revise the English programme.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2240280" y="3063240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2369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91640" y="33009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40280" y="326440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Students keep a writing portfolio for one semester.</a:t>
            </a:r>
            <a:endParaRPr lang="en-US" sz="1520" dirty="0"/>
          </a:p>
        </p:txBody>
      </p:sp>
      <p:sp>
        <p:nvSpPr>
          <p:cNvPr id="22" name="Shape 20"/>
          <p:cNvSpPr/>
          <p:nvPr/>
        </p:nvSpPr>
        <p:spPr>
          <a:xfrm>
            <a:off x="2240280" y="3666744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8404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549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•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91640" y="39044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442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40280" y="386791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B1B32"/>
                </a:solidFill>
              </a:rPr>
              <a:t>A school uses a placement test to divide learners into levels.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2240280" y="4270248"/>
            <a:ext cx="8686800" cy="0"/>
          </a:xfrm>
          <a:prstGeom prst="line">
            <a:avLst/>
          </a:prstGeom>
          <a:noFill/>
          <a:ln w="12700">
            <a:solidFill>
              <a:srgbClr val="D8E8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5074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82D5E"/>
                </a:solidFill>
              </a:rPr>
              <a:t>Task: In pairs, decide whether each case is mainly testing, assessment, or evaluation. Then explain why.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685800" y="6126480"/>
            <a:ext cx="10835640" cy="0"/>
          </a:xfrm>
          <a:prstGeom prst="line">
            <a:avLst/>
          </a:prstGeom>
          <a:noFill/>
          <a:ln w="12700">
            <a:solidFill>
              <a:srgbClr val="082D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62544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Le Thanh Hoa, PhD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Course Instructor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3794760" y="62910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D5E"/>
                </a:solidFill>
              </a:rPr>
              <a:t>Testing and Assessment in English Language Teaching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89720" y="6291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A442"/>
                </a:solidFill>
              </a:rPr>
              <a:t>MTESOL Course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607040" y="647395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670"/>
                </a:solidFill>
              </a:rPr>
              <a:t>Session 1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2D5E"/>
          </a:solidFill>
          <a:ln w="12700">
            <a:solidFill>
              <a:srgbClr val="082D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32004" cy="6858000"/>
          </a:xfrm>
          <a:prstGeom prst="rect">
            <a:avLst/>
          </a:prstGeom>
          <a:solidFill>
            <a:srgbClr val="D7A442"/>
          </a:solidFill>
          <a:ln w="12700">
            <a:solidFill>
              <a:srgbClr val="D7A4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TEST USERS TO ASSESSMENT DESIGNERS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46120" y="896112"/>
            <a:ext cx="5715000" cy="0"/>
          </a:xfrm>
          <a:prstGeom prst="line">
            <a:avLst/>
          </a:prstGeom>
          <a:noFill/>
          <a:ln w="12700">
            <a:solidFill>
              <a:srgbClr val="D7A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024128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C6670"/>
                </a:solidFill>
              </a:rPr>
              <a:t>The professional direction of this course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A442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82D5E"/>
                </a:solidFill>
              </a:rPr>
              <a:t>Use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26700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C6670"/>
                </a:solidFill>
              </a:rPr>
              <a:t>understand existing tests and tasks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2697480" y="2542032"/>
            <a:ext cx="320040" cy="0"/>
          </a:xfrm>
          <a:prstGeom prst="line">
            <a:avLst/>
          </a:prstGeom>
          <a:noFill/>
          <a:ln w="16510">
            <a:solidFill>
              <a:srgbClr val="D7A442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703320" y="160020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A442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46120" y="21488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82D5E"/>
                </a:solidFill>
              </a:rPr>
              <a:t>Analyse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154680" y="26700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C6670"/>
                </a:solidFill>
              </a:rPr>
              <a:t>identify purpose, construct, evidence, and consequences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4937760" y="2542032"/>
            <a:ext cx="320040" cy="0"/>
          </a:xfrm>
          <a:prstGeom prst="line">
            <a:avLst/>
          </a:prstGeom>
          <a:noFill/>
          <a:ln w="16510">
            <a:solidFill>
              <a:srgbClr val="D7A442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943600" y="160020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A442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0" y="21488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82D5E"/>
                </a:solidFill>
              </a:rPr>
              <a:t>Design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394960" y="26700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C6670"/>
                </a:solidFill>
              </a:rPr>
              <a:t>create assessment tasks for specific learners and contexts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7178040" y="2542032"/>
            <a:ext cx="320040" cy="0"/>
          </a:xfrm>
          <a:prstGeom prst="line">
            <a:avLst/>
          </a:prstGeom>
          <a:noFill/>
          <a:ln w="16510">
            <a:solidFill>
              <a:srgbClr val="D7A442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183880" y="160020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A442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26680" y="21488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82D5E"/>
                </a:solidFill>
              </a:rPr>
              <a:t>Justify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635240" y="26700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C6670"/>
                </a:solidFill>
              </a:rPr>
              <a:t>explain decisions using assessment principles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9418320" y="2542032"/>
            <a:ext cx="320040" cy="0"/>
          </a:xfrm>
          <a:prstGeom prst="line">
            <a:avLst/>
          </a:prstGeom>
          <a:noFill/>
          <a:ln w="16510">
            <a:solidFill>
              <a:srgbClr val="D7A442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0424160" y="160020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A442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66960" y="21488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82D5E"/>
                </a:solidFill>
              </a:rPr>
              <a:t>Revise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875520" y="26700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C6670"/>
                </a:solidFill>
              </a:rPr>
              <a:t>improve tasks through evidence, feedback, and reflection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1143000" y="4663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D5E"/>
                </a:solidFill>
              </a:rPr>
              <a:t>Course outcome: an assessment design portfolio grounded in purpose, construct, evidence, scoring, fairness, feedback, and reflective justification.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6126480"/>
            <a:ext cx="10835640" cy="0"/>
          </a:xfrm>
          <a:prstGeom prst="line">
            <a:avLst/>
          </a:prstGeom>
          <a:noFill/>
          <a:ln w="12700">
            <a:solidFill>
              <a:srgbClr val="082D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62544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Le Thanh Hoa, PhD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Course Instructor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3794760" y="62910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D5E"/>
                </a:solidFill>
              </a:rPr>
              <a:t>Testing and Assessment in English Language Teaching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189720" y="6291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A442"/>
                </a:solidFill>
              </a:rPr>
              <a:t>MTESOL Course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607040" y="647395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670"/>
                </a:solidFill>
              </a:rPr>
              <a:t>Session 1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2D5E"/>
          </a:solidFill>
          <a:ln w="12700">
            <a:solidFill>
              <a:srgbClr val="082D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32004" cy="6858000"/>
          </a:xfrm>
          <a:prstGeom prst="rect">
            <a:avLst/>
          </a:prstGeom>
          <a:solidFill>
            <a:srgbClr val="D7A442"/>
          </a:solidFill>
          <a:ln w="12700">
            <a:solidFill>
              <a:srgbClr val="D7A4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REFLECTION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46120" y="896112"/>
            <a:ext cx="5715000" cy="0"/>
          </a:xfrm>
          <a:prstGeom prst="line">
            <a:avLst/>
          </a:prstGeom>
          <a:noFill/>
          <a:ln w="12700">
            <a:solidFill>
              <a:srgbClr val="D7A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024128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C6670"/>
                </a:solidFill>
              </a:rPr>
              <a:t>Write briefly before leaving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D5E"/>
                </a:solidFill>
              </a:rPr>
              <a:t>Think about one assessment experience you had as a learner or teacher.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28600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B32"/>
                </a:solidFill>
              </a:rPr>
              <a:t>Was it mainly testing, assessment, or evaluation?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B1B32"/>
                </a:solidFill>
              </a:rPr>
              <a:t>Was it useful, fair, and supportive of learning?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B1B32"/>
                </a:solidFill>
              </a:rPr>
              <a:t>Why or why not?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26080" y="3657600"/>
            <a:ext cx="6309360" cy="0"/>
          </a:xfrm>
          <a:prstGeom prst="line">
            <a:avLst/>
          </a:prstGeom>
          <a:noFill/>
          <a:ln w="12700">
            <a:solidFill>
              <a:srgbClr val="D7A4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88620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6670"/>
                </a:solidFill>
              </a:rPr>
              <a:t>You may write in English or Vietnamese.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71600" y="507492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82D5E"/>
                </a:solidFill>
              </a:rPr>
              <a:t>Next session: Bring one English test or assessment task you have used or experienced.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85800" y="6126480"/>
            <a:ext cx="10835640" cy="0"/>
          </a:xfrm>
          <a:prstGeom prst="line">
            <a:avLst/>
          </a:prstGeom>
          <a:noFill/>
          <a:ln w="12700">
            <a:solidFill>
              <a:srgbClr val="082D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62544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Le Thanh Hoa, PhD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Course Instructor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3794760" y="62910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D5E"/>
                </a:solidFill>
              </a:rPr>
              <a:t>Testing and Assessment in English Language Teaching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89720" y="6291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A442"/>
                </a:solidFill>
              </a:rPr>
              <a:t>MTESOL Course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607040" y="647395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670"/>
                </a:solidFill>
              </a:rPr>
              <a:t>Session 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2D5E"/>
          </a:solidFill>
          <a:ln w="12700">
            <a:solidFill>
              <a:srgbClr val="082D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32004" cy="6858000"/>
          </a:xfrm>
          <a:prstGeom prst="rect">
            <a:avLst/>
          </a:prstGeom>
          <a:solidFill>
            <a:srgbClr val="D7A442"/>
          </a:solidFill>
          <a:ln w="12700">
            <a:solidFill>
              <a:srgbClr val="D7A44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2D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SOURCE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46120" y="896112"/>
            <a:ext cx="5715000" cy="0"/>
          </a:xfrm>
          <a:prstGeom prst="line">
            <a:avLst/>
          </a:prstGeom>
          <a:noFill/>
          <a:ln w="12700">
            <a:solidFill>
              <a:srgbClr val="D7A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024128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C6670"/>
                </a:solidFill>
              </a:rPr>
              <a:t>Core reading for today’s session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2D5E"/>
                </a:solidFill>
              </a:rPr>
              <a:t>Phakiti, A., &amp; Leung, C. (2024).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37744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B1B32"/>
                </a:solidFill>
              </a:rPr>
              <a:t>Assessment for language teaching.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9260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670"/>
                </a:solidFill>
              </a:rPr>
              <a:t>Cambridge University Press. https://doi.org/10.1017/9781108934091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017520" y="3703320"/>
            <a:ext cx="6126480" cy="0"/>
          </a:xfrm>
          <a:prstGeom prst="line">
            <a:avLst/>
          </a:prstGeom>
          <a:noFill/>
          <a:ln w="12700">
            <a:solidFill>
              <a:srgbClr val="D7A4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2D5E"/>
                </a:solidFill>
              </a:rPr>
              <a:t>Thank you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85800" y="6126480"/>
            <a:ext cx="10835640" cy="0"/>
          </a:xfrm>
          <a:prstGeom prst="line">
            <a:avLst/>
          </a:prstGeom>
          <a:noFill/>
          <a:ln w="12700">
            <a:solidFill>
              <a:srgbClr val="082D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62544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Le Thanh Hoa, PhD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082D5E"/>
                </a:solidFill>
              </a:rPr>
              <a:t>Course Instructor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3794760" y="62910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2D5E"/>
                </a:solidFill>
              </a:rPr>
              <a:t>Testing and Assessment in English Language Teaching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89720" y="6291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A442"/>
                </a:solidFill>
              </a:rPr>
              <a:t>MTESOL Course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607040" y="647395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670"/>
                </a:solidFill>
              </a:rPr>
              <a:t>Session 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1 - Testing, Assessment, and Evaluation</dc:title>
  <dc:subject>Testing and Assessment in English Language Teaching</dc:subject>
  <dc:creator>Le Thanh Hoa, PhD</dc:creator>
  <cp:lastModifiedBy>Le Thanh Hoa, PhD</cp:lastModifiedBy>
  <cp:revision>1</cp:revision>
  <dcterms:created xsi:type="dcterms:W3CDTF">2026-07-11T04:09:00Z</dcterms:created>
  <dcterms:modified xsi:type="dcterms:W3CDTF">2026-07-11T04:09:00Z</dcterms:modified>
</cp:coreProperties>
</file>