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a64b923984a5f" /><Relationship Type="http://schemas.openxmlformats.org/officeDocument/2006/relationships/extended-properties" Target="/docProps/app.xml" Id="R17509cefbc554ff6" /><Relationship Type="http://schemas.openxmlformats.org/officeDocument/2006/relationships/officeDocument" Target="/ppt/presentation.xml" Id="R75a6da7ac75d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128849699a4f08"/>
  </p:sldMasterIdLst>
  <p:notesMasterIdLst>
    <p:notesMasterId xmlns:r="http://schemas.openxmlformats.org/officeDocument/2006/relationships" r:id="R03e4b577e45d4483"/>
  </p:notesMasterIdLst>
  <p:sldIdLst>
    <p:sldId xmlns:r="http://schemas.openxmlformats.org/officeDocument/2006/relationships" id="256" r:id="R91cb5b9e13d04717"/>
    <p:sldId xmlns:r="http://schemas.openxmlformats.org/officeDocument/2006/relationships" id="257" r:id="R9b0eff98ad8e458d"/>
    <p:sldId xmlns:r="http://schemas.openxmlformats.org/officeDocument/2006/relationships" id="258" r:id="R1043165c85fa42d6"/>
    <p:sldId xmlns:r="http://schemas.openxmlformats.org/officeDocument/2006/relationships" id="259" r:id="Rc0fd784bc1f144aa"/>
    <p:sldId xmlns:r="http://schemas.openxmlformats.org/officeDocument/2006/relationships" id="260" r:id="Rf25116b2f600442c"/>
    <p:sldId xmlns:r="http://schemas.openxmlformats.org/officeDocument/2006/relationships" id="261" r:id="Rbb945a054ecc4abd"/>
    <p:sldId xmlns:r="http://schemas.openxmlformats.org/officeDocument/2006/relationships" id="262" r:id="R9536426327af47ae"/>
    <p:sldId xmlns:r="http://schemas.openxmlformats.org/officeDocument/2006/relationships" id="263" r:id="Rb418d76b05f84e9f"/>
    <p:sldId xmlns:r="http://schemas.openxmlformats.org/officeDocument/2006/relationships" id="264" r:id="R4318d0d70c9348fb"/>
    <p:sldId xmlns:r="http://schemas.openxmlformats.org/officeDocument/2006/relationships" id="265" r:id="R041eea02e7d848ab"/>
    <p:sldId xmlns:r="http://schemas.openxmlformats.org/officeDocument/2006/relationships" id="266" r:id="R8609f20344124674"/>
    <p:sldId xmlns:r="http://schemas.openxmlformats.org/officeDocument/2006/relationships" id="267" r:id="R731a3ae09d264b58"/>
    <p:sldId xmlns:r="http://schemas.openxmlformats.org/officeDocument/2006/relationships" id="268" r:id="Rc1b66f0db3904cd2"/>
    <p:sldId xmlns:r="http://schemas.openxmlformats.org/officeDocument/2006/relationships" id="269" r:id="Rd11af95284c14e12"/>
    <p:sldId xmlns:r="http://schemas.openxmlformats.org/officeDocument/2006/relationships" id="270" r:id="Rd02ea9e778ee4fbc"/>
    <p:sldId xmlns:r="http://schemas.openxmlformats.org/officeDocument/2006/relationships" id="271" r:id="Rda9b440764cf4105"/>
    <p:sldId xmlns:r="http://schemas.openxmlformats.org/officeDocument/2006/relationships" id="272" r:id="R25df919227864ec7"/>
    <p:sldId xmlns:r="http://schemas.openxmlformats.org/officeDocument/2006/relationships" id="273" r:id="R7e3581efd9124b73"/>
    <p:sldId xmlns:r="http://schemas.openxmlformats.org/officeDocument/2006/relationships" id="274" r:id="R4c0207b1b9cf4fda"/>
    <p:sldId xmlns:r="http://schemas.openxmlformats.org/officeDocument/2006/relationships" id="275" r:id="R190c62d9518645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ab01b1ddba454c" /><Relationship Type="http://schemas.openxmlformats.org/officeDocument/2006/relationships/slideMaster" Target="/ppt/slideMasters/slideMaster1.xml" Id="Rac128849699a4f08" /><Relationship Type="http://schemas.openxmlformats.org/officeDocument/2006/relationships/notesMaster" Target="/ppt/notesMasters/notesMaster1.xml" Id="R03e4b577e45d4483" /><Relationship Type="http://schemas.openxmlformats.org/officeDocument/2006/relationships/presProps" Target="/ppt/presProps.xml" Id="Rbfbfe23305ec4ee2" /><Relationship Type="http://schemas.openxmlformats.org/officeDocument/2006/relationships/tableStyles" Target="/ppt/tableStyles.xml" Id="R2d37f2a4935b4a39" /><Relationship Type="http://schemas.openxmlformats.org/officeDocument/2006/relationships/slide" Target="/ppt/slides/slide1.xml" Id="R91cb5b9e13d04717" /><Relationship Type="http://schemas.openxmlformats.org/officeDocument/2006/relationships/slide" Target="/ppt/slides/slide2.xml" Id="R9b0eff98ad8e458d" /><Relationship Type="http://schemas.openxmlformats.org/officeDocument/2006/relationships/slide" Target="/ppt/slides/slide3.xml" Id="R1043165c85fa42d6" /><Relationship Type="http://schemas.openxmlformats.org/officeDocument/2006/relationships/slide" Target="/ppt/slides/slide4.xml" Id="Rc0fd784bc1f144aa" /><Relationship Type="http://schemas.openxmlformats.org/officeDocument/2006/relationships/slide" Target="/ppt/slides/slide5.xml" Id="Rf25116b2f600442c" /><Relationship Type="http://schemas.openxmlformats.org/officeDocument/2006/relationships/slide" Target="/ppt/slides/slide6.xml" Id="Rbb945a054ecc4abd" /><Relationship Type="http://schemas.openxmlformats.org/officeDocument/2006/relationships/slide" Target="/ppt/slides/slide7.xml" Id="R9536426327af47ae" /><Relationship Type="http://schemas.openxmlformats.org/officeDocument/2006/relationships/slide" Target="/ppt/slides/slide8.xml" Id="Rb418d76b05f84e9f" /><Relationship Type="http://schemas.openxmlformats.org/officeDocument/2006/relationships/slide" Target="/ppt/slides/slide9.xml" Id="R4318d0d70c9348fb" /><Relationship Type="http://schemas.openxmlformats.org/officeDocument/2006/relationships/slide" Target="/ppt/slides/slide10.xml" Id="R041eea02e7d848ab" /><Relationship Type="http://schemas.openxmlformats.org/officeDocument/2006/relationships/slide" Target="/ppt/slides/slide11.xml" Id="R8609f20344124674" /><Relationship Type="http://schemas.openxmlformats.org/officeDocument/2006/relationships/slide" Target="/ppt/slides/slide12.xml" Id="R731a3ae09d264b58" /><Relationship Type="http://schemas.openxmlformats.org/officeDocument/2006/relationships/slide" Target="/ppt/slides/slide13.xml" Id="Rc1b66f0db3904cd2" /><Relationship Type="http://schemas.openxmlformats.org/officeDocument/2006/relationships/slide" Target="/ppt/slides/slide14.xml" Id="Rd11af95284c14e12" /><Relationship Type="http://schemas.openxmlformats.org/officeDocument/2006/relationships/slide" Target="/ppt/slides/slide15.xml" Id="Rd02ea9e778ee4fbc" /><Relationship Type="http://schemas.openxmlformats.org/officeDocument/2006/relationships/slide" Target="/ppt/slides/slide16.xml" Id="Rda9b440764cf4105" /><Relationship Type="http://schemas.openxmlformats.org/officeDocument/2006/relationships/slide" Target="/ppt/slides/slide17.xml" Id="R25df919227864ec7" /><Relationship Type="http://schemas.openxmlformats.org/officeDocument/2006/relationships/slide" Target="/ppt/slides/slide18.xml" Id="R7e3581efd9124b73" /><Relationship Type="http://schemas.openxmlformats.org/officeDocument/2006/relationships/slide" Target="/ppt/slides/slide19.xml" Id="R4c0207b1b9cf4fda" /><Relationship Type="http://schemas.openxmlformats.org/officeDocument/2006/relationships/slide" Target="/ppt/slides/slide20.xml" Id="R190c62d9518645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35596db40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f5e0194d74ed5" /><Relationship Type="http://schemas.openxmlformats.org/officeDocument/2006/relationships/notesMaster" Target="/ppt/notesMasters/notesMaster1.xml" Id="R8da3033910a6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916bc0ee864b74" /><Relationship Type="http://schemas.openxmlformats.org/officeDocument/2006/relationships/notesMaster" Target="/ppt/notesMasters/notesMaster1.xml" Id="R74e66425a004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a3472670864907" /><Relationship Type="http://schemas.openxmlformats.org/officeDocument/2006/relationships/notesMaster" Target="/ppt/notesMasters/notesMaster1.xml" Id="R040e56829bf943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de29b4c3943de" /><Relationship Type="http://schemas.openxmlformats.org/officeDocument/2006/relationships/notesMaster" Target="/ppt/notesMasters/notesMaster1.xml" Id="R915109b4ec5042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bab2ddb19e441f" /><Relationship Type="http://schemas.openxmlformats.org/officeDocument/2006/relationships/notesMaster" Target="/ppt/notesMasters/notesMaster1.xml" Id="R0db604c2c907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aace832e04804" /><Relationship Type="http://schemas.openxmlformats.org/officeDocument/2006/relationships/notesMaster" Target="/ppt/notesMasters/notesMaster1.xml" Id="R411031d4a09942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888564e9b14393" /><Relationship Type="http://schemas.openxmlformats.org/officeDocument/2006/relationships/notesMaster" Target="/ppt/notesMasters/notesMaster1.xml" Id="Rc932b2aed16941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1834a848024c81" /><Relationship Type="http://schemas.openxmlformats.org/officeDocument/2006/relationships/notesMaster" Target="/ppt/notesMasters/notesMaster1.xml" Id="Rbc75a0d228fb4d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fc97eee70c4037" /><Relationship Type="http://schemas.openxmlformats.org/officeDocument/2006/relationships/notesMaster" Target="/ppt/notesMasters/notesMaster1.xml" Id="R16daffb9893444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9b071ac2ba41f1" /><Relationship Type="http://schemas.openxmlformats.org/officeDocument/2006/relationships/notesMaster" Target="/ppt/notesMasters/notesMaster1.xml" Id="R32e466086e4f48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2c839d52124c6c" /><Relationship Type="http://schemas.openxmlformats.org/officeDocument/2006/relationships/notesMaster" Target="/ppt/notesMasters/notesMaster1.xml" Id="R6d33f765a1ef49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09df81b1794e4e" /><Relationship Type="http://schemas.openxmlformats.org/officeDocument/2006/relationships/notesMaster" Target="/ppt/notesMasters/notesMaster1.xml" Id="Rd023527873e042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8cb665f7aa474d" /><Relationship Type="http://schemas.openxmlformats.org/officeDocument/2006/relationships/notesMaster" Target="/ppt/notesMasters/notesMaster1.xml" Id="R21b69d3ee24544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13c28b526d46de" /><Relationship Type="http://schemas.openxmlformats.org/officeDocument/2006/relationships/notesMaster" Target="/ppt/notesMasters/notesMaster1.xml" Id="R79beeb455b7640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30c74ff7ed48f8" /><Relationship Type="http://schemas.openxmlformats.org/officeDocument/2006/relationships/notesMaster" Target="/ppt/notesMasters/notesMaster1.xml" Id="Rdbbc448505fc43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7edadabbd141d0" /><Relationship Type="http://schemas.openxmlformats.org/officeDocument/2006/relationships/notesMaster" Target="/ppt/notesMasters/notesMaster1.xml" Id="R2f181bc5d84d4d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402a8bc8c3451f" /><Relationship Type="http://schemas.openxmlformats.org/officeDocument/2006/relationships/notesMaster" Target="/ppt/notesMasters/notesMaster1.xml" Id="Rfaeab7cb33bb43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daa278a0ee44a9" /><Relationship Type="http://schemas.openxmlformats.org/officeDocument/2006/relationships/notesMaster" Target="/ppt/notesMasters/notesMaster1.xml" Id="Rd7e522a0b9fb4c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e8155e59de46d4" /><Relationship Type="http://schemas.openxmlformats.org/officeDocument/2006/relationships/notesMaster" Target="/ppt/notesMasters/notesMaster1.xml" Id="R7f3c32ce75bf40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7bd04e4efa4a39" /><Relationship Type="http://schemas.openxmlformats.org/officeDocument/2006/relationships/notesMaster" Target="/ppt/notesMasters/notesMaster1.xml" Id="Re01199a7e62a48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308eb9c134d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67963fcfd42cb" /><Relationship Type="http://schemas.openxmlformats.org/officeDocument/2006/relationships/slideLayout" Target="/ppt/slideLayouts/slideLayout1.xml" Id="R89e57b40e193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e57b40e193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66026f224468b" /><Relationship Type="http://schemas.openxmlformats.org/officeDocument/2006/relationships/notesSlide" Target="/ppt/notesSlides/notesSlide1.xml" Id="R34d5f7f3ed194d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25d1609dc4414" /><Relationship Type="http://schemas.openxmlformats.org/officeDocument/2006/relationships/image" Target="/ppt/media/image.png" Id="Rdc7208da0dad4641" /><Relationship Type="http://schemas.openxmlformats.org/officeDocument/2006/relationships/image" Target="/ppt/media/image.svg" Id="R8fe16ba6e3124408" /><Relationship Type="http://schemas.openxmlformats.org/officeDocument/2006/relationships/notesSlide" Target="/ppt/notesSlides/notesSlide2.xml" Id="Rbcbc5157b9e143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5ea79e8304ebb" /><Relationship Type="http://schemas.openxmlformats.org/officeDocument/2006/relationships/image" Target="/ppt/media/image2.png" Id="Ra07386c569024d08" /><Relationship Type="http://schemas.openxmlformats.org/officeDocument/2006/relationships/image" Target="/ppt/media/image2.svg" Id="R3afa31ede70245a4" /><Relationship Type="http://schemas.openxmlformats.org/officeDocument/2006/relationships/notesSlide" Target="/ppt/notesSlides/notesSlide3.xml" Id="Rbf793816cf1b4c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10bf3f10b432d" /><Relationship Type="http://schemas.openxmlformats.org/officeDocument/2006/relationships/image" Target="/ppt/media/image3.png" Id="R66ddc253f9a54c50" /><Relationship Type="http://schemas.openxmlformats.org/officeDocument/2006/relationships/image" Target="/ppt/media/image3.svg" Id="R37111ccb268f4f19" /><Relationship Type="http://schemas.openxmlformats.org/officeDocument/2006/relationships/notesSlide" Target="/ppt/notesSlides/notesSlide4.xml" Id="Rbeccfc64d5bb48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80ab1faa4e37" /><Relationship Type="http://schemas.openxmlformats.org/officeDocument/2006/relationships/image" Target="/ppt/media/image4.png" Id="R86b2e25769cf419b" /><Relationship Type="http://schemas.openxmlformats.org/officeDocument/2006/relationships/image" Target="/ppt/media/image4.svg" Id="R89b28446909f4b9c" /><Relationship Type="http://schemas.openxmlformats.org/officeDocument/2006/relationships/notesSlide" Target="/ppt/notesSlides/notesSlide5.xml" Id="Rc6d7e7eb6e23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f74aebab24f43" /><Relationship Type="http://schemas.openxmlformats.org/officeDocument/2006/relationships/image" Target="/ppt/media/image5.png" Id="Rb8f696768a304b89" /><Relationship Type="http://schemas.openxmlformats.org/officeDocument/2006/relationships/image" Target="/ppt/media/image5.svg" Id="Rced29e3f35e84b56" /><Relationship Type="http://schemas.openxmlformats.org/officeDocument/2006/relationships/notesSlide" Target="/ppt/notesSlides/notesSlide6.xml" Id="R40ea0803faa4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35b00ef7c4e71" /><Relationship Type="http://schemas.openxmlformats.org/officeDocument/2006/relationships/image" Target="/ppt/media/image6.png" Id="Rd5a3e832baca462a" /><Relationship Type="http://schemas.openxmlformats.org/officeDocument/2006/relationships/image" Target="/ppt/media/image6.svg" Id="R50dc0f3ce3214351" /><Relationship Type="http://schemas.openxmlformats.org/officeDocument/2006/relationships/notesSlide" Target="/ppt/notesSlides/notesSlide7.xml" Id="R6ab440baae7248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ca96254e145d7" /><Relationship Type="http://schemas.openxmlformats.org/officeDocument/2006/relationships/image" Target="/ppt/media/image7.png" Id="Rc9378c672b7940f7" /><Relationship Type="http://schemas.openxmlformats.org/officeDocument/2006/relationships/image" Target="/ppt/media/image7.svg" Id="R848370dd05334bd0" /><Relationship Type="http://schemas.openxmlformats.org/officeDocument/2006/relationships/notesSlide" Target="/ppt/notesSlides/notesSlide8.xml" Id="Re1044afe636745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5843cca294f3c" /><Relationship Type="http://schemas.openxmlformats.org/officeDocument/2006/relationships/image" Target="/ppt/media/image8.png" Id="R47bd4b2b99214a18" /><Relationship Type="http://schemas.openxmlformats.org/officeDocument/2006/relationships/image" Target="/ppt/media/image8.svg" Id="Rd7c88755eac24eea" /><Relationship Type="http://schemas.openxmlformats.org/officeDocument/2006/relationships/notesSlide" Target="/ppt/notesSlides/notesSlide9.xml" Id="Re041b78b5b4f4d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d6b1e8e749d6" /><Relationship Type="http://schemas.openxmlformats.org/officeDocument/2006/relationships/image" Target="/ppt/media/image9.png" Id="Rab99916280394e61" /><Relationship Type="http://schemas.openxmlformats.org/officeDocument/2006/relationships/image" Target="/ppt/media/image9.svg" Id="R913a2a1287874868" /><Relationship Type="http://schemas.openxmlformats.org/officeDocument/2006/relationships/notesSlide" Target="/ppt/notesSlides/notesSlide10.xml" Id="Rae25531c920840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b80f0630d4ca3" /><Relationship Type="http://schemas.openxmlformats.org/officeDocument/2006/relationships/image" Target="/ppt/media/image10.png" Id="R63fee24bd8424007" /><Relationship Type="http://schemas.openxmlformats.org/officeDocument/2006/relationships/image" Target="/ppt/media/image10.svg" Id="R6ade6cc5f177472b" /><Relationship Type="http://schemas.openxmlformats.org/officeDocument/2006/relationships/notesSlide" Target="/ppt/notesSlides/notesSlide11.xml" Id="R97ee030c57d14b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6ab50949040c9" /><Relationship Type="http://schemas.openxmlformats.org/officeDocument/2006/relationships/image" Target="/ppt/media/image11.png" Id="R72477e4137e24683" /><Relationship Type="http://schemas.openxmlformats.org/officeDocument/2006/relationships/image" Target="/ppt/media/image11.svg" Id="R935d81da50e8448c" /><Relationship Type="http://schemas.openxmlformats.org/officeDocument/2006/relationships/notesSlide" Target="/ppt/notesSlides/notesSlide12.xml" Id="R5782cf807c254c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0c22c00354696" /><Relationship Type="http://schemas.openxmlformats.org/officeDocument/2006/relationships/image" Target="/ppt/media/image12.png" Id="R023d28af33e74af7" /><Relationship Type="http://schemas.openxmlformats.org/officeDocument/2006/relationships/image" Target="/ppt/media/image12.svg" Id="Rba5cf95431b64e11" /><Relationship Type="http://schemas.openxmlformats.org/officeDocument/2006/relationships/notesSlide" Target="/ppt/notesSlides/notesSlide13.xml" Id="R8d230b1770fc4e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3edb74807494f" /><Relationship Type="http://schemas.openxmlformats.org/officeDocument/2006/relationships/image" Target="/ppt/media/image13.png" Id="Re3896ba26de1410f" /><Relationship Type="http://schemas.openxmlformats.org/officeDocument/2006/relationships/image" Target="/ppt/media/image13.svg" Id="Rdc0358186ce24aca" /><Relationship Type="http://schemas.openxmlformats.org/officeDocument/2006/relationships/notesSlide" Target="/ppt/notesSlides/notesSlide14.xml" Id="Rdb79ae99bd7f45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1ceb5aed4cc4" /><Relationship Type="http://schemas.openxmlformats.org/officeDocument/2006/relationships/image" Target="/ppt/media/image14.png" Id="Re58c98973b984f17" /><Relationship Type="http://schemas.openxmlformats.org/officeDocument/2006/relationships/image" Target="/ppt/media/image14.svg" Id="Ra021cdd356cb49b3" /><Relationship Type="http://schemas.openxmlformats.org/officeDocument/2006/relationships/notesSlide" Target="/ppt/notesSlides/notesSlide15.xml" Id="R8e6beefa853a4e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fdd3c5ce342b4" /><Relationship Type="http://schemas.openxmlformats.org/officeDocument/2006/relationships/image" Target="/ppt/media/image15.png" Id="Rb417348ab3844c6c" /><Relationship Type="http://schemas.openxmlformats.org/officeDocument/2006/relationships/image" Target="/ppt/media/image15.svg" Id="R7ea6b964e30b4b92" /><Relationship Type="http://schemas.openxmlformats.org/officeDocument/2006/relationships/notesSlide" Target="/ppt/notesSlides/notesSlide16.xml" Id="Rb7ff3e1dadde40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fe9fc91c24d3a" /><Relationship Type="http://schemas.openxmlformats.org/officeDocument/2006/relationships/image" Target="/ppt/media/image16.png" Id="R9718a22feb5c4508" /><Relationship Type="http://schemas.openxmlformats.org/officeDocument/2006/relationships/image" Target="/ppt/media/image16.svg" Id="R353cd7371fd84428" /><Relationship Type="http://schemas.openxmlformats.org/officeDocument/2006/relationships/notesSlide" Target="/ppt/notesSlides/notesSlide17.xml" Id="Rccdde0b1d42644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70913b3a043c8" /><Relationship Type="http://schemas.openxmlformats.org/officeDocument/2006/relationships/image" Target="/ppt/media/image17.png" Id="R3862109b12d042e8" /><Relationship Type="http://schemas.openxmlformats.org/officeDocument/2006/relationships/image" Target="/ppt/media/image17.svg" Id="R8e63ae1c9a9f4bee" /><Relationship Type="http://schemas.openxmlformats.org/officeDocument/2006/relationships/notesSlide" Target="/ppt/notesSlides/notesSlide18.xml" Id="R51696a6db0df45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8927ad2eb497a" /><Relationship Type="http://schemas.openxmlformats.org/officeDocument/2006/relationships/image" Target="/ppt/media/image18.png" Id="R35021c6465af4735" /><Relationship Type="http://schemas.openxmlformats.org/officeDocument/2006/relationships/image" Target="/ppt/media/image18.svg" Id="R8a7ca6c3b2714e8b" /><Relationship Type="http://schemas.openxmlformats.org/officeDocument/2006/relationships/notesSlide" Target="/ppt/notesSlides/notesSlide19.xml" Id="R7b7ae6d992b848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d883787b34d7b" /><Relationship Type="http://schemas.openxmlformats.org/officeDocument/2006/relationships/image" Target="/ppt/media/image19.png" Id="R322aad726b7f4e9e" /><Relationship Type="http://schemas.openxmlformats.org/officeDocument/2006/relationships/image" Target="/ppt/media/image19.svg" Id="Rd33c8e912c2f4279" /><Relationship Type="http://schemas.openxmlformats.org/officeDocument/2006/relationships/notesSlide" Target="/ppt/notesSlides/notesSlide20.xml" Id="Rc80fa4d7cb5c4b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73EC58A3-41D5-4190-991F-22F9770D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2B9CF9C7-CDFC-42F9-95CD-860CBE23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3A2074E7-1FF6-4A1B-9E5A-D20409E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ABF6F99-24C0-4E1D-971D-1F3AC42F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BFAA38D4-48FD-487D-A078-9566052D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C07F080-1E03-4729-97C6-C0C7D4CC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FROM SKILL LABELS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TO DEFENSIBLE CONSTRUCTS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3E69F31E-FAA2-44A8-82C4-4007B7D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An assessment can support only the claims its construct, task, and evidence make defensible.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161F5961-5A85-43EA-8185-8736A6F3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11819EDC-6469-488B-864E-5D139435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D990C260-CA4D-4E60-9D5F-6106BF2C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 3, pp. 10–23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73D21B0D-B70D-4463-8C6B-7249064E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3575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6F73A6F-6B1E-4B2C-83F1-896FE765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208da0dad4641">
            <a:extLst>
              <a:ext uri="{96DAC541-7B7A-43D3-8B79-37D633B846F1}">
                <asvg:svgBlip xmlns:asvg="http://schemas.microsoft.com/office/drawing/2016/SVG/main" r:embed="R8fe16ba6e31244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978D5EE-E2F3-4156-9582-79480C33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RETRIEVAL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C5E130-A5CA-4836-BC80-979B0EF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Retrieval: Rebuild the Assessment Chain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0E034C3-2CBC-4D39-ADAD-D947E5C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BEFFC58-7B63-4D04-B2F8-81B8F848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Review of Session 1; Phakiti &amp; Leung (2024), Sections 1–2, pp. 1–10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7E6A2F9-6280-4C38-98E4-DFE4DB8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202B36F-AD82-456F-90E9-48A9CC41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1E11575A-972F-4CDA-B60C-31A38F1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00E998C2-B576-4639-9F3A-E3F44F38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Reactivate the performance–evidence–interpretation–decision chain and locate the construct within it.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C18E68B9-736C-41FC-8E4C-82A27A42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6DF6E65C-686D-4356-A455-635D17A3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B7B03A7F-0ED5-4FC7-9B15-430E17D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PERFORMANCE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1684C16-8B7A-4868-8BD5-88A7BC1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613DA2EA-7E82-437F-9EFD-FE175E8E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682509C3-8B07-42CC-B893-4192E7E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1B3102E8-FD2E-41B6-BA00-A2BF5DC4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E97F13CA-3C18-49D6-B8A9-B66EA46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90C38914-9B22-4450-822C-E2122BD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INTERPRETATION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433A5BE6-6800-4E4C-92BF-44A1B94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95D6FD78-C73F-471B-8B8C-0FF3815C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F2E90F27-424F-4948-B49D-F0B2E418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DECISION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9DA02FBB-3228-4B67-8A2A-A2BCD5C5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E66B81EE-89C8-4B2A-9F89-ED3E99BC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FD61C7D9-3B67-4806-B6BF-D9EDCD6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Where does the construct enter the chain?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happens if the decision is clear but the construct remains vague?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FEA7F265-A845-4E12-A58C-58C9624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F9CA21EB-DD5D-4E67-8F10-417C9AD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Retrieval responses reveal conceptual retention and linkage.</a:t>
            </a:r>
          </a:p>
        </p:txBody>
      </p:sp>
    </p:spTree>
    <p:extLst>
      <p:ext uri="{BB962C8B-B14F-4D97-AF65-F5344CB8AC3E}">
        <p14:creationId xmlns:p14="http://schemas.microsoft.com/office/powerpoint/2010/main" val="980205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E6FEE3E-AC95-41DB-8173-BF66F2B2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386c569024d08">
            <a:extLst>
              <a:ext uri="{96DAC541-7B7A-43D3-8B79-37D633B846F1}">
                <asvg:svgBlip xmlns:asvg="http://schemas.microsoft.com/office/drawing/2016/SVG/main" r:embed="R3afa31ede702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F82F08E-1667-4782-A863-1214D9F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2C3728-B8F8-469E-BD74-6F24CDB4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Individual Construct Snapshot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4061F23-933A-45B0-95DF-B9F03407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E1BB0CC-CDDE-44D5-B4A4-35AEFDB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diagnostic activity; before substantive Session 2 instruction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52D84BC-A538-415C-B3E5-385F8AC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91E8D02-AA46-4E9B-B289-86C1190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E45AD1C2-7E7F-497F-B4C5-1742488F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8748C1B4-1A39-4E4E-9FCB-09D0ACD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F7137EC7-8E64-4B44-9408-7D25209D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D2806D2F-5FF5-48F9-AEA0-889E4EF5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Name the claimed ability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7FDABAAB-FD78-480C-91FF-F085532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6CE1A29A-F2BB-48FC-881A-7789A23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7D7E2481-87BC-4AB9-9742-288B1558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Identify observable evidence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449D2082-9818-4367-851C-D9EDAA4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C4AECFB5-8604-4A5E-B98F-AD5BA5F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AA82EC09-D47A-4CB7-9ADC-285FBD17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State what is outside the claim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A48C8AE2-74FA-4871-BDE5-3E357C1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3240EDFB-5526-4FF8-8DB1-623B0489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0A8C1BD0-DDA3-4348-A514-C538F3D5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Write independently—no consultation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EDAA5B46-3F9C-4C0C-871F-DBD597C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Capture a pre-instruction representation of the construct in each student’s brought assessment.</a:t>
            </a:r>
          </a:p>
        </p:txBody>
      </p:sp>
    </p:spTree>
    <p:extLst>
      <p:ext uri="{BB962C8B-B14F-4D97-AF65-F5344CB8AC3E}">
        <p14:creationId xmlns:p14="http://schemas.microsoft.com/office/powerpoint/2010/main" val="414904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3F8E1BE-99D7-45AA-B210-292CD8C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dc253f9a54c50">
            <a:extLst>
              <a:ext uri="{96DAC541-7B7A-43D3-8B79-37D633B846F1}">
                <asvg:svgBlip xmlns:asvg="http://schemas.microsoft.com/office/drawing/2016/SVG/main" r:embed="R37111ccb268f4f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7AF2F55-1CF0-409E-9F09-FB41551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SESSION OUTCOMES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8E21A9-DC75-4A78-BD9D-211F27D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Session Outcomes and Design Products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391F214-19CD-4672-BF30-49D065B9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39A06BC-66DA-4163-96B7-40FEB21F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Aligned with Phakiti &amp; Leung (2024), Section 3, pp. 10–23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03DED35-9467-4913-9E71-229DA63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50B9666-B66A-4470-A94E-F3203DB6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BEFB48C9-16FB-416C-8374-F6A35E7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2BDC50D2-7D86-4EDF-AEC6-3CE9A955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18588E0B-260C-47A7-A62E-7FF6419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C1FB9D63-A255-44F6-9A9E-15A9967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Distinguish key concepts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9127A71E-5532-4354-B603-3A322DBB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03C538FA-E2C7-46CE-9170-E560765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F0745D5E-AE70-4BE3-9230-BC3DF86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Represent ability in context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CF4020D2-4979-4051-AC37-DB77D2B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1E69672F-1A91-445D-B524-56D69051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104C87D4-5FCB-4BBC-BB54-5968C4F7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Diagnose construct threats</a:t>
            </a:r>
          </a:p>
        </p:txBody>
      </p:sp>
      <p:sp>
        <p:nvSpPr>
          <p:cNvPr id="19" name="take">
            <a:extLst xmlns:a="http://schemas.openxmlformats.org/drawingml/2006/main">
              <a:ext uri="{FF2B5EF4-FFF2-40B4-BE49-F238E27FC236}">
                <a16:creationId xmlns:a16="http://schemas.microsoft.com/office/drawing/2014/main" id="{870C036F-C4BC-4A62-ADE2-255B51A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Make the conceptual outcomes and studio deliverables transparent.</a:t>
            </a:r>
          </a:p>
        </p:txBody>
      </p:sp>
    </p:spTree>
    <p:extLst>
      <p:ext uri="{BB962C8B-B14F-4D97-AF65-F5344CB8AC3E}">
        <p14:creationId xmlns:p14="http://schemas.microsoft.com/office/powerpoint/2010/main" val="684763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3BB63EF-16CB-4D4F-9B29-8A26941C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2e25769cf419b">
            <a:extLst>
              <a:ext uri="{96DAC541-7B7A-43D3-8B79-37D633B846F1}">
                <asvg:svgBlip xmlns:asvg="http://schemas.microsoft.com/office/drawing/2016/SVG/main" r:embed="R89b28446909f4b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4E391F2-D567-49C7-8B8F-083A8A9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CORE DISTINCTIONS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303736-20DB-48D4-AEDB-E3F4A39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Testing, Assessment, and Evaluation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917AD82-8C50-4F33-A3F2-B669A477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E48E6B4-F251-4E3F-BB3E-ADBF2D02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3.1, pp. 10–12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B2657319-A225-4540-A9B4-079D4DA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94FEB96-E99A-475A-B3E2-C5D9764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4BD2378A-64F4-47E7-A474-0749D29E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3F4AA6B3-7084-4B76-B83F-7296437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813B2940-293E-47B2-91BF-8AE40FC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TESTING — planned elicitation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57E46AEF-9A5E-44C0-A688-1371247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40A9B74D-C335-4C88-BF9E-AD8C9546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498EED8B-A2E8-4A2F-8AD7-7823699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ASSESSMENT — evidence for decisions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0063A0A5-84C4-4AFF-93C4-6C85CE5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D000F9E4-F73C-4895-872D-BD2B312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DE671BBE-7338-456E-AF16-640FF5D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EVALUATION — judgement of value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059A60BF-1600-4715-BC52-7BB72D4A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Differentiate three embedded concepts and connect each to a designer’s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61682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17452E3-03C2-4E64-9921-9AAE22D4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696768a304b89">
            <a:extLst>
              <a:ext uri="{96DAC541-7B7A-43D3-8B79-37D633B846F1}">
                <asvg:svgBlip xmlns:asvg="http://schemas.microsoft.com/office/drawing/2016/SVG/main" r:embed="Rced29e3f35e84b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26A1606-2823-4274-8D70-F869F036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CASE ANALYSIS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7919ED-09AB-4AB2-9190-989AA27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Classify the Practice—and Defend the Boundary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0CF8ADD-66C0-4119-9465-F77B4102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0C44D26C-F7DB-49D1-BC65-D9F78257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Application of Section 3.1, pp. 10–12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7DB84A8-2464-471C-956A-64459FE5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92C62FC-910D-4A2D-BC70-A986DF4F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83C87958-1090-48B5-B05C-9FC0D030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2E8DF489-8E06-4CB0-BB77-C3176062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Apply the conceptual distinctions to ambiguous classroom practices.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50A7A2B-B79A-4623-909C-40A0469A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FF69E530-820D-478D-985F-F0D98721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7D178FC2-A72C-4B0C-B63A-3A3313E4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Classify the dominant process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A3411CDA-CCF9-4000-9EE4-DD4E0533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06D06F8-AB87-4F5B-BD5F-57B26D09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CC55ABA3-22E6-4429-BC92-7135181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Trace the use of information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EA8AD6FA-2C72-428C-8C2A-6EEF9C7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AA53CB76-B725-4A92-A217-CD3B9472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CABA8B22-BC6C-47CF-9B0A-748321B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Defend the boundary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57761C5F-EA4F-4FA4-B9F3-85955E25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4F65DDD5-4A1D-4120-90FE-266F5F56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7D42B33E-7916-47AF-AE8A-9DFE2FAD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Allow overlapping functions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E4B42AF6-C820-4297-BE57-AFAA1878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A763121E-56E1-4944-8C1E-3B1556A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DBF854CA-C84B-458D-8C71-F4194A6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information is collected?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How is it elicited?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judgement or action follows?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8C05217B-FAA6-474E-9FA8-928A546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ADB69698-61EB-40E7-A84E-7B815A2A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Group classification sheet and oral justifications.</a:t>
            </a:r>
          </a:p>
        </p:txBody>
      </p:sp>
    </p:spTree>
    <p:extLst>
      <p:ext uri="{BB962C8B-B14F-4D97-AF65-F5344CB8AC3E}">
        <p14:creationId xmlns:p14="http://schemas.microsoft.com/office/powerpoint/2010/main" val="546308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E0BC5A3-6F98-4600-B734-2B452ACC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3e832baca462a">
            <a:extLst>
              <a:ext uri="{96DAC541-7B7A-43D3-8B79-37D633B846F1}">
                <asvg:svgBlip xmlns:asvg="http://schemas.microsoft.com/office/drawing/2016/SVG/main" r:embed="R50dc0f3ce32143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69D1619-0A66-49AC-BA16-F97EDE5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CONSTRUCT INFERENCE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D74E61-83E5-4465-83A3-284C841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Language Ability Is a Designed Representation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A2295EA-4C2A-4DD5-A078-8C67D3F2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93B5105-1654-43E8-9DC1-EB43CC26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3.2, pp. 12–13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1BF33FF-EDE9-45EC-A53C-7C2D609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ADDD2AB-E6CF-43E6-91B2-480476BD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EE33EDDF-697E-42B6-AFB7-08EE8CDB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85C6677B-C6E3-4BD6-9A44-6A006D81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Introduce language ability as a theoretical and socially consequential representation rather than a directly visible object.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59D5BB86-883D-4278-94ED-1E7A717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C8A398EC-1C43-48FA-82E0-62C3A47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F35DCA9B-4814-4C1C-A519-83C21384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TASK &amp; CONDITIONS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D91429BA-151F-4013-99AA-0C8119B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E204A591-63C2-46F0-A4EF-C33E98B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660E323-9F99-41FA-9F2E-CEDD1882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OBSERVED PERFORMANCE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ADD5641D-091C-49D8-A238-17DB34F7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F9C1B7F4-D8F1-4E01-9F22-25985C9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1BBBF50F-3FBF-4106-8724-F9CA4AE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INFERENCE ABOUT ABILITY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1E08D629-8E80-4BEB-AF8D-A8073BBC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0326E410-390E-4E9C-BBC6-58236448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EB7DB4C5-4C63-4C85-988C-A5FB2FE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Can we directly observe proficiency?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beliefs about language are built into a grammar-only test?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Who may be misrepresented by a narrow model?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3416539-5EA8-4530-84E4-F159001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6B91D37B-DB79-4E4B-ABF1-2DEFAF09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Listen for movement from ‘measures ability’ to ‘supports an inference about ability.’</a:t>
            </a:r>
          </a:p>
        </p:txBody>
      </p:sp>
    </p:spTree>
    <p:extLst>
      <p:ext uri="{BB962C8B-B14F-4D97-AF65-F5344CB8AC3E}">
        <p14:creationId xmlns:p14="http://schemas.microsoft.com/office/powerpoint/2010/main" val="1168163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B55C11F-83C9-4091-923F-48B7F9DA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78c672b7940f7">
            <a:extLst>
              <a:ext uri="{96DAC541-7B7A-43D3-8B79-37D633B846F1}">
                <asvg:svgBlip xmlns:asvg="http://schemas.microsoft.com/office/drawing/2016/SVG/main" r:embed="R848370dd05334b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F6D1A16-5755-40B1-9749-69449CF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INFERENCE SCOPE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09C296-2322-44FC-A2AC-A021A9C0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General Proficiency, Specific Purpose, or Achievement?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ED90402-BAA6-4A8B-A826-58676DA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59BA3D9-D26E-49CB-B7BF-9B9D892B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3.2.1, pp. 13–17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F606D35-758C-4815-B228-9C31450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A63A558-3279-4ED4-8ECE-BAC13BC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9768F2E6-1966-46A9-9BC9-A21A4527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31C92F6B-4884-4CFA-B870-CF5892C5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D4C9F94C-4B06-47C0-9FA5-B3D173B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GENERAL PROFICIENCY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1291FBF5-F9F7-40F7-8168-1229EC88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SPECIFIC-PURPOSE / ACHIEVEMENT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83174390-B4FC-45C6-B46C-EE78D228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57AC2CDE-F1E3-487B-B88E-170DCB4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16E20C29-58E2-4668-9D93-E86B990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C65341B2-DA6C-4AD6-BB4C-E481528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Generalise only as far as sampling supports</a:t>
            </a:r>
          </a:p>
        </p:txBody>
      </p:sp>
    </p:spTree>
    <p:extLst>
      <p:ext uri="{BB962C8B-B14F-4D97-AF65-F5344CB8AC3E}">
        <p14:creationId xmlns:p14="http://schemas.microsoft.com/office/powerpoint/2010/main" val="2038615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2DA533F-53CB-4892-BFAF-193AC4A3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d4b2b99214a18">
            <a:extLst>
              <a:ext uri="{96DAC541-7B7A-43D3-8B79-37D633B846F1}">
                <asvg:svgBlip xmlns:asvg="http://schemas.microsoft.com/office/drawing/2016/SVG/main" r:embed="Rd7c88755eac24e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F632F76-D952-4C1C-B187-E1E4BE84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LANGUAGE-USING SKILLS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42E07E-C880-4748-9FC5-1BD3939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Macro-Skills Are Bundles, Not Constructs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1BB19A3-1E98-4D4C-9B2C-E0896D5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9ABE4CFA-5F84-4871-83BE-A3D6DE96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3.2.2 and Tables 1–2, pp. 17–19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530F1FA-C831-4AEF-92F2-7C120A11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7970D3D-4485-4F87-90CE-D830A655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D6E33F83-F506-4E98-808F-5816430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65B9B5F5-C51A-4E41-ABC3-2178E403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169D6106-ED59-4921-A322-7A0C650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38DB642D-96A4-4D3D-BF4B-760022DD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PURPOSE &amp; MEANING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10A86957-1D1F-48FD-9461-389CBA88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A1348D2E-0C9C-43F7-9D5A-54BDAEF9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55AFEBD5-0563-4AF2-A777-B5E917B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PROCESSES &amp; STRATEGIES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D2B6AF3A-63FC-4A49-B145-27CE0EA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04F98588-A3BF-49A7-8761-A0C441C1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9C16FE5B-5A73-436C-A753-6676DF66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INTERACTION / TEXT</a:t>
            </a:r>
          </a:p>
        </p:txBody>
      </p:sp>
      <p:sp>
        <p:nvSpPr>
          <p:cNvPr id="19" name="take">
            <a:extLst xmlns:a="http://schemas.openxmlformats.org/drawingml/2006/main">
              <a:ext uri="{FF2B5EF4-FFF2-40B4-BE49-F238E27FC236}">
                <a16:creationId xmlns:a16="http://schemas.microsoft.com/office/drawing/2014/main" id="{3E88DD23-7561-40E2-BC82-CBD9534A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Unpack reading, listening, speaking, and writing into purposeful language-using skills.</a:t>
            </a:r>
          </a:p>
        </p:txBody>
      </p:sp>
    </p:spTree>
    <p:extLst>
      <p:ext uri="{BB962C8B-B14F-4D97-AF65-F5344CB8AC3E}">
        <p14:creationId xmlns:p14="http://schemas.microsoft.com/office/powerpoint/2010/main" val="1148525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DFAF0F6-77E4-46FB-81E4-258D33F3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9916280394e61">
            <a:extLst>
              <a:ext uri="{96DAC541-7B7A-43D3-8B79-37D633B846F1}">
                <asvg:svgBlip xmlns:asvg="http://schemas.microsoft.com/office/drawing/2016/SVG/main" r:embed="R913a2a12878748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BDB8E40-89E1-4B46-8A8C-1D3DE1D7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PROFICIENCY COMPONENTS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0E6F03-87D6-4755-8842-C5B08A2E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Components of Language Proficiency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46112E2-2F5B-4B99-8442-6B5F6353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C0C535B-9B24-4205-9BD6-A3D5BAD0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3.2.3, pp. 19–20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9ED4EAD-9235-41E0-9003-BD24EA66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5AFB75D-399C-4190-9132-93BD027E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BBAC69F9-5510-45AF-B727-203DB3F3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9BDB07C6-4B1B-4CAD-A690-D1F69D82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D952E062-F778-4C85-A70F-561ED191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LINGUISTIC RESOURCES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1608B4B2-D6E2-4BBA-83A9-F1D2706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439B0C2E-C472-4537-9635-3FBAD73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9AABC293-27E8-43FD-9BBA-877821B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DISCOURSE &amp; FUNCTION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8B1C9368-AEE3-4B80-B316-B61B560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A7825B6A-DF9E-4C20-91B0-F71BFFBA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D81CFF2-DE48-4286-983D-520AAF7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PRAGMATIC / SOCIOLINGUISTIC FIT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D69B8C0B-90BA-4779-BB96-FCD42D9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Relate grammatical, textual, functional, sociolinguistic, vocabulary, and pronunciation resources to performance.</a:t>
            </a:r>
          </a:p>
        </p:txBody>
      </p:sp>
    </p:spTree>
    <p:extLst>
      <p:ext uri="{BB962C8B-B14F-4D97-AF65-F5344CB8AC3E}">
        <p14:creationId xmlns:p14="http://schemas.microsoft.com/office/powerpoint/2010/main" val="85158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FA328E1-1F70-42FE-9C37-4BF253B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ee24bd8424007">
            <a:extLst>
              <a:ext uri="{96DAC541-7B7A-43D3-8B79-37D633B846F1}">
                <asvg:svgBlip xmlns:asvg="http://schemas.microsoft.com/office/drawing/2016/SVG/main" r:embed="R6ade6cc5f17747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19CEDEF-231C-487B-A1DF-FBD8A8DD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ABILITY IN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FE53CD-549B-40CB-A017-8F3F51E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Performance Is Ability-in-Context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8EBC15E-2B69-466B-AF5C-27CC66D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5043BCB-6B62-4B4B-9E54-FAE19EE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3.2.4, pp. 20–21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B44D213D-8A61-408B-9565-FE5A67E0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8C380DC-D07F-491E-A9C9-8E06A3B7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8E23404A-C2E1-41D5-B452-37007AD6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22F43DA9-ECF6-463D-A0E3-1F7D2170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FE4752F1-AE6B-448D-8E8D-ACB4AF2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ABILITY RESOURCES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2B3322CE-3A61-44D6-BE0E-9DB2D89A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TASK &amp; CONDITIONS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67A24998-9F50-45BB-8965-BDC30326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D5719AB3-7963-44D5-8442-DA86446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FC8D8CE6-8F6B-4154-A50F-FED18EF8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E0F7DD4E-0E5B-4E73-BE28-E2C58150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1387616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6FCEEFB-18A5-4A81-8B25-1039155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77e4137e24683">
            <a:extLst>
              <a:ext uri="{96DAC541-7B7A-43D3-8B79-37D633B846F1}">
                <asvg:svgBlip xmlns:asvg="http://schemas.microsoft.com/office/drawing/2016/SVG/main" r:embed="R935d81da50e844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D17C230-4DE8-44E4-A3F3-8851D8E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SOCIAL DIMENSION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4F76F5-C35E-4916-B65E-49EAD4C4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The Social Dimension of Construct Design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21E9C32-2302-4FF4-9272-ECFA9B61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886A7BB-7083-46CC-B607-E2E79BF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3.2.4, pp. 20–21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91B51B5-12D5-4B60-B78F-7ED40591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16109AA-F549-4E10-9541-C820656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E1AA3F6-AE9B-4D96-8333-76E1F6BC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41912A4A-B38D-4F8A-AD30-53276148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Connect construct representation to institutional power, relationships, opportunity, and sociocultural expectations.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1BB5CA8-9C2F-4CEE-83C8-26FD3C6F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C0410083-F6BE-41E9-A090-316DC67E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13A7F57C-DF9E-412C-B87D-5037390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Norms define valued performance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BF2983B7-34A4-4797-87A7-0BF5E7D8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7ED92A0-4374-475A-8468-561530A8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4B346601-23EF-43A0-A63A-1FEE424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Power shapes participation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14F8DBBF-5888-4C47-9935-89BFA4E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FCEEA6B2-DA68-4D74-9BF4-9235740A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E10C8F53-EF4B-4CCA-8E07-2269CE41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Target practices require evidence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4246BBD2-3117-4B6C-8624-D743B9C6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6E85FD6F-90E5-4041-B15A-174E783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19F40450-EC51-45AF-930D-4A23B0FF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Avoid universalising one norm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6B25923D-1E64-4EF5-AA56-1B54545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B09A80F5-D931-4F04-B16F-8C38C3B7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795286CD-2DC9-4D19-ABD8-A981FD3F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Whose language practices become the standard?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How might teacher authority shape observable participation?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Which social expectations are legitimate parts of the target domain?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088BB8FB-9C03-40EC-AA67-14B41B7A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6358A11D-49EA-4F26-B99B-0AA8D1E4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Examples reveal how students reason about norms and power.</a:t>
            </a:r>
          </a:p>
        </p:txBody>
      </p:sp>
    </p:spTree>
    <p:extLst>
      <p:ext uri="{BB962C8B-B14F-4D97-AF65-F5344CB8AC3E}">
        <p14:creationId xmlns:p14="http://schemas.microsoft.com/office/powerpoint/2010/main" val="670457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6F5BCD0-7EFF-48A7-A586-4D271CF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d28af33e74af7">
            <a:extLst>
              <a:ext uri="{96DAC541-7B7A-43D3-8B79-37D633B846F1}">
                <asvg:svgBlip xmlns:asvg="http://schemas.microsoft.com/office/drawing/2016/SVG/main" r:embed="Rba5cf95431b64e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6FC1337-6CA1-49EB-BAAC-487692E3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MULTILINGUALISM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A5770C-332F-418A-AB29-9467C639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Multilingualism: What Counts as Competent Performance?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3118EEC-3CAD-445B-B414-E629A8EE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0871D8E-F8A3-4141-834B-0C05B225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3.2.5, pp. 21–23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8B31264-1A1E-401C-966F-7E6390D6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AAAE713-0560-4AB2-AD84-C6F655B6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2F24CB88-3415-4D84-A6BC-AC161E6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91A76EE9-D0D7-4C16-96B7-7C47EDE9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Interrogate monoglossic assumptions and consider multilingual resources in construct definition.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3EBFEAC-6D15-404C-B11F-6EA009A8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E86B1436-9021-4F67-86F2-473DBB97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9AA0CBA-51B5-4FF5-8449-FC3E82EB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PROHIBIT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E7AA5213-87F4-4900-A34E-BCC0C523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F84AE801-E9A2-4DBA-8B1F-2CABEC3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F0929EB8-4CD2-44B0-ABBF-2AE1F1FB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TOLERATE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C7BCF01-E449-4C09-9083-1EBBDB8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C8EE65D3-4396-4B02-870C-598CA74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5851E0A5-FB95-42DF-8565-C59481C6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DELIBERATELY ELICIT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6CE53754-3895-476F-B1CD-DD9EA1EF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E878F7EA-0B9A-4B49-A2DE-69120FCB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34FBEAC3-913D-43BC-9870-4E72ED82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When should multilingual resources count as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When might English-only conditions be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Does accent difference equal communication failure?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327CE82-BEE3-4460-AA1C-AAF39BB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1FE62370-EF25-4181-AD5B-6007E00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Language-policy decision plus rationale for the team project.</a:t>
            </a:r>
          </a:p>
        </p:txBody>
      </p:sp>
    </p:spTree>
    <p:extLst>
      <p:ext uri="{BB962C8B-B14F-4D97-AF65-F5344CB8AC3E}">
        <p14:creationId xmlns:p14="http://schemas.microsoft.com/office/powerpoint/2010/main" val="1388151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BD63B3D-FEEE-4058-A23D-D50B710C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96ba26de1410f">
            <a:extLst>
              <a:ext uri="{96DAC541-7B7A-43D3-8B79-37D633B846F1}">
                <asvg:svgBlip xmlns:asvg="http://schemas.microsoft.com/office/drawing/2016/SVG/main" r:embed="Rdc0358186ce24a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6DAD224-7C2C-4B1C-AD89-C613E93B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CONSTRUCT THREATS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689E99-09F8-41E1-9E8F-506BC110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Two Construct Threats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13B951F-D21F-479A-9E2B-04FA2612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0729662-F29A-48E1-8FC0-1DB199A5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Construct principles applied to Phakiti &amp; Leung (2024), Section 3, pp. 12–23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6B802D1-29AF-4449-8FBC-91EEE29D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FF9405E-969E-4706-B657-7B4C570B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5A597892-6405-4870-A349-E3EEB4A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3AC6BFA7-48B5-4CC3-A391-E3A8B33F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Diagnose construct underrepresentation and construct-irrelevant demands in concrete tasks.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0D50A069-6EAC-442D-8D10-9C6E2441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53074F0E-F3AD-4665-9676-5EAF65F3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9984E38-F3B1-47E6-830B-E54FBC2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UNDERREPRESENTATION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9EA8729-B43E-46B1-8B63-E678C06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E343A761-2746-4CCE-B7AC-2021ADFC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72015927-9FD7-4067-8CE3-04714549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IRRELEVANT DEMANDS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5EFA6F0-5C8F-488C-A526-75E0CAD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5D7BF40C-F281-408D-AB36-304BB18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222F5803-EAC2-4966-8FCD-8ED9011A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Both distort the intended inference</a:t>
            </a:r>
          </a:p>
        </p:txBody>
      </p:sp>
      <p:sp>
        <p:nvSpPr>
          <p:cNvPr id="20" name="side">
            <a:extLst xmlns:a="http://schemas.openxmlformats.org/drawingml/2006/main">
              <a:ext uri="{FF2B5EF4-FFF2-40B4-BE49-F238E27FC236}">
                <a16:creationId xmlns:a16="http://schemas.microsoft.com/office/drawing/2014/main" id="{81468B98-D930-4F6F-8254-2CF7372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qh">
            <a:extLst xmlns:a="http://schemas.openxmlformats.org/drawingml/2006/main">
              <a:ext uri="{FF2B5EF4-FFF2-40B4-BE49-F238E27FC236}">
                <a16:creationId xmlns:a16="http://schemas.microsoft.com/office/drawing/2014/main" id="{333B57AD-C8CE-4459-91F6-43CD88F9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2" name="q">
            <a:extLst xmlns:a="http://schemas.openxmlformats.org/drawingml/2006/main">
              <a:ext uri="{FF2B5EF4-FFF2-40B4-BE49-F238E27FC236}">
                <a16:creationId xmlns:a16="http://schemas.microsoft.com/office/drawing/2014/main" id="{2EAD9DED-6671-43DD-A266-3021E22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intended ability is missing?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extra demand may distort the evidence?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Could redesign solve one threat while creating another?</a:t>
            </a:r>
          </a:p>
        </p:txBody>
      </p:sp>
      <p:sp>
        <p:nvSpPr>
          <p:cNvPr id="23" name="deliverable">
            <a:extLst xmlns:a="http://schemas.openxmlformats.org/drawingml/2006/main">
              <a:ext uri="{FF2B5EF4-FFF2-40B4-BE49-F238E27FC236}">
                <a16:creationId xmlns:a16="http://schemas.microsoft.com/office/drawing/2014/main" id="{4A181D5F-2170-425D-B2E4-D4D1BD90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4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83D31BC-539D-43F6-953B-67406A12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two-threat analysis of the brought assessment.</a:t>
            </a:r>
          </a:p>
        </p:txBody>
      </p:sp>
    </p:spTree>
    <p:extLst>
      <p:ext uri="{BB962C8B-B14F-4D97-AF65-F5344CB8AC3E}">
        <p14:creationId xmlns:p14="http://schemas.microsoft.com/office/powerpoint/2010/main" val="9120180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B074FCC-298E-4F44-8D38-641FE1DE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c98973b984f17">
            <a:extLst>
              <a:ext uri="{96DAC541-7B7A-43D3-8B79-37D633B846F1}">
                <asvg:svgBlip xmlns:asvg="http://schemas.microsoft.com/office/drawing/2016/SVG/main" r:embed="Ra021cdd356cb49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52B5E6C-685D-42F7-A06D-EEA6D8E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DESIGN STUDIO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E087AC-BAC3-495E-9235-7C0E32B8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Construct Audit of the Brought Assessment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B03B912-9A96-47E4-9B48-B1F73B70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5650960-7EBD-4F06-9BA4-A53815F9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application of Section 3, pp. 10–23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BE6A68B-5B16-42E6-B789-E66123C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17AA7C9-D53D-4A38-B5BB-A31C9C5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9819C596-71EE-4794-A303-C199EB3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EF4B50A-7BE5-4A90-BE63-34435ABD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75DF4B74-BC4E-4392-930C-964A0E10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5A765C7E-89C5-463A-BA5E-C7E3E77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State the intended claim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52D78A62-7294-4450-96F1-528FD7C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E0B635CF-B00C-4876-BF89-3EFC884F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9CAB0D57-4B71-4AA1-907B-82641B5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Audit coverage and contamination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58B431A0-7F85-43D0-B515-7D88019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A74183E8-8098-4041-A62E-43EB4484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656446A5-E586-438D-A779-D9DAF993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Bound the inference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54246FC3-BAC9-43A0-B677-20BC1E67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DB794A37-CBE0-4DCB-A0A5-5B351AF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8D0506C1-24F6-448B-83B5-6E962692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Propose one justified revision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A0421523-250D-42CA-810D-22789F2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Audit an existing assessment for construct clarity, representation, irrelevant demands, and inference limits.</a:t>
            </a:r>
          </a:p>
        </p:txBody>
      </p:sp>
    </p:spTree>
    <p:extLst>
      <p:ext uri="{BB962C8B-B14F-4D97-AF65-F5344CB8AC3E}">
        <p14:creationId xmlns:p14="http://schemas.microsoft.com/office/powerpoint/2010/main" val="1569312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E555399-9AC1-4FD7-B9D3-2B4A510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7348ab3844c6c">
            <a:extLst>
              <a:ext uri="{96DAC541-7B7A-43D3-8B79-37D633B846F1}">
                <asvg:svgBlip xmlns:asvg="http://schemas.microsoft.com/office/drawing/2016/SVG/main" r:embed="R7ea6b964e30b4b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AE20363-7EBB-45D5-9FBC-DE3DC8BD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TARGET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B16532-77FD-4959-8E96-F9D1497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Context Statement: Define the Target Situation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B87D12-93BF-4493-95C0-6873B663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697FDF9-7C70-404A-8D8D-17275FA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design studio informed by Section 3.2, pp. 12–23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14C2D96-9B8B-4A9C-8A87-9CB7809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F0A0A40-3C08-4CFA-97F1-5AC8F12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E2404B51-A5EC-425E-B076-F66EA55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E8229566-9A2B-42BE-839D-0987A3FD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F9459E8E-496A-49F0-8897-FC4C8C4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6C5BEC9C-653D-4A23-88B5-BE561D2F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WHO / WITH WHOM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8FB144D1-FABC-4586-B8AC-D2A8C1A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DBE2E5B4-746B-4AC8-96BC-3A7DD8E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2EBE1321-4D25-48F2-BA20-F05EC71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PURPOSE / GENRE / MODE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22355D09-36E0-429A-A206-5E844866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8544BEAD-C035-4841-BDC8-816B41E3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B9EF7E91-5A94-4AEF-A9DF-5CD7D26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CONDITIONS / RESOURCES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12C85B89-70B1-4CF2-8336-CE4A2A09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3B7F6578-9D58-46CE-A00E-10B8BB2F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5D206E60-38D7-45F4-9466-12BE834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INTERPRETATION / DECISION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F6DC276F-9147-441F-A0D1-4DC8F4C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Specify learners, target domain, communicative purpose, conditions, norms, resources, and intended use.</a:t>
            </a:r>
          </a:p>
        </p:txBody>
      </p:sp>
    </p:spTree>
    <p:extLst>
      <p:ext uri="{BB962C8B-B14F-4D97-AF65-F5344CB8AC3E}">
        <p14:creationId xmlns:p14="http://schemas.microsoft.com/office/powerpoint/2010/main" val="1051975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972F3AD-153F-4619-A487-DA8D977F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8a22feb5c4508">
            <a:extLst>
              <a:ext uri="{96DAC541-7B7A-43D3-8B79-37D633B846F1}">
                <asvg:svgBlip xmlns:asvg="http://schemas.microsoft.com/office/drawing/2016/SVG/main" r:embed="R353cd7371fd844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82CAB01-A8B0-4639-9C19-942F0CBB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STUDIO PROTOTYPE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CAC77A-D660-42C3-93E5-D76079F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Build Construct Map v1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75CF83F-48D4-492A-8227-0F4878D5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FF1C80B-2BAE-4C4F-95C1-C5475F9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design studio; synthesis of Phakiti &amp; Leung (2024), Section 3, pp. 12–23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E1CF327-F3DA-44B2-9B93-10C2C9C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9E79C61-4125-4A8A-991D-9246789F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CA0CF2CF-37CA-45D3-831B-E029685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ABADD37D-4045-4599-98D6-FE7532C2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Represent the focal ability, relevant components, performance conditions, observable evidence, and exclusions.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94EA3313-7C31-4B49-B2BD-FE744779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D6DCB8E9-68FC-4648-BEAF-4BE6B816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04AA06B0-B40B-4985-BD8C-4B15E3D0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Focal construct in context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8CADD13-FAC4-42B0-94D3-9F1052E4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7823EDF7-2B6E-48D6-8206-8F360DD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4514D96A-DA3A-4D43-A389-0082C1B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Essential processes and resources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520E79A6-6A62-4DDF-8ACD-7AF5CC7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D8D98B35-16FE-452B-9F74-3EF86F74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2B5E1F1A-19B9-4801-84DE-2AEC0C36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Relevant conditions and evidence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3B203E78-97BD-4F9C-A555-2AC58527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8B565A9B-54C5-438A-BF53-FCA47EF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BEB1DC66-A757-4729-8413-B4E4ED1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Exclusions and boundaries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3F0D860B-A3C2-4289-BDE4-5B4C9B42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C5378FC3-D661-4F36-8CEF-04AC20B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87616889-61C8-4C17-9D57-DBC56631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Why is each component necessary for the intended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performance could reveal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Which condition belongs to the ability?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BAB35BEE-7D6F-4C82-94BB-5FC73C9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4250FF40-DFE0-4883-95A9-DB95023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Team Construct Map v1 preserved before critique.</a:t>
            </a:r>
          </a:p>
        </p:txBody>
      </p:sp>
    </p:spTree>
    <p:extLst>
      <p:ext uri="{BB962C8B-B14F-4D97-AF65-F5344CB8AC3E}">
        <p14:creationId xmlns:p14="http://schemas.microsoft.com/office/powerpoint/2010/main" val="1664110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ADECDD9-7C10-4610-A0AE-C8FC1208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2109b12d042e8">
            <a:extLst>
              <a:ext uri="{96DAC541-7B7A-43D3-8B79-37D633B846F1}">
                <asvg:svgBlip xmlns:asvg="http://schemas.microsoft.com/office/drawing/2016/SVG/main" r:embed="R8e63ae1c9a9f4b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E1F116C-A636-4700-92E6-EC58C04C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CRITICAL-FRIEND REVIEW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513BC7-CFC7-4ECA-8B5A-9A7562E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Critical-Friend Review: Claim, Coverage, Contamination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3AA0058-4330-4B13-B4A8-19C4F1FA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5BC36762-61D3-4098-B17D-87C84314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critique protocol aligned with Section 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8E0DAD1-C76A-4EEE-8F42-3846850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4F86CD9-1A8D-43E8-8CC6-3395C488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029AB2A6-1E3A-456E-8582-26EC2C45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B87D222-06D4-4FE6-8908-60B418F0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Improve construct maps through focused peer critique and reasoned response.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2FCD018C-4789-4EB7-9FBC-016CD6D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8821D713-4116-4BF2-BF73-45DF1C2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F4DBB37A-28DF-4A92-B604-F1463F5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CLAIM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BF208046-7659-48E3-AAA2-309CE03A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783EF754-7DF8-4AFE-BC87-5D4A78A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5CE11B3-F909-40C0-89F0-E50B7565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COVERAGE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505D525D-1C17-4A14-9CF8-1B636A38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294349B6-2CE0-4A1A-8C7C-CC3D8D1C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D3EA3E19-9557-4555-832F-BC145661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CONTAMINATION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0FA319DC-1B6F-4711-BD71-8E11511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D073A05E-1CF6-4E88-8F5F-81FF0BD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B27C92FE-618F-4274-B2B7-0CD7740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CONTEXT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04AB15EE-A700-424E-BB21-50EF6CD8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044F5B4D-8472-4D3E-BF41-DE3BCB5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18550CF9-B869-43C7-B999-26D7DF7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would this map allow the team to claim?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essential component is missing or overemphasised?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irrelevant factor could influence performance?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FB8B4E7C-65E6-4CF7-8156-6C285DFF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5A610DE8-722F-4284-8EED-6F4E504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Critical-friend sheet and accept/adapt/reject decision trail.</a:t>
            </a:r>
          </a:p>
        </p:txBody>
      </p:sp>
    </p:spTree>
    <p:extLst>
      <p:ext uri="{BB962C8B-B14F-4D97-AF65-F5344CB8AC3E}">
        <p14:creationId xmlns:p14="http://schemas.microsoft.com/office/powerpoint/2010/main" val="2513081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BBCE63D-A7A4-40E4-BE4A-0F732F2B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21c6465af4735">
            <a:extLst>
              <a:ext uri="{96DAC541-7B7A-43D3-8B79-37D633B846F1}">
                <asvg:svgBlip xmlns:asvg="http://schemas.microsoft.com/office/drawing/2016/SVG/main" r:embed="R8a7ca6c3b2714e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6102EF8-F052-4107-AF7D-72B40A1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B51CF-75D4-458E-9602-D39F7411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Individual Design Rationale 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F689D9D-B68B-4FB4-B4BF-2719FE2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68DC1E0-5512-4F96-A040-04819AF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learning and research task; grounded in Section 3, pp. 10–23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B10DF109-DE04-4DB4-A99E-77E6E730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E7BB60C-A8CC-4DBF-B360-311FAAFC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7F04C5B0-C31D-432A-A3B0-901E6A3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CBCE700A-6472-45C2-AAC3-D3F231E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FD8C09B5-515E-4E27-8D2F-4B936B57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REVISE the construct statement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01803CAB-DFB0-49D9-8428-E24BD971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57D86606-AD5C-4CCD-B59F-F7CB22F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CBF75504-1781-4CB2-BCE0-24924EB5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EXPLAIN what changed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7F69C725-6BE0-4C63-9BAF-44883D7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9D99C25E-AC64-4D04-9AE6-9B0CE406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682AE08-47D9-45A4-B65F-F1414BD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JUSTIFY the change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5AC60FB7-3847-44BD-A25B-7BAB39DE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Capture individual post-instruction construct reasoning and prevent team products from masking individual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706306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9F561B5-9FA6-475B-8788-1987D98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aad726b7f4e9e">
            <a:extLst>
              <a:ext uri="{96DAC541-7B7A-43D3-8B79-37D633B846F1}">
                <asvg:svgBlip xmlns:asvg="http://schemas.microsoft.com/office/drawing/2016/SVG/main" r:embed="Rd33c8e912c2f42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6A4F7A7-2738-449A-A82A-218AEA0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9C7C22-CC56-4E6B-94EA-85A998D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Design Commitments and Preparation for Session 3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C0ED4A3-7139-4CAD-A880-A30435B3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8D86BEB-9B4D-4396-8CE6-12CC130E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Session 2 synthesis; prepare Phakiti &amp; Leung (2024), Section 4, pp. 23–33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07993D1B-4385-47FB-9C7F-F496A694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2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8856D8C-7A38-4D18-980E-D8E5631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86D3FF50-0A68-4D50-80BC-5879A4E7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809B04CB-29D7-4C1F-A07B-68C3DA94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0A4445B7-12F4-43B0-9632-BA55E61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Constructs are inferred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88F1D3C2-924A-4912-BC7A-9A670935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1A2FDF02-0E20-457D-A981-C488F554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2975566-73D5-432C-A9F5-74826F7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Representation must be contextualised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448C1EBD-5AE9-425A-96A0-973D4235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77FC0159-8F3F-4F5C-9923-A74AF887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5231DBC1-3A32-4B1E-A4D0-8297B69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Claims need boundaries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37401A5F-F980-4BFD-A856-DDD1C25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Consolidate Session 2 and prepare the transition to formative and summative assessment systems.</a:t>
            </a:r>
          </a:p>
        </p:txBody>
      </p:sp>
    </p:spTree>
    <p:extLst>
      <p:ext uri="{BB962C8B-B14F-4D97-AF65-F5344CB8AC3E}">
        <p14:creationId xmlns:p14="http://schemas.microsoft.com/office/powerpoint/2010/main" val="1776477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2026-07-13T15:52:06.0740000Z</dcterms:created>
  <dcterms:modified xsi:type="dcterms:W3CDTF">2026-07-13T15:52:06.0740000Z</dcterms:modified>
</coreProperties>
</file>