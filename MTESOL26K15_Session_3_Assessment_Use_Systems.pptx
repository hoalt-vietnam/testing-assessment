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b40609b7b42df" /><Relationship Type="http://schemas.openxmlformats.org/officeDocument/2006/relationships/extended-properties" Target="/docProps/app.xml" Id="R0dc11ee7d1ee4758" /><Relationship Type="http://schemas.openxmlformats.org/officeDocument/2006/relationships/officeDocument" Target="/ppt/presentation.xml" Id="R4dc23e905ecd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25f9bf24ed4760"/>
  </p:sldMasterIdLst>
  <p:notesMasterIdLst>
    <p:notesMasterId xmlns:r="http://schemas.openxmlformats.org/officeDocument/2006/relationships" r:id="R6e5b322ba7534c4e"/>
  </p:notesMasterIdLst>
  <p:sldIdLst>
    <p:sldId xmlns:r="http://schemas.openxmlformats.org/officeDocument/2006/relationships" id="256" r:id="Rbccb486ae19a46dd"/>
    <p:sldId xmlns:r="http://schemas.openxmlformats.org/officeDocument/2006/relationships" id="257" r:id="R19b3c0810f094605"/>
    <p:sldId xmlns:r="http://schemas.openxmlformats.org/officeDocument/2006/relationships" id="258" r:id="R8e48d2ac4bf3410e"/>
    <p:sldId xmlns:r="http://schemas.openxmlformats.org/officeDocument/2006/relationships" id="259" r:id="Rdfa7a76a88c84662"/>
    <p:sldId xmlns:r="http://schemas.openxmlformats.org/officeDocument/2006/relationships" id="260" r:id="R247512bf191e41c4"/>
    <p:sldId xmlns:r="http://schemas.openxmlformats.org/officeDocument/2006/relationships" id="261" r:id="R48e72afa07714a55"/>
    <p:sldId xmlns:r="http://schemas.openxmlformats.org/officeDocument/2006/relationships" id="262" r:id="R9ba05fbedc7a4eb3"/>
    <p:sldId xmlns:r="http://schemas.openxmlformats.org/officeDocument/2006/relationships" id="263" r:id="Rc47508d561114953"/>
    <p:sldId xmlns:r="http://schemas.openxmlformats.org/officeDocument/2006/relationships" id="264" r:id="Rafb88db063084e3e"/>
    <p:sldId xmlns:r="http://schemas.openxmlformats.org/officeDocument/2006/relationships" id="265" r:id="Rb2c9af3cbbc14197"/>
    <p:sldId xmlns:r="http://schemas.openxmlformats.org/officeDocument/2006/relationships" id="266" r:id="R5ce04694196b4485"/>
    <p:sldId xmlns:r="http://schemas.openxmlformats.org/officeDocument/2006/relationships" id="267" r:id="R623307a09a5f4611"/>
    <p:sldId xmlns:r="http://schemas.openxmlformats.org/officeDocument/2006/relationships" id="268" r:id="R28ce77d78a1c4319"/>
    <p:sldId xmlns:r="http://schemas.openxmlformats.org/officeDocument/2006/relationships" id="269" r:id="Rab96a195d49348ab"/>
    <p:sldId xmlns:r="http://schemas.openxmlformats.org/officeDocument/2006/relationships" id="270" r:id="R7878d33646054d88"/>
    <p:sldId xmlns:r="http://schemas.openxmlformats.org/officeDocument/2006/relationships" id="271" r:id="R168e4c80ea3c40b5"/>
    <p:sldId xmlns:r="http://schemas.openxmlformats.org/officeDocument/2006/relationships" id="272" r:id="Rbeb1c42a042a4779"/>
    <p:sldId xmlns:r="http://schemas.openxmlformats.org/officeDocument/2006/relationships" id="273" r:id="Re908a700bb424da4"/>
    <p:sldId xmlns:r="http://schemas.openxmlformats.org/officeDocument/2006/relationships" id="274" r:id="R7e529e73d9d04ee4"/>
    <p:sldId xmlns:r="http://schemas.openxmlformats.org/officeDocument/2006/relationships" id="275" r:id="Rad45ba306e0f47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abe91558e4e76" /><Relationship Type="http://schemas.openxmlformats.org/officeDocument/2006/relationships/slideMaster" Target="/ppt/slideMasters/slideMaster1.xml" Id="R9a25f9bf24ed4760" /><Relationship Type="http://schemas.openxmlformats.org/officeDocument/2006/relationships/notesMaster" Target="/ppt/notesMasters/notesMaster1.xml" Id="R6e5b322ba7534c4e" /><Relationship Type="http://schemas.openxmlformats.org/officeDocument/2006/relationships/presProps" Target="/ppt/presProps.xml" Id="R2f6e4d35272d4d6d" /><Relationship Type="http://schemas.openxmlformats.org/officeDocument/2006/relationships/tableStyles" Target="/ppt/tableStyles.xml" Id="R94acc60170fe48d3" /><Relationship Type="http://schemas.openxmlformats.org/officeDocument/2006/relationships/slide" Target="/ppt/slides/slide1.xml" Id="Rbccb486ae19a46dd" /><Relationship Type="http://schemas.openxmlformats.org/officeDocument/2006/relationships/slide" Target="/ppt/slides/slide2.xml" Id="R19b3c0810f094605" /><Relationship Type="http://schemas.openxmlformats.org/officeDocument/2006/relationships/slide" Target="/ppt/slides/slide3.xml" Id="R8e48d2ac4bf3410e" /><Relationship Type="http://schemas.openxmlformats.org/officeDocument/2006/relationships/slide" Target="/ppt/slides/slide4.xml" Id="Rdfa7a76a88c84662" /><Relationship Type="http://schemas.openxmlformats.org/officeDocument/2006/relationships/slide" Target="/ppt/slides/slide5.xml" Id="R247512bf191e41c4" /><Relationship Type="http://schemas.openxmlformats.org/officeDocument/2006/relationships/slide" Target="/ppt/slides/slide6.xml" Id="R48e72afa07714a55" /><Relationship Type="http://schemas.openxmlformats.org/officeDocument/2006/relationships/slide" Target="/ppt/slides/slide7.xml" Id="R9ba05fbedc7a4eb3" /><Relationship Type="http://schemas.openxmlformats.org/officeDocument/2006/relationships/slide" Target="/ppt/slides/slide8.xml" Id="Rc47508d561114953" /><Relationship Type="http://schemas.openxmlformats.org/officeDocument/2006/relationships/slide" Target="/ppt/slides/slide9.xml" Id="Rafb88db063084e3e" /><Relationship Type="http://schemas.openxmlformats.org/officeDocument/2006/relationships/slide" Target="/ppt/slides/slide10.xml" Id="Rb2c9af3cbbc14197" /><Relationship Type="http://schemas.openxmlformats.org/officeDocument/2006/relationships/slide" Target="/ppt/slides/slide11.xml" Id="R5ce04694196b4485" /><Relationship Type="http://schemas.openxmlformats.org/officeDocument/2006/relationships/slide" Target="/ppt/slides/slide12.xml" Id="R623307a09a5f4611" /><Relationship Type="http://schemas.openxmlformats.org/officeDocument/2006/relationships/slide" Target="/ppt/slides/slide13.xml" Id="R28ce77d78a1c4319" /><Relationship Type="http://schemas.openxmlformats.org/officeDocument/2006/relationships/slide" Target="/ppt/slides/slide14.xml" Id="Rab96a195d49348ab" /><Relationship Type="http://schemas.openxmlformats.org/officeDocument/2006/relationships/slide" Target="/ppt/slides/slide15.xml" Id="R7878d33646054d88" /><Relationship Type="http://schemas.openxmlformats.org/officeDocument/2006/relationships/slide" Target="/ppt/slides/slide16.xml" Id="R168e4c80ea3c40b5" /><Relationship Type="http://schemas.openxmlformats.org/officeDocument/2006/relationships/slide" Target="/ppt/slides/slide17.xml" Id="Rbeb1c42a042a4779" /><Relationship Type="http://schemas.openxmlformats.org/officeDocument/2006/relationships/slide" Target="/ppt/slides/slide18.xml" Id="Re908a700bb424da4" /><Relationship Type="http://schemas.openxmlformats.org/officeDocument/2006/relationships/slide" Target="/ppt/slides/slide19.xml" Id="R7e529e73d9d04ee4" /><Relationship Type="http://schemas.openxmlformats.org/officeDocument/2006/relationships/slide" Target="/ppt/slides/slide20.xml" Id="Rad45ba306e0f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b30b2cbfcc4f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904785157480c" /><Relationship Type="http://schemas.openxmlformats.org/officeDocument/2006/relationships/notesMaster" Target="/ppt/notesMasters/notesMaster1.xml" Id="R0d5ef6b8566f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0f95d65b741df" /><Relationship Type="http://schemas.openxmlformats.org/officeDocument/2006/relationships/notesMaster" Target="/ppt/notesMasters/notesMaster1.xml" Id="R391e8b9eb9b1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c19f1c64c4cad" /><Relationship Type="http://schemas.openxmlformats.org/officeDocument/2006/relationships/notesMaster" Target="/ppt/notesMasters/notesMaster1.xml" Id="Rc0b0dd63e336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378cf111724dfc" /><Relationship Type="http://schemas.openxmlformats.org/officeDocument/2006/relationships/notesMaster" Target="/ppt/notesMasters/notesMaster1.xml" Id="Rdc754c4fca4e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1c7d222057444b" /><Relationship Type="http://schemas.openxmlformats.org/officeDocument/2006/relationships/notesMaster" Target="/ppt/notesMasters/notesMaster1.xml" Id="R271f9920ed3d4b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4f75ed1704679" /><Relationship Type="http://schemas.openxmlformats.org/officeDocument/2006/relationships/notesMaster" Target="/ppt/notesMasters/notesMaster1.xml" Id="R950a7e53ab0c44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dee44cf0bc4de7" /><Relationship Type="http://schemas.openxmlformats.org/officeDocument/2006/relationships/notesMaster" Target="/ppt/notesMasters/notesMaster1.xml" Id="Rf8e6a9998a24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d1e3f2fdc42e5" /><Relationship Type="http://schemas.openxmlformats.org/officeDocument/2006/relationships/notesMaster" Target="/ppt/notesMasters/notesMaster1.xml" Id="R1b640d5d7cdb4f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889bd53484085" /><Relationship Type="http://schemas.openxmlformats.org/officeDocument/2006/relationships/notesMaster" Target="/ppt/notesMasters/notesMaster1.xml" Id="R20b0ed7187544e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8c19ceeaa24298" /><Relationship Type="http://schemas.openxmlformats.org/officeDocument/2006/relationships/notesMaster" Target="/ppt/notesMasters/notesMaster1.xml" Id="R914f587fff4249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3e0085839e4d6d" /><Relationship Type="http://schemas.openxmlformats.org/officeDocument/2006/relationships/notesMaster" Target="/ppt/notesMasters/notesMaster1.xml" Id="Rc84d04e1181b41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b3278911bf49f6" /><Relationship Type="http://schemas.openxmlformats.org/officeDocument/2006/relationships/notesMaster" Target="/ppt/notesMasters/notesMaster1.xml" Id="R814fe602a1e241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2220b34af42be" /><Relationship Type="http://schemas.openxmlformats.org/officeDocument/2006/relationships/notesMaster" Target="/ppt/notesMasters/notesMaster1.xml" Id="R7e65485852d941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46f754adaf4266" /><Relationship Type="http://schemas.openxmlformats.org/officeDocument/2006/relationships/notesMaster" Target="/ppt/notesMasters/notesMaster1.xml" Id="R2de159acc33542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aad4e790a4493d" /><Relationship Type="http://schemas.openxmlformats.org/officeDocument/2006/relationships/notesMaster" Target="/ppt/notesMasters/notesMaster1.xml" Id="R94b22b5ef71f48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cf70063fc14214" /><Relationship Type="http://schemas.openxmlformats.org/officeDocument/2006/relationships/notesMaster" Target="/ppt/notesMasters/notesMaster1.xml" Id="R2b1a32f3768e4a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bce57555494df7" /><Relationship Type="http://schemas.openxmlformats.org/officeDocument/2006/relationships/notesMaster" Target="/ppt/notesMasters/notesMaster1.xml" Id="R1bc68f01c87f41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394725f5c842fc" /><Relationship Type="http://schemas.openxmlformats.org/officeDocument/2006/relationships/notesMaster" Target="/ppt/notesMasters/notesMaster1.xml" Id="Rb6bd2589236a45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c5387b707c4266" /><Relationship Type="http://schemas.openxmlformats.org/officeDocument/2006/relationships/notesMaster" Target="/ppt/notesMasters/notesMaster1.xml" Id="R17ef4fed392443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af624d6a914d48" /><Relationship Type="http://schemas.openxmlformats.org/officeDocument/2006/relationships/notesMaster" Target="/ppt/notesMasters/notesMaster1.xml" Id="R5bc4093cfccb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75fc4f89b48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9c214404a423e" /><Relationship Type="http://schemas.openxmlformats.org/officeDocument/2006/relationships/slideLayout" Target="/ppt/slideLayouts/slideLayout1.xml" Id="R0139d7ff056149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9d7ff056149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016e21abb4892" /><Relationship Type="http://schemas.openxmlformats.org/officeDocument/2006/relationships/notesSlide" Target="/ppt/notesSlides/notesSlide1.xml" Id="Rcc4653fc0021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95ab12dc54f57" /><Relationship Type="http://schemas.openxmlformats.org/officeDocument/2006/relationships/image" Target="/ppt/media/image.png" Id="Rfd58bd2517424c73" /><Relationship Type="http://schemas.openxmlformats.org/officeDocument/2006/relationships/image" Target="/ppt/media/image.svg" Id="Rbe4397773d1a42b4" /><Relationship Type="http://schemas.openxmlformats.org/officeDocument/2006/relationships/notesSlide" Target="/ppt/notesSlides/notesSlide2.xml" Id="Rb7e7b7b83b2d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0914b211b4eea" /><Relationship Type="http://schemas.openxmlformats.org/officeDocument/2006/relationships/image" Target="/ppt/media/image2.png" Id="Rf82a3aa6496d41e9" /><Relationship Type="http://schemas.openxmlformats.org/officeDocument/2006/relationships/image" Target="/ppt/media/image2.svg" Id="Rfcb93460ee714173" /><Relationship Type="http://schemas.openxmlformats.org/officeDocument/2006/relationships/notesSlide" Target="/ppt/notesSlides/notesSlide3.xml" Id="R071c80a3776e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872971c274ee7" /><Relationship Type="http://schemas.openxmlformats.org/officeDocument/2006/relationships/image" Target="/ppt/media/image3.png" Id="R171998122faa4776" /><Relationship Type="http://schemas.openxmlformats.org/officeDocument/2006/relationships/image" Target="/ppt/media/image3.svg" Id="R95187d8771c543ca" /><Relationship Type="http://schemas.openxmlformats.org/officeDocument/2006/relationships/notesSlide" Target="/ppt/notesSlides/notesSlide4.xml" Id="R5b6b447920234c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219d043744325" /><Relationship Type="http://schemas.openxmlformats.org/officeDocument/2006/relationships/image" Target="/ppt/media/image4.png" Id="R8f427270a1ad479c" /><Relationship Type="http://schemas.openxmlformats.org/officeDocument/2006/relationships/image" Target="/ppt/media/image4.svg" Id="R393a05ed91c04f13" /><Relationship Type="http://schemas.openxmlformats.org/officeDocument/2006/relationships/notesSlide" Target="/ppt/notesSlides/notesSlide5.xml" Id="Re1a2e0e973ba43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ed4d96f374ef2" /><Relationship Type="http://schemas.openxmlformats.org/officeDocument/2006/relationships/image" Target="/ppt/media/image5.png" Id="Ra4f845cea36c417c" /><Relationship Type="http://schemas.openxmlformats.org/officeDocument/2006/relationships/image" Target="/ppt/media/image5.svg" Id="R929e1df422bd466b" /><Relationship Type="http://schemas.openxmlformats.org/officeDocument/2006/relationships/notesSlide" Target="/ppt/notesSlides/notesSlide6.xml" Id="R18118d5415384a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02a943e7a49d1" /><Relationship Type="http://schemas.openxmlformats.org/officeDocument/2006/relationships/image" Target="/ppt/media/image6.png" Id="Ra52af78c03544141" /><Relationship Type="http://schemas.openxmlformats.org/officeDocument/2006/relationships/image" Target="/ppt/media/image6.svg" Id="R5eee97baebf74b6d" /><Relationship Type="http://schemas.openxmlformats.org/officeDocument/2006/relationships/notesSlide" Target="/ppt/notesSlides/notesSlide7.xml" Id="R73194c7f11ea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15b7999e74bee" /><Relationship Type="http://schemas.openxmlformats.org/officeDocument/2006/relationships/image" Target="/ppt/media/image7.png" Id="R112a14720a6148c0" /><Relationship Type="http://schemas.openxmlformats.org/officeDocument/2006/relationships/image" Target="/ppt/media/image7.svg" Id="R51709ff4e1044bc3" /><Relationship Type="http://schemas.openxmlformats.org/officeDocument/2006/relationships/notesSlide" Target="/ppt/notesSlides/notesSlide8.xml" Id="R37a2d1909a3e45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b9b85554f4916" /><Relationship Type="http://schemas.openxmlformats.org/officeDocument/2006/relationships/image" Target="/ppt/media/image8.png" Id="Rf0d22d301eb34943" /><Relationship Type="http://schemas.openxmlformats.org/officeDocument/2006/relationships/image" Target="/ppt/media/image8.svg" Id="Rf46542df442947a6" /><Relationship Type="http://schemas.openxmlformats.org/officeDocument/2006/relationships/notesSlide" Target="/ppt/notesSlides/notesSlide9.xml" Id="R889e97b0e1f34e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ee09fa72e4e7a" /><Relationship Type="http://schemas.openxmlformats.org/officeDocument/2006/relationships/image" Target="/ppt/media/image9.png" Id="R561a3ed648b04e84" /><Relationship Type="http://schemas.openxmlformats.org/officeDocument/2006/relationships/image" Target="/ppt/media/image9.svg" Id="Rfb6f2add1a0b46a1" /><Relationship Type="http://schemas.openxmlformats.org/officeDocument/2006/relationships/notesSlide" Target="/ppt/notesSlides/notesSlide10.xml" Id="R650095d9912f46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63701af3b4c26" /><Relationship Type="http://schemas.openxmlformats.org/officeDocument/2006/relationships/image" Target="/ppt/media/image10.png" Id="R1d0fa55ef7444933" /><Relationship Type="http://schemas.openxmlformats.org/officeDocument/2006/relationships/image" Target="/ppt/media/image10.svg" Id="R9732923ae6504f17" /><Relationship Type="http://schemas.openxmlformats.org/officeDocument/2006/relationships/notesSlide" Target="/ppt/notesSlides/notesSlide11.xml" Id="Rdf39ad553f464a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4fdb5cd494cf2" /><Relationship Type="http://schemas.openxmlformats.org/officeDocument/2006/relationships/image" Target="/ppt/media/image11.png" Id="Re6ed9422a5bf4729" /><Relationship Type="http://schemas.openxmlformats.org/officeDocument/2006/relationships/image" Target="/ppt/media/image11.svg" Id="R5ff62e4825004557" /><Relationship Type="http://schemas.openxmlformats.org/officeDocument/2006/relationships/notesSlide" Target="/ppt/notesSlides/notesSlide12.xml" Id="Rf7d76c46261746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a99643cde4c00" /><Relationship Type="http://schemas.openxmlformats.org/officeDocument/2006/relationships/image" Target="/ppt/media/image12.png" Id="Ree38b370500f4d29" /><Relationship Type="http://schemas.openxmlformats.org/officeDocument/2006/relationships/image" Target="/ppt/media/image12.svg" Id="R7a56707f26ae41ed" /><Relationship Type="http://schemas.openxmlformats.org/officeDocument/2006/relationships/notesSlide" Target="/ppt/notesSlides/notesSlide13.xml" Id="R81e66726227247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1efeb0ec44b13" /><Relationship Type="http://schemas.openxmlformats.org/officeDocument/2006/relationships/image" Target="/ppt/media/image13.png" Id="R55276ba134cc4102" /><Relationship Type="http://schemas.openxmlformats.org/officeDocument/2006/relationships/image" Target="/ppt/media/image13.svg" Id="R354af3781e454e01" /><Relationship Type="http://schemas.openxmlformats.org/officeDocument/2006/relationships/notesSlide" Target="/ppt/notesSlides/notesSlide14.xml" Id="R6eccc6dc902847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0926b4a9b4401" /><Relationship Type="http://schemas.openxmlformats.org/officeDocument/2006/relationships/image" Target="/ppt/media/image14.png" Id="R20eab0d8bc5843c1" /><Relationship Type="http://schemas.openxmlformats.org/officeDocument/2006/relationships/image" Target="/ppt/media/image14.svg" Id="R2b3b22446b9447b4" /><Relationship Type="http://schemas.openxmlformats.org/officeDocument/2006/relationships/notesSlide" Target="/ppt/notesSlides/notesSlide15.xml" Id="R71865a940e2c44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a43bd2c424f47" /><Relationship Type="http://schemas.openxmlformats.org/officeDocument/2006/relationships/image" Target="/ppt/media/image15.png" Id="Re7f5de01d261485e" /><Relationship Type="http://schemas.openxmlformats.org/officeDocument/2006/relationships/image" Target="/ppt/media/image15.svg" Id="Re2b2d29eafef42aa" /><Relationship Type="http://schemas.openxmlformats.org/officeDocument/2006/relationships/notesSlide" Target="/ppt/notesSlides/notesSlide16.xml" Id="R7f9fe142f43a45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7f5608f354773" /><Relationship Type="http://schemas.openxmlformats.org/officeDocument/2006/relationships/image" Target="/ppt/media/image16.png" Id="R64fea1e9fc2b440f" /><Relationship Type="http://schemas.openxmlformats.org/officeDocument/2006/relationships/image" Target="/ppt/media/image16.svg" Id="Re4b09b0285674cc9" /><Relationship Type="http://schemas.openxmlformats.org/officeDocument/2006/relationships/notesSlide" Target="/ppt/notesSlides/notesSlide17.xml" Id="R597ab3d0c3884d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8b9e020f24338" /><Relationship Type="http://schemas.openxmlformats.org/officeDocument/2006/relationships/image" Target="/ppt/media/image17.png" Id="Rc1a0faec7f4c4983" /><Relationship Type="http://schemas.openxmlformats.org/officeDocument/2006/relationships/image" Target="/ppt/media/image17.svg" Id="R385ba14fdab84a0c" /><Relationship Type="http://schemas.openxmlformats.org/officeDocument/2006/relationships/notesSlide" Target="/ppt/notesSlides/notesSlide18.xml" Id="Rd261ce8ab8a544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827ef6b724073" /><Relationship Type="http://schemas.openxmlformats.org/officeDocument/2006/relationships/image" Target="/ppt/media/image18.png" Id="Rd4b9fe502a01454c" /><Relationship Type="http://schemas.openxmlformats.org/officeDocument/2006/relationships/image" Target="/ppt/media/image18.svg" Id="Ra108987bdc2d49ef" /><Relationship Type="http://schemas.openxmlformats.org/officeDocument/2006/relationships/notesSlide" Target="/ppt/notesSlides/notesSlide19.xml" Id="R92ca364123cf48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986d098e14953" /><Relationship Type="http://schemas.openxmlformats.org/officeDocument/2006/relationships/image" Target="/ppt/media/image19.png" Id="Rdc6df3f92c1c4c1f" /><Relationship Type="http://schemas.openxmlformats.org/officeDocument/2006/relationships/image" Target="/ppt/media/image19.svg" Id="Rc0aacfce67d643d8" /><Relationship Type="http://schemas.openxmlformats.org/officeDocument/2006/relationships/notesSlide" Target="/ppt/notesSlides/notesSlide20.xml" Id="Rf8fbea7b069345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78E53A14-81B8-473B-87C5-74CC4D3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30515DD0-2A0C-46F9-9CE0-F251364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4EDA683C-A513-44FA-B744-D31B4FB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7913BAC-0B4A-4358-958E-37806AEA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770FF8CD-3BE1-499B-8249-C4B3723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467D3A-E99F-437F-95DC-9BC92D07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ASSESSMENT THAT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CHANGES WHAT HAPPENS NEXT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ACB6267A-6EE5-4C5B-8F53-D5B4E7CD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Formative and summative assessment are defined by what evidence is used to do.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0F47D78D-F02A-45D5-8BD5-4950E9EC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1667B55A-57B7-4249-92A2-17F5C18E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C6E227C8-92DD-4F64-8059-5A60CE4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4, pp. 23–33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24DE41BE-E5A7-491E-A956-B2B593C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3430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D38726A-A3AE-4D95-8C60-047BB90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8bd2517424c73">
            <a:extLst>
              <a:ext uri="{96DAC541-7B7A-43D3-8B79-37D633B846F1}">
                <asvg:svgBlip xmlns:asvg="http://schemas.microsoft.com/office/drawing/2016/SVG/main" r:embed="Rbe4397773d1a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0597EBB-8D10-4ADB-97BD-5CCEF67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0007A3-ECA4-4767-A837-16BA114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Classify by Use, Not by Appearance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7436B0D-B9A5-4D8F-8E91-F649638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D01FFAD-6581-4DD6-85C7-6900790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Pre-instruction diagnostic; Section 4, pp. 23–25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07D67AA-8EF7-4BBB-8015-7F3D49A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23A675E-F9E5-42E2-818A-5EB219F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987E202-0B48-4C1C-9A21-146A3DC9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11F2FA2-99A0-45B1-90C8-7F88204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Expose students’ initial rules for classifying formative and summative assessment.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BEE769F-26C9-40F7-B346-815FF30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0B3401DF-07C5-4FD7-9A04-200479E8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7A62DFE1-555B-4B33-99CD-4E3E28D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Ungraded quiz, no comments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1C23A36-383F-46DB-94C8-EA2DB2C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98B967A-B900-454C-93E7-2C16BC4E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70975DB8-3FD4-4EEA-8374-FA00091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Graded draft, revision required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BFD5171A-638D-4086-9274-BA3F9EB8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E83C58E0-EFFC-4988-97A9-49BCFE8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C1A9CD17-AD44-4178-965A-4B3BACF2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Final exam, curriculum redesigned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CBF4A9A-D09C-4171-84C4-31C6268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FD8CD543-41E3-4B89-8EEF-6AB8963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0D7F4DB7-9EF7-4F4F-ADC4-9E459D52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Peer comments, no uptake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96EBFE49-9419-472E-B0A4-5FA8DB5A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18E75F3-3AC1-4E15-B5ED-4861785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130CCB7-705A-4C90-9F5A-AAD08E8B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feature determined your classification?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Did you classify the artifact or the use of its information?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C92AB52-6E0B-4146-80CE-923F2A3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6D5A153-CFF2-473A-AEA7-82FBA23B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S3 Classification Snapshot v0 with reasons.</a:t>
            </a:r>
          </a:p>
        </p:txBody>
      </p:sp>
    </p:spTree>
    <p:extLst>
      <p:ext uri="{BB962C8B-B14F-4D97-AF65-F5344CB8AC3E}">
        <p14:creationId xmlns:p14="http://schemas.microsoft.com/office/powerpoint/2010/main" val="736117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9BAA3D5-CA58-4C18-9C55-490E39CD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a3aa6496d41e9">
            <a:extLst>
              <a:ext uri="{96DAC541-7B7A-43D3-8B79-37D633B846F1}">
                <asvg:svgBlip xmlns:asvg="http://schemas.microsoft.com/office/drawing/2016/SVG/main" r:embed="Rfcb93460ee7141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DBD0D76-82C1-4B3B-B710-8EF1DAE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CORE MODEL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4A7B0E-37F3-4F00-98A3-6026640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FA and SA Form One Classroom Ecology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0645EBD-4CF7-4346-BC09-0333899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99CCDD1-E76C-477D-B50B-0CACE12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 and Figure 3, pp. 23–25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4751D1C-F9F5-4FC3-9E17-5249911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A3DA60B-8DEF-4DCA-846E-3C6228EE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7651F625-2534-4D08-8F3A-B64AF4F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ACEAA99-E581-4B43-A81B-7D934F8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6480E80D-8B3F-41B6-822E-4963CA9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58E896E4-7136-4FE0-9818-B6526FD6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FA: improve learning and teaching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B0073C9F-7226-467D-9257-D3F4185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422638D7-5F56-4E94-A83A-43E668D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B24A77E6-7322-4E5A-AEA9-25D46CC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SA: judge attainment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6B0E4704-0B12-441E-BB48-4C86F49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FDF4BE42-6552-4C89-BF51-4CA8289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C30227AB-050A-4CF9-88A2-1BF031FF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Learning outcomes connect both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F2766786-7D15-4629-8F77-2ADF4311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Explain the differences and interrelationships between formative and summative assessment.</a:t>
            </a:r>
          </a:p>
        </p:txBody>
      </p:sp>
    </p:spTree>
    <p:extLst>
      <p:ext uri="{BB962C8B-B14F-4D97-AF65-F5344CB8AC3E}">
        <p14:creationId xmlns:p14="http://schemas.microsoft.com/office/powerpoint/2010/main" val="676019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DAFA64F-19D9-41C9-8472-7D4668D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998122faa4776">
            <a:extLst>
              <a:ext uri="{96DAC541-7B7A-43D3-8B79-37D633B846F1}">
                <asvg:svgBlip xmlns:asvg="http://schemas.microsoft.com/office/drawing/2016/SVG/main" r:embed="R95187d8771c543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019D017-87C3-4FA5-B1C7-EE24DF5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FORMATIVE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C95718-93E1-4E5B-B9C1-799CCFD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Formative Assessment Needs a Learning Mechanism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8387343-A5E4-41A0-82A5-CF5FE90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134F7A5-42F2-4C6D-82C8-DA1F441E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4.1, pp. 24–25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6BE9BF8-0770-46E3-BE89-6A38226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86A7DEA-6582-426D-AAD5-285DCF23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C4468683-6F92-4AA5-87A7-4D16915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A94C458-48F9-4637-B430-9C8129A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A21F5869-D278-40D4-8112-C1EFCDB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F2D5F701-B36A-424F-B0DD-3272D1A5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Goal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6DDDA504-44E4-4129-A20A-98005D23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23F3D74E-1C18-4232-8410-D9C976E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102D563C-6371-4147-8D9B-AF3C6D9A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Evidence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68CC6B4-2BFB-4C57-B996-7A9EABA8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B3176323-CA32-434E-B23B-05BAF77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ED209EA9-2781-4DE6-8D94-F4764C1A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Interpretation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B488D27D-B3AE-47FA-A67B-FE75081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3789A489-46E4-4B85-B70B-249FE1F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816A8319-DAD5-4EB0-ACDF-EDE2E62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Feedback / feedforward</a:t>
            </a:r>
          </a:p>
        </p:txBody>
      </p:sp>
      <p:sp>
        <p:nvSpPr>
          <p:cNvPr id="22" name="dot-4">
            <a:extLst xmlns:a="http://schemas.openxmlformats.org/drawingml/2006/main">
              <a:ext uri="{FF2B5EF4-FFF2-40B4-BE49-F238E27FC236}">
                <a16:creationId xmlns:a16="http://schemas.microsoft.com/office/drawing/2014/main" id="{FB09486A-367B-4B6B-B68D-A0C9CC0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num-4">
            <a:extLst xmlns:a="http://schemas.openxmlformats.org/drawingml/2006/main">
              <a:ext uri="{FF2B5EF4-FFF2-40B4-BE49-F238E27FC236}">
                <a16:creationId xmlns:a16="http://schemas.microsoft.com/office/drawing/2014/main" id="{88FA196A-69A7-433C-8990-2E08DD30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p-4">
            <a:extLst xmlns:a="http://schemas.openxmlformats.org/drawingml/2006/main">
              <a:ext uri="{FF2B5EF4-FFF2-40B4-BE49-F238E27FC236}">
                <a16:creationId xmlns:a16="http://schemas.microsoft.com/office/drawing/2014/main" id="{701B6F63-DEBF-47D9-851A-C62FC33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Learner action</a:t>
            </a:r>
          </a:p>
        </p:txBody>
      </p:sp>
      <p:sp>
        <p:nvSpPr>
          <p:cNvPr id="25" name="dot-5">
            <a:extLst xmlns:a="http://schemas.openxmlformats.org/drawingml/2006/main">
              <a:ext uri="{FF2B5EF4-FFF2-40B4-BE49-F238E27FC236}">
                <a16:creationId xmlns:a16="http://schemas.microsoft.com/office/drawing/2014/main" id="{899F475B-C823-4054-840D-0693C5E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num-5">
            <a:extLst xmlns:a="http://schemas.openxmlformats.org/drawingml/2006/main">
              <a:ext uri="{FF2B5EF4-FFF2-40B4-BE49-F238E27FC236}">
                <a16:creationId xmlns:a16="http://schemas.microsoft.com/office/drawing/2014/main" id="{577B39C8-337B-45EF-BFA6-3F3A25BC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p-5">
            <a:extLst xmlns:a="http://schemas.openxmlformats.org/drawingml/2006/main">
              <a:ext uri="{FF2B5EF4-FFF2-40B4-BE49-F238E27FC236}">
                <a16:creationId xmlns:a16="http://schemas.microsoft.com/office/drawing/2014/main" id="{F85B11AE-D5BB-401A-A0F4-0BE40830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Teaching adaptation</a:t>
            </a:r>
          </a:p>
        </p:txBody>
      </p:sp>
      <p:sp>
        <p:nvSpPr>
          <p:cNvPr id="28" name="take">
            <a:extLst xmlns:a="http://schemas.openxmlformats.org/drawingml/2006/main">
              <a:ext uri="{FF2B5EF4-FFF2-40B4-BE49-F238E27FC236}">
                <a16:creationId xmlns:a16="http://schemas.microsoft.com/office/drawing/2014/main" id="{18678C1E-3061-4A85-ADE5-EDC572F2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Identify the minimum mechanism through which evidence can improve learning.</a:t>
            </a:r>
          </a:p>
        </p:txBody>
      </p:sp>
    </p:spTree>
    <p:extLst>
      <p:ext uri="{BB962C8B-B14F-4D97-AF65-F5344CB8AC3E}">
        <p14:creationId xmlns:p14="http://schemas.microsoft.com/office/powerpoint/2010/main" val="338857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71E7159-A2E0-48EA-9E43-711562D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7270a1ad479c">
            <a:extLst>
              <a:ext uri="{96DAC541-7B7A-43D3-8B79-37D633B846F1}">
                <asvg:svgBlip xmlns:asvg="http://schemas.microsoft.com/office/drawing/2016/SVG/main" r:embed="R393a05ed91c04f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88D6062-16B0-4C62-9D32-757ADAB1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ASSESSMENT FOR LEARNING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7BE7BC-8442-48A7-A077-41EE7A94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Assessment for Learning Can Be Planned or “On the Run”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9D29B6-809C-4CB4-8BC3-39A1615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61729A7-7651-44E3-83A3-536E169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4.1, pp. 24–25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14435D7-D79F-4ECB-8782-2CC2313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CC68FE7-7764-4AAC-873F-D225F8E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99C76199-F7D5-4885-9AB9-D7BC027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5890AE58-3FAB-4034-9F17-274538A8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A5FDFD84-7375-4052-8F3E-B52EECCC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On-the-run: notice, question, respond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728FCED-8EA6-42A8-A17D-35CB7640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4277F208-683D-4178-92F0-8FC71FA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7ED684FF-7A40-4E4F-BAD5-A4CE0B7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Planned: task, criteria, feedback, revision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03F2FEED-CB6C-412B-B5C8-BA954AE1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8823BA8C-5238-40E1-91FF-D816AA8F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814F062-98E3-4F06-9042-122FF55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Both require evidence-informed action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19089333-8D9C-446E-A268-B0CF3E09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Broaden AfL beyond planned quizzes and formal feedback events.</a:t>
            </a:r>
          </a:p>
        </p:txBody>
      </p:sp>
    </p:spTree>
    <p:extLst>
      <p:ext uri="{BB962C8B-B14F-4D97-AF65-F5344CB8AC3E}">
        <p14:creationId xmlns:p14="http://schemas.microsoft.com/office/powerpoint/2010/main" val="277406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8841307-BA45-4EA6-94A8-48D78FB5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845cea36c417c">
            <a:extLst>
              <a:ext uri="{96DAC541-7B7A-43D3-8B79-37D633B846F1}">
                <asvg:svgBlip xmlns:asvg="http://schemas.microsoft.com/office/drawing/2016/SVG/main" r:embed="R929e1df422bd46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469DE63-AB25-44AA-AF91-7E6C5DE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FEEDBACK &amp; FEEDFORWARD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6F8EE0-3E6A-4E60-A767-CEFFDC2D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Feedback Is Information; Formative Power Requires Uptake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539DA2E-C869-4552-9FCF-66D5E8A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E2349EE-D6C2-484C-95AC-7ED5CD4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4.1, pp. 24–25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4A7A991-9F76-4F1F-AF35-FA62614C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94C9D85-2D5C-41F7-BFAC-AD886EB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EA954A2D-807E-41C2-97CF-26DA13F4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4A33699E-13DF-4A9C-B10D-63748F3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Distinguish evaluative comments from actionable feedback and feedforward.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B740514-9084-4CEF-99E5-B707A3F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DEE1BBF-F7A7-4CD0-94DA-8BFB7D5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2DB997A-3B81-4491-BE60-9A57E44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Goal is visible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8C167598-314C-4670-AD3D-4290168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E5DCFF9B-64EE-40B4-97E1-092E8C8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8F150FBB-DD45-4E39-99A0-647E67AD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Current performance is interpreted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3B61985-941E-45ED-AA24-24622D2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116D0D7-573A-46E1-AEBE-EFEFD8BC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9EC0E0AD-C3D1-4754-84D1-D19A138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Next move is feasible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2192E5F9-BB53-486A-A110-D018649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B6B05E43-0A14-406A-908E-A74559F2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AFD43D1-BC54-4E2F-9F15-EA64CDE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 new performance opportunity exists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3170E8C4-375D-41C6-A7DA-845B3EA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7D3E21E-1D73-49B6-A510-A21E7D1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4EBC1E31-2C13-469E-88F4-13CF367D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comment is most actionable—and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will you know whether feedback was used?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583DD345-DE18-4177-9857-551C8FDE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F7DA609-5C45-4D68-9F5E-F83D06A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Before/after feedback rewrite and rationale.</a:t>
            </a:r>
          </a:p>
        </p:txBody>
      </p:sp>
    </p:spTree>
    <p:extLst>
      <p:ext uri="{BB962C8B-B14F-4D97-AF65-F5344CB8AC3E}">
        <p14:creationId xmlns:p14="http://schemas.microsoft.com/office/powerpoint/2010/main" val="704628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C18E08F-D1C3-48C5-A885-E801EB9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af78c03544141">
            <a:extLst>
              <a:ext uri="{96DAC541-7B7A-43D3-8B79-37D633B846F1}">
                <asvg:svgBlip xmlns:asvg="http://schemas.microsoft.com/office/drawing/2016/SVG/main" r:embed="R5eee97baebf74b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BAE50AC-D1AB-4DC5-BD3C-0D309807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LEARNER AGENCY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E0C283-C1D4-4BA5-B26F-DC9E00B5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Learners Are Participants, Not Feedback Recipients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785DE8E-BFBD-492F-A9E8-0DF1A9B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378FC32-C257-495A-B0AF-C1D5C8B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4.1, pp. 24–25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D341A68-F6CC-44AE-8BB3-B43B720D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938F739-CBEB-4CB2-9796-9163D8DC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25541F09-5A3D-4344-9B69-09381758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98926BE-7280-47AE-BFD0-2EF8BF4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Position self- and peer-assessment as designed participation in judgement and action.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E8F5C30E-925C-4368-BD46-79603A4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5D7756D-8A49-4797-B9A0-BBE080DB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E6E57FAB-C4DB-45FD-9FC6-B7F3D2C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Clarify quality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78DB80C-01C6-488F-BB50-6BA2948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74DB26D-9A06-42AF-9CD5-802740C3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73C8C1EA-2F9E-4D55-89ED-E0DAD8A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Generate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30D18E4-EC3F-46C6-881D-E5B6B26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86931791-FBC2-4CD1-BC64-871BC25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03ED13F-3CCF-4F88-907F-ACFE3A7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Make a judgement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F12EEB7C-DFFD-4533-ADC2-CF045D6F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B977FD7-645E-4211-B9DD-06F41D4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B204FCFD-8601-4512-949C-4B72817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Plan and enact revision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CCF1B8BD-AF4E-4289-AA5C-0FEE8C6F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60CE029-CBEC-429F-864E-1D688FA2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81317562-5227-4DA2-8C81-982FA25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judgement can learners make responsibly?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can peer assessment become unsafe or inequitable?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9B744660-CC24-4403-B9FF-BF774CA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901D6D71-C8E0-4D9E-8B8A-01515A4C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learner-agency design note.</a:t>
            </a:r>
          </a:p>
        </p:txBody>
      </p:sp>
    </p:spTree>
    <p:extLst>
      <p:ext uri="{BB962C8B-B14F-4D97-AF65-F5344CB8AC3E}">
        <p14:creationId xmlns:p14="http://schemas.microsoft.com/office/powerpoint/2010/main" val="2110531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B0A56F8-0041-4D89-A43D-2105CF6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a14720a6148c0">
            <a:extLst>
              <a:ext uri="{96DAC541-7B7A-43D3-8B79-37D633B846F1}">
                <asvg:svgBlip xmlns:asvg="http://schemas.microsoft.com/office/drawing/2016/SVG/main" r:embed="R51709ff4e1044b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58FAA86-24F9-4802-BE65-CEA7BC9F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SUMMATIVE ASSESSMENT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BBBB93-55BD-41A0-B54A-41BB03A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Summative Assessment Makes an Attainment Claim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29BADD3-45FA-46BF-8979-0EFBE39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84AF6CE-D12F-45A1-8EFB-149F9266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4.2, pp. 25–26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64CA288-3ED2-4512-BF47-D09CCBE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604757C-9F56-411C-8440-50A8BB5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872E91AB-9145-4C5F-820E-45FE1C25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61163E7D-050C-4FC6-9E2B-8DE3053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14FA3285-4168-42BD-9649-8F9F8131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Cumulative evidence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00C2F29D-AACF-4779-91E0-92644C0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Judgement against outcomes or standards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2D4C161F-0F5D-4223-9FAD-6BFA373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819213D8-33D5-416C-B0A7-45B7D51A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DEF74AA3-386B-457E-A75C-6EB8FFB4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E2BE19C7-0701-4A28-8750-5D580813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Formal consequences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1019809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80BD340-9C3C-49FD-9FF9-98E93B5F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22d301eb34943">
            <a:extLst>
              <a:ext uri="{96DAC541-7B7A-43D3-8B79-37D633B846F1}">
                <asvg:svgBlip xmlns:asvg="http://schemas.microsoft.com/office/drawing/2016/SVG/main" r:embed="Rf46542df442947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BCB1D5E-F40A-4FEB-ACA7-AC3D2D3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ASSESSMENT OF LEARNING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73BEE7-5E80-4EB3-8258-F4076203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Assessment of Learning Must Align the Curriculum System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A2F2A58-CB06-4EF7-9F3A-1737AED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55B440C-ADAD-4D3D-8BD1-4106D79D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4.2.1 and Figure 4, pp. 26–28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1FEC498-C9C3-4754-867E-9F27DD3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ACCED9C-B0AA-4AA0-92E5-99A464C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3F90E53C-EDD8-421D-BABC-4048D6E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CD76A4DD-F8B2-4D48-9DE6-E23BD4EE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D961D413-6C3E-4326-A116-9757C36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227A0A6-41F0-4ADC-B9AC-F849547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Learning outcomes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2C2BB88F-D6E5-4DD3-AB13-9E5921F6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AC4B3A4D-3687-4533-B995-6DFC815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31CC31EC-E003-4D91-8143-1D55CCC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Learning opportunities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362FE3D-EBBF-4312-BE6A-2FCBC3D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F2A11DED-68AA-4CF3-B162-A7D3F12C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47A20242-1B5A-47A0-8350-ACAB0B2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Assessment performance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1A28D7C4-76B6-46E2-B2D5-6737C1B4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FBCC6AA1-E426-47BC-80FB-3DED127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717702C6-4167-42F4-8DF6-5A99053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Criteria / standards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D83EB0D3-B069-4490-BA89-610B8F5D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Connect learning outcomes, teaching and learning, assessment tasks, and standards.</a:t>
            </a:r>
          </a:p>
        </p:txBody>
      </p:sp>
    </p:spTree>
    <p:extLst>
      <p:ext uri="{BB962C8B-B14F-4D97-AF65-F5344CB8AC3E}">
        <p14:creationId xmlns:p14="http://schemas.microsoft.com/office/powerpoint/2010/main" val="1869761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3DC1C0DE-FBB2-44B1-A0D0-D5A17A3A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a3ed648b04e84">
            <a:extLst>
              <a:ext uri="{96DAC541-7B7A-43D3-8B79-37D633B846F1}">
                <asvg:svgBlip xmlns:asvg="http://schemas.microsoft.com/office/drawing/2016/SVG/main" r:embed="Rfb6f2add1a0b46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B3A6AC7-8B8E-4596-B53F-DDE96BC1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STANDARDS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EB31A3-C69A-432C-BFFB-DAD2877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Standards Make Success Public—and Contestable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C9D3DD5-CF2A-4534-A325-5BBD185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F0AE9FD-F084-4D33-8E57-447B50F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Sections 4.2–4.2.2, pp. 25–30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DD4C047-D57A-4B83-8950-1FC9B82A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997E517-D900-476E-A304-59EB263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571ECCA7-8833-4CC5-9F2C-028FF7A3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7D170B3A-49EC-4271-82C6-C605ECA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DE97C433-7584-4AFC-9986-351870C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Course outcomes: locally taught attainment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3AB3F742-DB57-4828-8582-D2FA399E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7CC57615-8C45-4C2E-A109-03468D6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E8106E5-A00A-4DE0-BB42-C65B8AE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External standards: mandated benchmark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74F8EEEB-1213-473A-B84E-716300F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80418EF1-40B5-4183-8A10-D59B41E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E7A00A64-7E12-42FA-A14D-DD150CEA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Both require interpretation and evidence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1A96B370-AF5E-4EA8-BA92-3F3308A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Distinguish course-linked outcomes from external standards and examine their design implications.</a:t>
            </a:r>
          </a:p>
        </p:txBody>
      </p:sp>
    </p:spTree>
    <p:extLst>
      <p:ext uri="{BB962C8B-B14F-4D97-AF65-F5344CB8AC3E}">
        <p14:creationId xmlns:p14="http://schemas.microsoft.com/office/powerpoint/2010/main" val="1799917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E393746-2126-45D4-8A73-9E5A7472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fa55ef7444933">
            <a:extLst>
              <a:ext uri="{96DAC541-7B7A-43D3-8B79-37D633B846F1}">
                <asvg:svgBlip xmlns:asvg="http://schemas.microsoft.com/office/drawing/2016/SVG/main" r:embed="R9732923ae6504f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599698B-0C9A-4343-AB0C-DF992DCE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DECISION RULES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A42D58-1C6F-4DED-897B-7CA6059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Norm-Referenced Ranks; Criterion-Referenced Judges Attainment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D64EA8F-1D7F-4D73-864C-64ED4E4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F8737E1-FAA2-42F2-B404-988788A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4.2.3, pp. 30–33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F268D47-AB76-4613-ADAE-81C0F01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8466AC8-AA9B-43A7-BF36-F848868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EBE93103-BC39-41C3-9698-400B0208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5C5AAF77-C656-4054-A921-C680F5F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C76F6D64-7128-431D-92B0-EB72F81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NRA: relative standing / rank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E4D08E7D-D733-44A6-A772-FD967D9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CRA: achievement against criteria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E0E4BB99-57B4-47A9-B9A2-4F1BD2C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C5655542-E4AE-4CC7-960E-C715BA3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118301E7-775E-4ACC-82A4-2A28194D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F6090436-06C9-4044-BC9D-FF57DD74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Percentile ≠ percentage</a:t>
            </a:r>
          </a:p>
        </p:txBody>
      </p:sp>
    </p:spTree>
    <p:extLst>
      <p:ext uri="{BB962C8B-B14F-4D97-AF65-F5344CB8AC3E}">
        <p14:creationId xmlns:p14="http://schemas.microsoft.com/office/powerpoint/2010/main" val="154152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922FA82-114A-4AFE-A96C-87C7278D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d9422a5bf4729">
            <a:extLst>
              <a:ext uri="{96DAC541-7B7A-43D3-8B79-37D633B846F1}">
                <asvg:svgBlip xmlns:asvg="http://schemas.microsoft.com/office/drawing/2016/SVG/main" r:embed="R5ff62e482500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3CCB31D-9F8E-4D1E-BC96-FD6F75BA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CASE ANALYSIS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12E2CB-9C02-4C12-9E4C-E4E677C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One Dataset, Three Decisions, Three Evidence Demands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F7CE8FA-F5AF-4837-8579-775421A9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CCAB8C1-0C8D-4532-910A-1EBBEAD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case extending Phakiti &amp; Leung (2024), Section 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692B4CD-A976-4598-B1FC-C1F7081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98C3DF7-40E2-469C-BFAB-F906C96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69FB6D8C-3313-4C04-BF84-10D5060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5C76D0D-6906-4246-904D-98ABBCE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Analyse how feedback, grading, and selection create different requirements for the same evidence.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6AD9AC7D-5B2C-4BD0-A3B0-59DD447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1D47F1EB-7C51-43AA-B0BB-8EBDE7DC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2FF1834-5088-4EA6-854A-2A2AA10F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1: improve next performance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356868DB-3D92-4861-A035-96F3D966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7A35857-929C-4FE4-A9C2-3896B4B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681243E9-2140-429B-B6F4-CE3A0C1A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2: award course attainment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CD4A464-4740-4C73-A245-55920EF2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65CFF44D-CC04-49F7-9B8D-61A441C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710DA0A-013F-473B-A799-E74242D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3: rank for limited opportunity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07BFDC03-24C4-4005-9233-3F6F016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49136637-C250-40BE-87DD-FCA7748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8345AF0B-47D3-48D5-A2A3-B6F908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evidence is sufficient for each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Where do the requirements conflict?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would you separate or redesign?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FC80C285-1ACE-4B39-8F07-4C6098A9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4FD8ED3A-5FC5-4C10-8D14-8BBB6E2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Group decision–evidence matrix.</a:t>
            </a:r>
          </a:p>
        </p:txBody>
      </p:sp>
    </p:spTree>
    <p:extLst>
      <p:ext uri="{BB962C8B-B14F-4D97-AF65-F5344CB8AC3E}">
        <p14:creationId xmlns:p14="http://schemas.microsoft.com/office/powerpoint/2010/main" val="1928935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47D8D75-8103-4F20-8242-E402ECCB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8b370500f4d29">
            <a:extLst>
              <a:ext uri="{96DAC541-7B7A-43D3-8B79-37D633B846F1}">
                <asvg:svgBlip xmlns:asvg="http://schemas.microsoft.com/office/drawing/2016/SVG/main" r:embed="R7a56707f26ae41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5C3D478-0739-464E-9BA8-56FA65C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CONCEPTUAL CHECKPOINT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E0DB3D-1B40-46E6-BF9D-2AAEA5E4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Reclassify the Cases: What Actually Makes the Difference?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FE2B546-3ABE-497E-BCF4-AFC94870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EDE2339-682D-4713-9D42-333EB13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Post-instruction revisit of S3 Classification Snapshot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EDD3491-597D-4132-B8B0-3F561B4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C4B4315-8A38-434F-84AC-90FEC8E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10E94ED-9B05-4B3E-B8D9-A6390DCF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86A2161D-3AFD-4763-802C-CE8C242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Make conceptual change visible by revisiting the original cases and reasons.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4AB9541E-D21F-435F-8639-CA3DB46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C5C69EE6-D460-4BF6-BB0F-57191CC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6F54996-5E08-4E5C-8878-AF5AF57A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Classification follows purpose and use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465C8EB-9D9C-496B-B99B-56A0068F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D43A637-01AC-47F8-968C-F243A4C6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679371AD-3ABD-4328-946F-05ACDD3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Feedback alone does not complete the cycle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6AD74E4A-7E63-4317-A899-A4E8D3E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9D8F2617-8A4E-4AC8-83A1-431E95E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14DD70DB-1DA7-4183-9B53-328E47E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One artifact can enter multiple systems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80AB7E1D-A7B3-4F8B-8B5A-04200DE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E33ED2F1-E07D-4244-B055-45F0AB7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9543EA27-A9B6-4DF7-B4AA-0CD3AD1E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answer changed?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new concept changed your reason?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35C9692-63A1-41DB-BB02-12002A8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ADE31B62-C519-476F-8180-26737239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Classification Snapshot v1 and change note.</a:t>
            </a:r>
          </a:p>
        </p:txBody>
      </p:sp>
    </p:spTree>
    <p:extLst>
      <p:ext uri="{BB962C8B-B14F-4D97-AF65-F5344CB8AC3E}">
        <p14:creationId xmlns:p14="http://schemas.microsoft.com/office/powerpoint/2010/main" val="752772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4634459-688A-4130-ADA4-8B6811C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6ba134cc4102">
            <a:extLst>
              <a:ext uri="{96DAC541-7B7A-43D3-8B79-37D633B846F1}">
                <asvg:svgBlip xmlns:asvg="http://schemas.microsoft.com/office/drawing/2016/SVG/main" r:embed="R354af3781e454e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081FD57-F696-44FD-9EF8-D6D0171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STUDIO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90BD69-5A50-488A-82A6-9C00551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Write the Team Assessment Use Statement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D91DFC-D98A-4F35-B33D-FBA597B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69F709F-E2D3-431B-80A8-461472B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 informed by Section 4, pp. 23–33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B8323D2-2F4A-4C90-A8EA-2DF9141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EF64992-99DE-4F4D-BA84-6740FB2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C31B76BC-6D63-45F7-9DBC-BEECF47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FA90B157-11D7-4360-878D-1A4C0C1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Specify how assessment information will be interpreted, acted upon, and communicated.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D27A1098-DA46-4699-A00B-435B4B16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457D926-B9C8-4283-811D-B79E3B15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70AD599-332A-4657-A12C-93DC06B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Who uses the information?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D6DDDF5-111A-4048-A216-C2481035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223761F-A0E9-4216-B0D2-773444F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078614FB-A87B-41C1-B85B-8C13FEF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What interpretation is intended?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7726F35E-CACE-4158-A0A0-C2C17E07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BA64152E-A091-490E-9562-927EBF60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A78CA477-9507-46D4-88C5-1356E40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What action follows?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A4F5FB8-3A88-40FE-A3D2-CC8BCEC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EACA31C-0619-4699-B291-9309E2CA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E17CAE3-C30D-4CA6-9E94-02AC60F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What use is prohibited?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D4EA7C22-06E2-4AC1-9B65-7A9AC720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7DDDFC5-DAA7-4CAF-9EEF-68F8CADF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D06AD51E-D986-4CE1-ABC9-2E0CFC6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exactly will the result allow someone to say?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Who must act—and by when?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consequence makes this use important?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A542758-8C36-4A61-A5CD-1499AF78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4AB57F5-D3EE-4E70-B50E-666D880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Assessment Use Statement v1.</a:t>
            </a:r>
          </a:p>
        </p:txBody>
      </p:sp>
    </p:spTree>
    <p:extLst>
      <p:ext uri="{BB962C8B-B14F-4D97-AF65-F5344CB8AC3E}">
        <p14:creationId xmlns:p14="http://schemas.microsoft.com/office/powerpoint/2010/main" val="1460964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A00E425-329C-4673-8CE8-3C7546F1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b0d8bc5843c1">
            <a:extLst>
              <a:ext uri="{96DAC541-7B7A-43D3-8B79-37D633B846F1}">
                <asvg:svgBlip xmlns:asvg="http://schemas.microsoft.com/office/drawing/2016/SVG/main" r:embed="R2b3b22446b9447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3C56DBF-6DA5-4A56-84AF-77785208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D2B03A-5788-4F99-8B09-F905A6FE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Design the Formative Loop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632FFEA-CC95-4393-961A-3B974BC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F334DD1-AD70-4DA1-AB66-7CCEF04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task; Phakiti &amp; Leung (2024), Section 4.1, pp. 24–25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20B9D87-F385-4A19-80F6-7ABF18F1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EC20AEB-A146-4FC9-A952-C3610904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79743EF-0EC5-4EA6-ADEE-804DBD0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D724BACF-8B0E-4DE3-AA56-7EE81A45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C3CA29C7-5048-496A-80C1-9EABDF0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59F33915-B89D-4E61-84A3-8C1A3FF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Goal → elicitation → evidence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A1A78D7C-8EB8-4577-A285-6084A1B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B4F52DB9-07DC-4254-B80A-8C824EA9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B5EC3F9D-B715-4FBD-995F-16E2FDBB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Interpretation → feedback/feedforward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BB7543FB-881B-4C00-9F91-1B59E1A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C9A429D6-F435-4B2D-85DE-19B94694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4C0E046B-11C3-4045-80F1-1357FB24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Learner action → new evidence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D095721D-CD36-4E37-9E36-60A5AA1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1379171F-16AF-4262-BF6A-D77AF97B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8859F727-D903-4868-8CD7-C1B5886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Teacher adaptation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7B0A14A3-8D07-426B-927C-3772C60E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Build a coherent formative mechanism around the team construct and context.</a:t>
            </a:r>
          </a:p>
        </p:txBody>
      </p:sp>
    </p:spTree>
    <p:extLst>
      <p:ext uri="{BB962C8B-B14F-4D97-AF65-F5344CB8AC3E}">
        <p14:creationId xmlns:p14="http://schemas.microsoft.com/office/powerpoint/2010/main" val="19519728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1D9E5FD-B957-453E-962C-415E9B2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5de01d261485e">
            <a:extLst>
              <a:ext uri="{96DAC541-7B7A-43D3-8B79-37D633B846F1}">
                <asvg:svgBlip xmlns:asvg="http://schemas.microsoft.com/office/drawing/2016/SVG/main" r:embed="Re2b2d29eafef42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522CBDE-EA0D-4B0E-801F-887BD56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E776BE-45EF-4E14-8494-2E72D9F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Map the Summative Alignment and Decision Chain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CD631ED-1836-4063-ABAF-0C781532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0992397-E87E-4C20-A0B4-E5D0C5F4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task; Sections 4.2–4.2.3, pp. 25–33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B44F202-BAA0-4E40-93B1-DF9CB9C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A58CD0C-0894-436E-876B-855249FF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6370159B-C5C1-472D-A66F-32021AA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0E2D8ACF-9D52-494B-9DCC-36EF0BA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23697F25-2EAB-40C5-AB86-F46DA81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0D20CA26-E48B-457E-9FA3-FAFA83E2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Outcome / standard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87C305CA-3408-44D2-94E5-0EEDD80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9C1B4EF0-5153-4352-BF04-03916438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D7CA8AC9-705E-45E6-AB2E-3420E913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Construct and task sample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B16B33AC-31E7-4ADC-8AA1-334C053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49EF4959-2F14-4808-93AC-A1A3896D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536969F9-EA2F-4C41-8848-41E7EC07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Evidence and criteria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3EBD405E-51C5-48FC-A17A-A63FD18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B30C9C58-BA6E-445B-A14A-E1B7D305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01ADD95E-B459-47ED-B46C-12CD547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Score meaning</a:t>
            </a:r>
          </a:p>
        </p:txBody>
      </p:sp>
      <p:sp>
        <p:nvSpPr>
          <p:cNvPr id="22" name="dot-4">
            <a:extLst xmlns:a="http://schemas.openxmlformats.org/drawingml/2006/main">
              <a:ext uri="{FF2B5EF4-FFF2-40B4-BE49-F238E27FC236}">
                <a16:creationId xmlns:a16="http://schemas.microsoft.com/office/drawing/2014/main" id="{5034F60D-F149-43BF-8491-EAFCBE0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num-4">
            <a:extLst xmlns:a="http://schemas.openxmlformats.org/drawingml/2006/main">
              <a:ext uri="{FF2B5EF4-FFF2-40B4-BE49-F238E27FC236}">
                <a16:creationId xmlns:a16="http://schemas.microsoft.com/office/drawing/2014/main" id="{577FC880-A7B7-4FE0-9DA0-06C68C1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p-4">
            <a:extLst xmlns:a="http://schemas.openxmlformats.org/drawingml/2006/main">
              <a:ext uri="{FF2B5EF4-FFF2-40B4-BE49-F238E27FC236}">
                <a16:creationId xmlns:a16="http://schemas.microsoft.com/office/drawing/2014/main" id="{727ED017-F0D6-4AFE-B224-C647792F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CRA or NRA decision</a:t>
            </a:r>
          </a:p>
        </p:txBody>
      </p:sp>
      <p:sp>
        <p:nvSpPr>
          <p:cNvPr id="25" name="take">
            <a:extLst xmlns:a="http://schemas.openxmlformats.org/drawingml/2006/main">
              <a:ext uri="{FF2B5EF4-FFF2-40B4-BE49-F238E27FC236}">
                <a16:creationId xmlns:a16="http://schemas.microsoft.com/office/drawing/2014/main" id="{F054873C-2764-4E9C-8673-CD40192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Align intended outcome, construct, sampled performance, criteria, score interpretation, and decision rule.</a:t>
            </a:r>
          </a:p>
        </p:txBody>
      </p:sp>
    </p:spTree>
    <p:extLst>
      <p:ext uri="{BB962C8B-B14F-4D97-AF65-F5344CB8AC3E}">
        <p14:creationId xmlns:p14="http://schemas.microsoft.com/office/powerpoint/2010/main" val="19037141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3444713-16E9-4897-AD0A-5B63F6B2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a1e9fc2b440f">
            <a:extLst>
              <a:ext uri="{96DAC541-7B7A-43D3-8B79-37D633B846F1}">
                <asvg:svgBlip xmlns:asvg="http://schemas.microsoft.com/office/drawing/2016/SVG/main" r:embed="Re4b09b0285674c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BD5D41E-C6BC-4AD0-99BF-AFB26934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CRITICAL-FRIEND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FC0247-963B-4878-806D-3FBAB9C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Critique Purpose, Mechanism, Alignment, and Consequence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2830240-B30D-4642-8B81-9F61546A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54C22F6-C50D-4500-A024-422F0F3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critical-friend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14E1630-9D83-40D9-AE72-891D4AB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D5F6133-B6AF-452E-85C8-89080CF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160D781-AE52-4567-9ADB-5F4FAA3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99761749-F798-47A0-9F36-113B17E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Subject the assessment-use system to structured peer critique.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393B6934-E3DB-496E-B360-09FFC5E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B2E23301-A5B8-47C8-BB45-00F0D14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9A494E49-986E-4EAC-96F6-6AF0AAE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78531FA-9006-4B15-8F54-7D2678D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7B22F9C-6F42-4BB1-B85D-6547CBAC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DABEF0F-077B-4300-8B77-742312A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MECHANISM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66A1E5BB-2EFB-496F-99BD-8733826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E1E5E9B-FF72-46E7-91CD-81330FC9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D242B824-0C73-464D-B191-86C7B5E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B2D81185-DDF8-41DD-BF33-B469FF59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C3BA047E-09FD-47D9-A6DA-C3A96EE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63F984A2-2E75-4F25-958A-CB33301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CONSEQUENCE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74F171E2-F08F-47C2-9783-9838D05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D0357BB9-26D8-4515-B683-548C2B3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F4C6CAF-FE8F-4D31-9417-3A4F4001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Where does the formative loop stop?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claim exceeds the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Does one use distort another?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E6E5FEE-4274-4D46-9ED6-F97D956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EC9DB35-78A4-4076-8858-0B55043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Peer review plus accept/adapt/reject log.</a:t>
            </a:r>
          </a:p>
        </p:txBody>
      </p:sp>
    </p:spTree>
    <p:extLst>
      <p:ext uri="{BB962C8B-B14F-4D97-AF65-F5344CB8AC3E}">
        <p14:creationId xmlns:p14="http://schemas.microsoft.com/office/powerpoint/2010/main" val="13111303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2B26DDE-CBEC-46E5-B19D-96FE226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0faec7f4c4983">
            <a:extLst>
              <a:ext uri="{96DAC541-7B7A-43D3-8B79-37D633B846F1}">
                <asvg:svgBlip xmlns:asvg="http://schemas.microsoft.com/office/drawing/2016/SVG/main" r:embed="R385ba14fdab84a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F3B1535-41D3-4434-858E-424A31D7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2810BB-F98E-4471-ACE1-C9D279A8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Design Rationale 2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90220DD-D32F-42FA-AF20-819DB397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E03ABB6-2097-4C77-BE0C-2C9B3060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learning and research task; Section 4, pp. 23–33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48706DD-DADC-438E-ABE4-5FB0B3D0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0716299-970E-4DE1-9957-3C89CABC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EE51B9A-51B8-4797-9C06-91657C0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8B9C837-8AA4-4B20-B557-DB55FB14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Elicit each student’s reasoning about assessment purpose, use, mechanism, and decision rules.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317370E2-9E8C-44EC-82E4-D7F6AE7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8A733110-8767-45D4-BD52-877080E1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080FF2FF-58E8-4407-A50B-B74652A4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State the use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69ECD3C0-DC86-4FC2-9860-220251E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120FBAA9-6C81-4134-8F9F-523C93A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49DABB0-B981-4DBD-8B72-E25D574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Trace evidence to action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61E51FC9-A9F2-40B6-97FC-EB12FDE2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72F3F282-45BF-458F-A622-10FB9A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2DAB2E3E-31EA-4200-8FE9-874F8DF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Justify the decision rule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DAF109E-857C-405D-BC99-43CFEDF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71135708-05B3-4434-B76E-5EEB6233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6CA9DE8D-F11A-4C60-A91B-3CEBB4C2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Bound the interpretation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9227C89D-F820-42B4-AB41-6E7C7FE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234FA29F-269D-41D3-A88B-AB3A3B6C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4D0ECBDE-6979-48A5-8303-FDB2B8C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makes your proposed use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would break the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use must be prohibited?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541D355-D9ED-4D81-BDBB-94D84ECD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30335B9-93A4-4155-BBD4-83C853E7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Design Rationale 2 linked to prior artifacts.</a:t>
            </a:r>
          </a:p>
        </p:txBody>
      </p:sp>
    </p:spTree>
    <p:extLst>
      <p:ext uri="{BB962C8B-B14F-4D97-AF65-F5344CB8AC3E}">
        <p14:creationId xmlns:p14="http://schemas.microsoft.com/office/powerpoint/2010/main" val="13037060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D28295E-0BB5-4B06-A6B9-A62B420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9fe502a01454c">
            <a:extLst>
              <a:ext uri="{96DAC541-7B7A-43D3-8B79-37D633B846F1}">
                <asvg:svgBlip xmlns:asvg="http://schemas.microsoft.com/office/drawing/2016/SVG/main" r:embed="Ra108987bdc2d49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DB36905-CACE-4192-BF55-76A0DFF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4BD69B-82CD-456F-BD39-0198B9C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 Designer Checks the Use System, Not Just the Task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87E6538-40E6-4DD3-BC73-ED4D63A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383B802-2775-4A25-BDDA-2CDD71A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Synthesis of Phakiti &amp; Leung (2024), Section 4, pp. 23–33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EE8A14C-6FF1-4569-B020-F16503C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8B51D2C-D037-4496-87AC-12D9237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8CC2B814-01EB-4AE6-8828-916C551E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ACA507E2-BA2C-45C8-987B-A0E7EEC4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6FEF72CA-581C-4F46-8C90-9F5BAC6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Use defines function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8D215F54-9CA9-4353-84F5-3CB2D11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EDD03BD3-B911-4827-A8FB-7630F3E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5776321-4728-42FE-BC16-580F79E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Formative means action and new evidence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A5CCD0E3-FD6B-460B-85EC-F941E8CF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52AAF21E-EA71-4F11-BC6C-01A5F21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7CE712F-C067-4156-8780-95BCC83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Summative means aligned attainment judgement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FD6BC104-5EB8-4E6E-A3DA-4C2E9EE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Consolidate the principles that distinguish assessment design from instrument selection.</a:t>
            </a:r>
          </a:p>
        </p:txBody>
      </p:sp>
    </p:spTree>
    <p:extLst>
      <p:ext uri="{BB962C8B-B14F-4D97-AF65-F5344CB8AC3E}">
        <p14:creationId xmlns:p14="http://schemas.microsoft.com/office/powerpoint/2010/main" val="908157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F552BBB-ED78-42C3-AFA0-632B8AA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df3f92c1c4c1f">
            <a:extLst>
              <a:ext uri="{96DAC541-7B7A-43D3-8B79-37D633B846F1}">
                <asvg:svgBlip xmlns:asvg="http://schemas.microsoft.com/office/drawing/2016/SVG/main" r:embed="Rc0aacfce67d643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2AA3335-E496-4755-B258-C4F44928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180830-4F40-4A8B-87FA-291BA66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Next: Turn the Construct into an Evidence Plan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CDCAA65-05BE-4732-B7BB-7CCED6C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233E0DB-A6A2-4906-99C9-4A7074D7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 5, pp. 33–41; Section 6, pp. 41–62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538C3CF-A61F-4EB5-BBA3-FCEC7A6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3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ACAFC9D-46C0-48D5-94DE-3D2659B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88B371DB-DEF8-44EA-8255-7078D9A7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CCBC2EEF-AB78-4C18-B8F9-D6B7310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326ADB3B-C2F8-48CA-8FDF-9727683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Section 5, pp. 33–41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742B980C-8B5B-4556-B5A3-BE988D2D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D0F10930-B724-4257-AEB4-EA37DE8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044A1EF1-04F3-474F-BF85-CA97F89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PREVIEW: Section 6, pp. 41–62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7865C1E8-A237-40C1-93C6-FA49C9AB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BEB4346-0D54-422C-BEA3-554D606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40F6720F-B938-403B-9C06-2D2750F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one task + evidence annotation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3EFC240F-9090-472F-88E1-64C15AE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Direct purposeful preparation toward construct–evidence mapping and assessment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653568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2026-07-13T11:42:49.3320000Z</dcterms:created>
  <dcterms:modified xsi:type="dcterms:W3CDTF">2026-07-13T11:42:49.3320000Z</dcterms:modified>
</coreProperties>
</file>